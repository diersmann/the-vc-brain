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Great founders often leave meaningful signals long before they raise a round, but traditional VC teams usually find them only after fundraising begins. FirstCheck24 finds these founders earlier and makes every investment judgment evidence-backed, explainable, and traceable.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Today's VC workflow is reactive. Valuable information is scattered across GitHub, product launches, research, company websites, and social networks. Teams discover opportunities too late, repeat the same research, and often receive an AI score that behaves like a black box rather than a decision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FirstCheck24 is built around two ideas: autonomous discovery and explainable intelligence. The system proactively identifies promising founders and turns public signals into verifiable evidence. Investors see not only the score, but exactly why the score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capability is autonomous discovery. Based on the fund's investment thesis, the system continuously scans sources such as GitHub, Product Hunt, Hacker News, research papers, and hackathons. It collects signals, resolves identities, scores opportunities, and leaves outreach approval with the investor.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capability is explainability. Every conclusion follows a transparent chain: source, observation, claim, score, and decision. An investor can open any score to see its origin, discovery date, confidence level, and any conflicting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not average everything into one misleading number. Founder, Market, and Idea–Market Fit remain independent dimensions. Each has its own score, trend, evidence, and confidence. For an investor, disagreement between the dimensions is often the most important signal.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live example for Eoghan McCabe. The system summarizes his track record and the evidence around Intercom, then separates Thesis Match, Founder Signal, and Evidence Quality. Investors can trace every claim, challenge or override the analysis, and choose to proceed, hold, or decline.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FirstCheck24 runs one evidence pipeline with two connected entry paths. Outbound starts from the fund thesis. A discovery agent scans public sources, creates an initial signal score, and places high-potential founders in a promising queue. A footprint agent then resolves identity and gathers deeper technical, company, and network evidence. The three-axis engine scores Founder, Market, and Idea–Market Fit independently, including trends, confidence, and SWOT. If the case is strong, the outreach agent drafts a personalized message, with the investor approving the send. When a founder applies inbound and uploads a deck, the deck agent extracts claims and adds them to the same evidence graph. The system re-scores the opportunity, highlights contradictions, and produces an explainable recommendation: proceed, hold, or decline. Every human decision feeds memory and improves the next 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more than a polished interface. The system already integrates ten types of public data sources, stores 112 persistent founder identities, and passes 106 automated tests. Our north star is to compress the journey from first signal to an investment decision into 24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FirstCheck24 can be summarized in one line: find first, explain everything, and decide in 24 hours. We help exceptional founders get discovered earlier and help investors make every decision on transparent, verifiable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FIRSTCHECK_LIGHT">
    <p:bg>
      <p:bgPr>
        <a:solidFill>
          <a:srgbClr val="F2F6FB"/>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2337"/>
        </a:solidFill>
      </p:bgPr>
    </p:bg>
    <p:spTree>
      <p:nvGrpSpPr>
        <p:cNvPr id="1" name=""/>
        <p:cNvGrpSpPr/>
        <p:nvPr/>
      </p:nvGrpSpPr>
      <p:grpSpPr>
        <a:xfrm>
          <a:off x="0" y="0"/>
          <a:ext cx="0" cy="0"/>
          <a:chOff x="0" y="0"/>
          <a:chExt cx="0" cy="0"/>
        </a:xfrm>
      </p:grpSpPr>
      <p:sp>
        <p:nvSpPr>
          <p:cNvPr id="2" name="Shape 0"/>
          <p:cNvSpPr/>
          <p:nvPr/>
        </p:nvSpPr>
        <p:spPr>
          <a:xfrm>
            <a:off x="7543800" y="-1828800"/>
            <a:ext cx="5486400" cy="5486400"/>
          </a:xfrm>
          <a:prstGeom prst="ellipse">
            <a:avLst/>
          </a:prstGeom>
          <a:solidFill>
            <a:srgbClr val="557DC0">
              <a:alpha val="14000"/>
            </a:srgbClr>
          </a:solidFill>
          <a:ln w="12700">
            <a:solidFill>
              <a:srgbClr val="333333">
                <a:alpha val="0"/>
              </a:srgbClr>
            </a:solidFill>
            <a:prstDash val="solid"/>
          </a:ln>
        </p:spPr>
      </p:sp>
      <p:sp>
        <p:nvSpPr>
          <p:cNvPr id="3" name="Shape 1"/>
          <p:cNvSpPr/>
          <p:nvPr/>
        </p:nvSpPr>
        <p:spPr>
          <a:xfrm>
            <a:off x="7620000" y="2971800"/>
            <a:ext cx="4724400" cy="4724400"/>
          </a:xfrm>
          <a:prstGeom prst="ellipse">
            <a:avLst/>
          </a:prstGeom>
          <a:solidFill>
            <a:srgbClr val="2F8B72">
              <a:alpha val="13000"/>
            </a:srgbClr>
          </a:solidFill>
          <a:ln w="12700">
            <a:solidFill>
              <a:srgbClr val="333333">
                <a:alpha val="0"/>
              </a:srgbClr>
            </a:solidFill>
            <a:prstDash val="solid"/>
          </a:ln>
        </p:spPr>
      </p:sp>
      <p:sp>
        <p:nvSpPr>
          <p:cNvPr id="4" name="Text 2"/>
          <p:cNvSpPr/>
          <p:nvPr/>
        </p:nvSpPr>
        <p:spPr>
          <a:xfrm>
            <a:off x="685800" y="472440"/>
            <a:ext cx="1371600" cy="243840"/>
          </a:xfrm>
          <a:prstGeom prst="rect">
            <a:avLst/>
          </a:prstGeom>
          <a:noFill/>
          <a:ln/>
        </p:spPr>
        <p:txBody>
          <a:bodyPr wrap="square" lIns="0" tIns="0" rIns="0" bIns="0" rtlCol="0" anchor="ctr">
            <a:normAutofit/>
          </a:bodyPr>
          <a:lstStyle/>
          <a:p>
            <a:pPr indent="0" marL="0">
              <a:buNone/>
            </a:pPr>
            <a:r>
              <a:rPr lang="en-US" sz="1400" b="1" dirty="0">
                <a:solidFill>
                  <a:srgbClr val="FFFFFF"/>
                </a:solidFill>
                <a:latin typeface="Aptos Display" pitchFamily="34" charset="0"/>
                <a:ea typeface="Aptos Display" pitchFamily="34" charset="-122"/>
                <a:cs typeface="Aptos Display" pitchFamily="34" charset="-120"/>
              </a:rPr>
              <a:t>FirstCheck</a:t>
            </a:r>
            <a:pPr indent="0" marL="0">
              <a:buNone/>
            </a:pPr>
            <a:r>
              <a:rPr lang="en-US" sz="1200" b="1" dirty="0">
                <a:solidFill>
                  <a:srgbClr val="AFC8F6"/>
                </a:solidFill>
                <a:latin typeface="Aptos Display" pitchFamily="34" charset="0"/>
                <a:ea typeface="Aptos Display" pitchFamily="34" charset="-122"/>
                <a:cs typeface="Aptos Display" pitchFamily="34" charset="-120"/>
              </a:rPr>
              <a:t>24</a:t>
            </a:r>
            <a:endParaRPr lang="en-US" sz="1400" dirty="0"/>
          </a:p>
        </p:txBody>
      </p:sp>
      <p:sp>
        <p:nvSpPr>
          <p:cNvPr id="5" name="Text 3"/>
          <p:cNvSpPr txBox="1"/>
          <p:nvPr/>
        </p:nvSpPr>
        <p:spPr>
          <a:xfrm>
            <a:off x="685800" y="1333500"/>
            <a:ext cx="4267200" cy="228600"/>
          </a:xfrm>
          <a:prstGeom prst="rect">
            <a:avLst/>
          </a:prstGeom>
          <a:noFill/>
          <a:ln/>
        </p:spPr>
        <p:txBody>
          <a:bodyPr wrap="square" lIns="0" tIns="0" rIns="0" bIns="0" rtlCol="0" anchor="ctr">
            <a:normAutofit/>
          </a:bodyPr>
          <a:lstStyle/>
          <a:p>
            <a:pPr algn="l" indent="0" marL="0">
              <a:buNone/>
            </a:pPr>
            <a:r>
              <a:rPr lang="en-US" sz="900" b="1" spc="300" kern="0" dirty="0">
                <a:solidFill>
                  <a:srgbClr val="AFC8F6"/>
                </a:solidFill>
                <a:latin typeface="Aptos" pitchFamily="34" charset="0"/>
                <a:ea typeface="Aptos" pitchFamily="34" charset="-122"/>
                <a:cs typeface="Aptos" pitchFamily="34" charset="-120"/>
              </a:rPr>
              <a:t>THE VC OPERATING SYSTEM</a:t>
            </a:r>
            <a:endParaRPr lang="en-US" sz="900" dirty="0"/>
          </a:p>
        </p:txBody>
      </p:sp>
      <p:sp>
        <p:nvSpPr>
          <p:cNvPr id="6" name="Text 4"/>
          <p:cNvSpPr txBox="1"/>
          <p:nvPr/>
        </p:nvSpPr>
        <p:spPr>
          <a:xfrm>
            <a:off x="685800" y="1790700"/>
            <a:ext cx="6477000" cy="1371600"/>
          </a:xfrm>
          <a:prstGeom prst="rect">
            <a:avLst/>
          </a:prstGeom>
          <a:noFill/>
          <a:ln/>
        </p:spPr>
        <p:txBody>
          <a:bodyPr wrap="square" lIns="0" tIns="0" rIns="0" bIns="0" rtlCol="0" anchor="t">
            <a:normAutofit/>
          </a:bodyPr>
          <a:lstStyle/>
          <a:p>
            <a:pPr algn="l" indent="0" marL="0">
              <a:buNone/>
            </a:pPr>
            <a:r>
              <a:rPr lang="en-US" sz="4320" b="1" dirty="0">
                <a:solidFill>
                  <a:srgbClr val="FFFFFF"/>
                </a:solidFill>
                <a:latin typeface="Aptos Display" pitchFamily="34" charset="0"/>
                <a:ea typeface="Aptos Display" pitchFamily="34" charset="-122"/>
                <a:cs typeface="Aptos Display" pitchFamily="34" charset="-120"/>
              </a:rPr>
              <a:t>Find the founder</a:t>
            </a:r>
            <a:endParaRPr lang="en-US" sz="4320" dirty="0"/>
          </a:p>
          <a:p>
            <a:pPr algn="l" indent="0" marL="0">
              <a:buNone/>
            </a:pPr>
            <a:r>
              <a:rPr lang="en-US" sz="4320" b="1" dirty="0">
                <a:solidFill>
                  <a:srgbClr val="FFFFFF"/>
                </a:solidFill>
                <a:latin typeface="Aptos Display" pitchFamily="34" charset="0"/>
                <a:ea typeface="Aptos Display" pitchFamily="34" charset="-122"/>
                <a:cs typeface="Aptos Display" pitchFamily="34" charset="-120"/>
              </a:rPr>
              <a:t>before the round.</a:t>
            </a:r>
            <a:endParaRPr lang="en-US" sz="4320" dirty="0"/>
          </a:p>
        </p:txBody>
      </p:sp>
      <p:sp>
        <p:nvSpPr>
          <p:cNvPr id="7" name="Text 5"/>
          <p:cNvSpPr txBox="1"/>
          <p:nvPr/>
        </p:nvSpPr>
        <p:spPr>
          <a:xfrm>
            <a:off x="723900" y="3695700"/>
            <a:ext cx="6324600" cy="685800"/>
          </a:xfrm>
          <a:prstGeom prst="rect">
            <a:avLst/>
          </a:prstGeom>
          <a:noFill/>
          <a:ln/>
        </p:spPr>
        <p:txBody>
          <a:bodyPr wrap="square" lIns="0" tIns="0" rIns="0" bIns="0" rtlCol="0" anchor="t">
            <a:normAutofit/>
          </a:bodyPr>
          <a:lstStyle/>
          <a:p>
            <a:pPr algn="l" indent="0" marL="0">
              <a:buNone/>
            </a:pPr>
            <a:r>
              <a:rPr lang="en-US" sz="1380" dirty="0">
                <a:solidFill>
                  <a:srgbClr val="CFDAEA"/>
                </a:solidFill>
                <a:latin typeface="Aptos" pitchFamily="34" charset="0"/>
                <a:ea typeface="Aptos" pitchFamily="34" charset="-122"/>
                <a:cs typeface="Aptos" pitchFamily="34" charset="-120"/>
              </a:rPr>
              <a:t>Autonomous discovery surfaces hidden builders early.</a:t>
            </a:r>
            <a:endParaRPr lang="en-US" sz="1380" dirty="0"/>
          </a:p>
          <a:p>
            <a:pPr algn="l" indent="0" marL="0">
              <a:buNone/>
            </a:pPr>
            <a:r>
              <a:rPr lang="en-US" sz="1380" dirty="0">
                <a:solidFill>
                  <a:srgbClr val="CFDAEA"/>
                </a:solidFill>
                <a:latin typeface="Aptos" pitchFamily="34" charset="0"/>
                <a:ea typeface="Aptos" pitchFamily="34" charset="-122"/>
                <a:cs typeface="Aptos" pitchFamily="34" charset="-120"/>
              </a:rPr>
              <a:t>Explainable intelligence shows exactly why they matter.</a:t>
            </a:r>
            <a:endParaRPr lang="en-US" sz="1380" dirty="0"/>
          </a:p>
        </p:txBody>
      </p:sp>
      <p:sp>
        <p:nvSpPr>
          <p:cNvPr id="8" name="Shape 6"/>
          <p:cNvSpPr/>
          <p:nvPr/>
        </p:nvSpPr>
        <p:spPr>
          <a:xfrm>
            <a:off x="723900" y="4762500"/>
            <a:ext cx="3810000" cy="266700"/>
          </a:xfrm>
          <a:prstGeom prst="roundRect">
            <a:avLst>
              <a:gd name="adj" fmla="val 54857"/>
            </a:avLst>
          </a:prstGeom>
          <a:solidFill>
            <a:srgbClr val="263A55"/>
          </a:solidFill>
          <a:ln w="6350">
            <a:solidFill>
              <a:srgbClr val="263A55">
                <a:alpha val="0"/>
              </a:srgbClr>
            </a:solidFill>
            <a:prstDash val="solid"/>
          </a:ln>
        </p:spPr>
      </p:sp>
      <p:sp>
        <p:nvSpPr>
          <p:cNvPr id="9" name="Text 7"/>
          <p:cNvSpPr txBox="1"/>
          <p:nvPr/>
        </p:nvSpPr>
        <p:spPr>
          <a:xfrm>
            <a:off x="800100" y="4785360"/>
            <a:ext cx="3657600" cy="220980"/>
          </a:xfrm>
          <a:prstGeom prst="rect">
            <a:avLst/>
          </a:prstGeom>
          <a:noFill/>
          <a:ln/>
        </p:spPr>
        <p:txBody>
          <a:bodyPr wrap="square" lIns="0" tIns="0" rIns="0" bIns="0" rtlCol="0" anchor="ctr">
            <a:normAutofit/>
          </a:bodyPr>
          <a:lstStyle/>
          <a:p>
            <a:pPr algn="ctr" indent="0" marL="0">
              <a:buNone/>
            </a:pPr>
            <a:r>
              <a:rPr lang="en-US" sz="660" b="1" spc="30" kern="0" dirty="0">
                <a:solidFill>
                  <a:srgbClr val="DCE8F8"/>
                </a:solidFill>
                <a:latin typeface="Aptos" pitchFamily="34" charset="0"/>
                <a:ea typeface="Aptos" pitchFamily="34" charset="-122"/>
                <a:cs typeface="Aptos" pitchFamily="34" charset="-120"/>
              </a:rPr>
              <a:t>FIRST SIGNAL → EVIDENCE → $100K DECISION</a:t>
            </a:r>
            <a:endParaRPr lang="en-US" sz="660" dirty="0"/>
          </a:p>
        </p:txBody>
      </p:sp>
      <p:sp>
        <p:nvSpPr>
          <p:cNvPr id="10" name="Text 8"/>
          <p:cNvSpPr txBox="1"/>
          <p:nvPr/>
        </p:nvSpPr>
        <p:spPr>
          <a:xfrm>
            <a:off x="8534400" y="2590800"/>
            <a:ext cx="3048000" cy="876300"/>
          </a:xfrm>
          <a:prstGeom prst="rect">
            <a:avLst/>
          </a:prstGeom>
          <a:noFill/>
          <a:ln/>
        </p:spPr>
        <p:txBody>
          <a:bodyPr wrap="square" lIns="0" tIns="0" rIns="0" bIns="0" rtlCol="0" anchor="ctr">
            <a:normAutofit/>
          </a:bodyPr>
          <a:lstStyle/>
          <a:p>
            <a:pPr algn="ctr" indent="0" marL="0">
              <a:buNone/>
            </a:pPr>
            <a:r>
              <a:rPr lang="en-US" sz="7080" b="1" dirty="0">
                <a:solidFill>
                  <a:srgbClr val="BFD0EA"/>
                </a:solidFill>
                <a:latin typeface="Aptos Display" pitchFamily="34" charset="0"/>
                <a:ea typeface="Aptos Display" pitchFamily="34" charset="-122"/>
                <a:cs typeface="Aptos Display" pitchFamily="34" charset="-120"/>
              </a:rPr>
              <a:t>24:00</a:t>
            </a:r>
            <a:endParaRPr lang="en-US" sz="7080" dirty="0"/>
          </a:p>
        </p:txBody>
      </p:sp>
      <p:sp>
        <p:nvSpPr>
          <p:cNvPr id="11" name="Text 9"/>
          <p:cNvSpPr txBox="1"/>
          <p:nvPr/>
        </p:nvSpPr>
        <p:spPr>
          <a:xfrm>
            <a:off x="8534400" y="3619500"/>
            <a:ext cx="3048000" cy="472440"/>
          </a:xfrm>
          <a:prstGeom prst="rect">
            <a:avLst/>
          </a:prstGeom>
          <a:noFill/>
          <a:ln/>
        </p:spPr>
        <p:txBody>
          <a:bodyPr wrap="square" lIns="0" tIns="0" rIns="0" bIns="0" rtlCol="0" anchor="t">
            <a:normAutofit/>
          </a:bodyPr>
          <a:lstStyle/>
          <a:p>
            <a:pPr algn="ctr" indent="0" marL="0">
              <a:buNone/>
            </a:pPr>
            <a:r>
              <a:rPr lang="en-US" sz="1200" b="1" dirty="0">
                <a:solidFill>
                  <a:srgbClr val="DDE7F5"/>
                </a:solidFill>
                <a:latin typeface="Aptos" pitchFamily="34" charset="0"/>
                <a:ea typeface="Aptos" pitchFamily="34" charset="-122"/>
                <a:cs typeface="Aptos" pitchFamily="34" charset="-120"/>
              </a:rPr>
              <a:t>One investor.</a:t>
            </a:r>
            <a:endParaRPr lang="en-US" sz="1200" dirty="0"/>
          </a:p>
          <a:p>
            <a:pPr algn="ctr" indent="0" marL="0">
              <a:buNone/>
            </a:pPr>
            <a:r>
              <a:rPr lang="en-US" sz="1200" b="1" dirty="0">
                <a:solidFill>
                  <a:srgbClr val="DDE7F5"/>
                </a:solidFill>
                <a:latin typeface="Aptos" pitchFamily="34" charset="0"/>
                <a:ea typeface="Aptos" pitchFamily="34" charset="-122"/>
                <a:cs typeface="Aptos" pitchFamily="34" charset="-120"/>
              </a:rPr>
              <a:t>An entire organisation's reach.</a:t>
            </a:r>
            <a:endParaRPr lang="en-US" sz="1200" dirty="0"/>
          </a:p>
        </p:txBody>
      </p:sp>
      <p:sp>
        <p:nvSpPr>
          <p:cNvPr id="12" name="Text 10"/>
          <p:cNvSpPr txBox="1"/>
          <p:nvPr/>
        </p:nvSpPr>
        <p:spPr>
          <a:xfrm>
            <a:off x="723900" y="5791200"/>
            <a:ext cx="4572000" cy="228600"/>
          </a:xfrm>
          <a:prstGeom prst="rect">
            <a:avLst/>
          </a:prstGeom>
          <a:noFill/>
          <a:ln/>
        </p:spPr>
        <p:txBody>
          <a:bodyPr wrap="square" lIns="0" tIns="0" rIns="0" bIns="0" rtlCol="0" anchor="ctr">
            <a:normAutofit/>
          </a:bodyPr>
          <a:lstStyle/>
          <a:p>
            <a:pPr algn="l" indent="0" marL="0">
              <a:buNone/>
            </a:pPr>
            <a:r>
              <a:rPr lang="en-US" sz="900" dirty="0">
                <a:solidFill>
                  <a:srgbClr val="91A7C5"/>
                </a:solidFill>
                <a:latin typeface="Aptos" pitchFamily="34" charset="0"/>
                <a:ea typeface="Aptos" pitchFamily="34" charset="-122"/>
                <a:cs typeface="Aptos" pitchFamily="34" charset="-120"/>
              </a:rPr>
              <a:t>Hack-Nation × MIT Clubs × Maschmeyer Group</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6FB"/>
        </a:solidFill>
      </p:bgPr>
    </p:bg>
    <p:spTree>
      <p:nvGrpSpPr>
        <p:cNvPr id="1" name=""/>
        <p:cNvGrpSpPr/>
        <p:nvPr/>
      </p:nvGrpSpPr>
      <p:grpSpPr>
        <a:xfrm>
          <a:off x="0" y="0"/>
          <a:ext cx="0" cy="0"/>
          <a:chOff x="0" y="0"/>
          <a:chExt cx="0" cy="0"/>
        </a:xfrm>
      </p:grpSpPr>
      <p:sp>
        <p:nvSpPr>
          <p:cNvPr id="2" name="Text 0"/>
          <p:cNvSpPr txBox="1"/>
          <p:nvPr/>
        </p:nvSpPr>
        <p:spPr>
          <a:xfrm>
            <a:off x="685800" y="548640"/>
            <a:ext cx="5791200" cy="213360"/>
          </a:xfrm>
          <a:prstGeom prst="rect">
            <a:avLst/>
          </a:prstGeom>
          <a:noFill/>
          <a:ln/>
        </p:spPr>
        <p:txBody>
          <a:bodyPr wrap="square" lIns="0" tIns="0" rIns="0" bIns="0" rtlCol="0" anchor="ctr">
            <a:normAutofit/>
          </a:bodyPr>
          <a:lstStyle/>
          <a:p>
            <a:pPr algn="l" indent="0" marL="0">
              <a:buNone/>
            </a:pPr>
            <a:r>
              <a:rPr lang="en-US" sz="900" b="1" spc="240" kern="0" dirty="0">
                <a:solidFill>
                  <a:srgbClr val="557DC0"/>
                </a:solidFill>
                <a:latin typeface="Aptos" pitchFamily="34" charset="0"/>
                <a:ea typeface="Aptos" pitchFamily="34" charset="-122"/>
                <a:cs typeface="Aptos" pitchFamily="34" charset="-120"/>
              </a:rPr>
              <a:t>THE PROBLEM</a:t>
            </a:r>
            <a:endParaRPr lang="en-US" sz="900" dirty="0"/>
          </a:p>
        </p:txBody>
      </p:sp>
      <p:sp>
        <p:nvSpPr>
          <p:cNvPr id="3" name="Text 1"/>
          <p:cNvSpPr txBox="1"/>
          <p:nvPr/>
        </p:nvSpPr>
        <p:spPr>
          <a:xfrm>
            <a:off x="685800" y="800100"/>
            <a:ext cx="5791200" cy="824179"/>
          </a:xfrm>
          <a:prstGeom prst="rect">
            <a:avLst/>
          </a:prstGeom>
          <a:noFill/>
          <a:ln/>
        </p:spPr>
        <p:txBody>
          <a:bodyPr wrap="square" lIns="0" tIns="0" rIns="0" bIns="0" rtlCol="0" anchor="t">
            <a:normAutofit/>
          </a:bodyPr>
          <a:lstStyle/>
          <a:p>
            <a:pPr algn="l" indent="0" marL="0">
              <a:buNone/>
            </a:pPr>
            <a:r>
              <a:rPr lang="en-US" sz="3120" b="1" dirty="0">
                <a:solidFill>
                  <a:srgbClr val="172337"/>
                </a:solidFill>
                <a:latin typeface="Aptos Display" pitchFamily="34" charset="0"/>
                <a:ea typeface="Aptos Display" pitchFamily="34" charset="-122"/>
                <a:cs typeface="Aptos Display" pitchFamily="34" charset="-120"/>
              </a:rPr>
              <a:t>VC discovers founders</a:t>
            </a:r>
            <a:endParaRPr lang="en-US" sz="3120" dirty="0"/>
          </a:p>
          <a:p>
            <a:pPr algn="l" indent="0" marL="0">
              <a:buNone/>
            </a:pPr>
            <a:r>
              <a:rPr lang="en-US" sz="3120" b="1" dirty="0">
                <a:solidFill>
                  <a:srgbClr val="172337"/>
                </a:solidFill>
                <a:latin typeface="Aptos Display" pitchFamily="34" charset="0"/>
                <a:ea typeface="Aptos Display" pitchFamily="34" charset="-122"/>
                <a:cs typeface="Aptos Display" pitchFamily="34" charset="-120"/>
              </a:rPr>
              <a:t>after the signal is obvious.</a:t>
            </a:r>
            <a:endParaRPr lang="en-US" sz="3120" dirty="0"/>
          </a:p>
        </p:txBody>
      </p:sp>
      <p:sp>
        <p:nvSpPr>
          <p:cNvPr id="4" name="Text 2"/>
          <p:cNvSpPr txBox="1"/>
          <p:nvPr/>
        </p:nvSpPr>
        <p:spPr>
          <a:xfrm>
            <a:off x="685800" y="1753819"/>
            <a:ext cx="7010400" cy="243840"/>
          </a:xfrm>
          <a:prstGeom prst="rect">
            <a:avLst/>
          </a:prstGeom>
          <a:noFill/>
          <a:ln/>
        </p:spPr>
        <p:txBody>
          <a:bodyPr wrap="square" lIns="0" tIns="0" rIns="0" bIns="0" rtlCol="0" anchor="t">
            <a:normAutofit/>
          </a:bodyPr>
          <a:lstStyle/>
          <a:p>
            <a:pPr algn="l" indent="0" marL="0">
              <a:buNone/>
            </a:pPr>
            <a:r>
              <a:rPr lang="en-US" sz="1200" dirty="0">
                <a:solidFill>
                  <a:srgbClr val="718097"/>
                </a:solidFill>
                <a:latin typeface="Aptos" pitchFamily="34" charset="0"/>
                <a:ea typeface="Aptos" pitchFamily="34" charset="-122"/>
                <a:cs typeface="Aptos" pitchFamily="34" charset="-120"/>
              </a:rPr>
              <a:t>Discovery starts too late. Diligence restarts from zero. Scores hide their reasoning.</a:t>
            </a:r>
            <a:endParaRPr lang="en-US" sz="1200" dirty="0"/>
          </a:p>
        </p:txBody>
      </p:sp>
      <p:sp>
        <p:nvSpPr>
          <p:cNvPr id="5" name="Shape 3"/>
          <p:cNvSpPr/>
          <p:nvPr/>
        </p:nvSpPr>
        <p:spPr>
          <a:xfrm>
            <a:off x="685800" y="2933700"/>
            <a:ext cx="1600200" cy="883920"/>
          </a:xfrm>
          <a:prstGeom prst="roundRect">
            <a:avLst>
              <a:gd name="adj" fmla="val 12414"/>
            </a:avLst>
          </a:prstGeom>
          <a:solidFill>
            <a:srgbClr val="EEE8F8"/>
          </a:solidFill>
          <a:ln w="6350">
            <a:solidFill>
              <a:srgbClr val="EEE8F8">
                <a:alpha val="0"/>
              </a:srgbClr>
            </a:solidFill>
            <a:prstDash val="solid"/>
          </a:ln>
        </p:spPr>
      </p:sp>
      <p:sp>
        <p:nvSpPr>
          <p:cNvPr id="6" name="Shape 4"/>
          <p:cNvSpPr/>
          <p:nvPr/>
        </p:nvSpPr>
        <p:spPr>
          <a:xfrm>
            <a:off x="830580" y="3093720"/>
            <a:ext cx="91440" cy="91440"/>
          </a:xfrm>
          <a:prstGeom prst="ellipse">
            <a:avLst/>
          </a:prstGeom>
          <a:solidFill>
            <a:srgbClr val="7656A5"/>
          </a:solidFill>
          <a:ln w="12700">
            <a:solidFill>
              <a:srgbClr val="333333">
                <a:alpha val="0"/>
              </a:srgbClr>
            </a:solidFill>
            <a:prstDash val="solid"/>
          </a:ln>
        </p:spPr>
      </p:sp>
      <p:sp>
        <p:nvSpPr>
          <p:cNvPr id="7" name="Text 5"/>
          <p:cNvSpPr txBox="1"/>
          <p:nvPr/>
        </p:nvSpPr>
        <p:spPr>
          <a:xfrm>
            <a:off x="1021080" y="3040380"/>
            <a:ext cx="1066800" cy="259080"/>
          </a:xfrm>
          <a:prstGeom prst="rect">
            <a:avLst/>
          </a:prstGeom>
          <a:noFill/>
          <a:ln/>
        </p:spPr>
        <p:txBody>
          <a:bodyPr wrap="square" lIns="0" tIns="0" rIns="0" bIns="0" rtlCol="0" anchor="ctr">
            <a:normAutofit/>
          </a:bodyPr>
          <a:lstStyle/>
          <a:p>
            <a:pPr algn="l" indent="0" marL="0">
              <a:buNone/>
            </a:pPr>
            <a:r>
              <a:rPr lang="en-US" sz="1020" b="1" dirty="0">
                <a:solidFill>
                  <a:srgbClr val="172337"/>
                </a:solidFill>
                <a:latin typeface="Aptos" pitchFamily="34" charset="0"/>
                <a:ea typeface="Aptos" pitchFamily="34" charset="-122"/>
                <a:cs typeface="Aptos" pitchFamily="34" charset="-120"/>
              </a:rPr>
              <a:t>Pitch deck</a:t>
            </a:r>
            <a:endParaRPr lang="en-US" sz="1020" dirty="0"/>
          </a:p>
        </p:txBody>
      </p:sp>
      <p:sp>
        <p:nvSpPr>
          <p:cNvPr id="8" name="Text 6"/>
          <p:cNvSpPr txBox="1"/>
          <p:nvPr/>
        </p:nvSpPr>
        <p:spPr>
          <a:xfrm>
            <a:off x="868680" y="3406140"/>
            <a:ext cx="1219200" cy="198120"/>
          </a:xfrm>
          <a:prstGeom prst="rect">
            <a:avLst/>
          </a:prstGeom>
          <a:noFill/>
          <a:ln/>
        </p:spPr>
        <p:txBody>
          <a:bodyPr wrap="square" lIns="0" tIns="0" rIns="0" bIns="0" rtlCol="0" anchor="ctr">
            <a:normAutofit/>
          </a:bodyPr>
          <a:lstStyle/>
          <a:p>
            <a:pPr algn="l" indent="0" marL="0">
              <a:buNone/>
            </a:pPr>
            <a:r>
              <a:rPr lang="en-US" sz="780" dirty="0">
                <a:solidFill>
                  <a:srgbClr val="718097"/>
                </a:solidFill>
                <a:latin typeface="Aptos" pitchFamily="34" charset="0"/>
                <a:ea typeface="Aptos" pitchFamily="34" charset="-122"/>
                <a:cs typeface="Aptos" pitchFamily="34" charset="-120"/>
              </a:rPr>
              <a:t>private context</a:t>
            </a:r>
            <a:endParaRPr lang="en-US" sz="780" dirty="0"/>
          </a:p>
        </p:txBody>
      </p:sp>
      <p:sp>
        <p:nvSpPr>
          <p:cNvPr id="9" name="Shape 7"/>
          <p:cNvSpPr/>
          <p:nvPr/>
        </p:nvSpPr>
        <p:spPr>
          <a:xfrm>
            <a:off x="2476500" y="2933700"/>
            <a:ext cx="1600200" cy="883920"/>
          </a:xfrm>
          <a:prstGeom prst="roundRect">
            <a:avLst>
              <a:gd name="adj" fmla="val 12414"/>
            </a:avLst>
          </a:prstGeom>
          <a:solidFill>
            <a:srgbClr val="E4F2ED"/>
          </a:solidFill>
          <a:ln w="6350">
            <a:solidFill>
              <a:srgbClr val="E4F2ED">
                <a:alpha val="0"/>
              </a:srgbClr>
            </a:solidFill>
            <a:prstDash val="solid"/>
          </a:ln>
        </p:spPr>
      </p:sp>
      <p:sp>
        <p:nvSpPr>
          <p:cNvPr id="10" name="Shape 8"/>
          <p:cNvSpPr/>
          <p:nvPr/>
        </p:nvSpPr>
        <p:spPr>
          <a:xfrm>
            <a:off x="2621280" y="3093720"/>
            <a:ext cx="91440" cy="91440"/>
          </a:xfrm>
          <a:prstGeom prst="ellipse">
            <a:avLst/>
          </a:prstGeom>
          <a:solidFill>
            <a:srgbClr val="2F8B72"/>
          </a:solidFill>
          <a:ln w="12700">
            <a:solidFill>
              <a:srgbClr val="333333">
                <a:alpha val="0"/>
              </a:srgbClr>
            </a:solidFill>
            <a:prstDash val="solid"/>
          </a:ln>
        </p:spPr>
      </p:sp>
      <p:sp>
        <p:nvSpPr>
          <p:cNvPr id="11" name="Text 9"/>
          <p:cNvSpPr txBox="1"/>
          <p:nvPr/>
        </p:nvSpPr>
        <p:spPr>
          <a:xfrm>
            <a:off x="2811780" y="3040380"/>
            <a:ext cx="1066800" cy="259080"/>
          </a:xfrm>
          <a:prstGeom prst="rect">
            <a:avLst/>
          </a:prstGeom>
          <a:noFill/>
          <a:ln/>
        </p:spPr>
        <p:txBody>
          <a:bodyPr wrap="square" lIns="0" tIns="0" rIns="0" bIns="0" rtlCol="0" anchor="ctr">
            <a:normAutofit/>
          </a:bodyPr>
          <a:lstStyle/>
          <a:p>
            <a:pPr algn="l" indent="0" marL="0">
              <a:buNone/>
            </a:pPr>
            <a:r>
              <a:rPr lang="en-US" sz="1020" b="1" dirty="0">
                <a:solidFill>
                  <a:srgbClr val="172337"/>
                </a:solidFill>
                <a:latin typeface="Aptos" pitchFamily="34" charset="0"/>
                <a:ea typeface="Aptos" pitchFamily="34" charset="-122"/>
                <a:cs typeface="Aptos" pitchFamily="34" charset="-120"/>
              </a:rPr>
              <a:t>GitHub</a:t>
            </a:r>
            <a:endParaRPr lang="en-US" sz="1020" dirty="0"/>
          </a:p>
        </p:txBody>
      </p:sp>
      <p:sp>
        <p:nvSpPr>
          <p:cNvPr id="12" name="Text 10"/>
          <p:cNvSpPr txBox="1"/>
          <p:nvPr/>
        </p:nvSpPr>
        <p:spPr>
          <a:xfrm>
            <a:off x="2659380" y="3406140"/>
            <a:ext cx="1219200" cy="198120"/>
          </a:xfrm>
          <a:prstGeom prst="rect">
            <a:avLst/>
          </a:prstGeom>
          <a:noFill/>
          <a:ln/>
        </p:spPr>
        <p:txBody>
          <a:bodyPr wrap="square" lIns="0" tIns="0" rIns="0" bIns="0" rtlCol="0" anchor="ctr">
            <a:normAutofit/>
          </a:bodyPr>
          <a:lstStyle/>
          <a:p>
            <a:pPr algn="l" indent="0" marL="0">
              <a:buNone/>
            </a:pPr>
            <a:r>
              <a:rPr lang="en-US" sz="780" dirty="0">
                <a:solidFill>
                  <a:srgbClr val="718097"/>
                </a:solidFill>
                <a:latin typeface="Aptos" pitchFamily="34" charset="0"/>
                <a:ea typeface="Aptos" pitchFamily="34" charset="-122"/>
                <a:cs typeface="Aptos" pitchFamily="34" charset="-120"/>
              </a:rPr>
              <a:t>execution trail</a:t>
            </a:r>
            <a:endParaRPr lang="en-US" sz="780" dirty="0"/>
          </a:p>
        </p:txBody>
      </p:sp>
      <p:sp>
        <p:nvSpPr>
          <p:cNvPr id="13" name="Shape 11"/>
          <p:cNvSpPr/>
          <p:nvPr/>
        </p:nvSpPr>
        <p:spPr>
          <a:xfrm>
            <a:off x="685800" y="4015740"/>
            <a:ext cx="1600200" cy="883920"/>
          </a:xfrm>
          <a:prstGeom prst="roundRect">
            <a:avLst>
              <a:gd name="adj" fmla="val 12414"/>
            </a:avLst>
          </a:prstGeom>
          <a:solidFill>
            <a:srgbClr val="E7EEF9"/>
          </a:solidFill>
          <a:ln w="6350">
            <a:solidFill>
              <a:srgbClr val="E7EEF9">
                <a:alpha val="0"/>
              </a:srgbClr>
            </a:solidFill>
            <a:prstDash val="solid"/>
          </a:ln>
        </p:spPr>
      </p:sp>
      <p:sp>
        <p:nvSpPr>
          <p:cNvPr id="14" name="Shape 12"/>
          <p:cNvSpPr/>
          <p:nvPr/>
        </p:nvSpPr>
        <p:spPr>
          <a:xfrm>
            <a:off x="830580" y="4175760"/>
            <a:ext cx="91440" cy="91440"/>
          </a:xfrm>
          <a:prstGeom prst="ellipse">
            <a:avLst/>
          </a:prstGeom>
          <a:solidFill>
            <a:srgbClr val="557DC0"/>
          </a:solidFill>
          <a:ln w="12700">
            <a:solidFill>
              <a:srgbClr val="333333">
                <a:alpha val="0"/>
              </a:srgbClr>
            </a:solidFill>
            <a:prstDash val="solid"/>
          </a:ln>
        </p:spPr>
      </p:sp>
      <p:sp>
        <p:nvSpPr>
          <p:cNvPr id="15" name="Text 13"/>
          <p:cNvSpPr txBox="1"/>
          <p:nvPr/>
        </p:nvSpPr>
        <p:spPr>
          <a:xfrm>
            <a:off x="1021080" y="4122420"/>
            <a:ext cx="1066800" cy="259080"/>
          </a:xfrm>
          <a:prstGeom prst="rect">
            <a:avLst/>
          </a:prstGeom>
          <a:noFill/>
          <a:ln/>
        </p:spPr>
        <p:txBody>
          <a:bodyPr wrap="square" lIns="0" tIns="0" rIns="0" bIns="0" rtlCol="0" anchor="ctr">
            <a:normAutofit/>
          </a:bodyPr>
          <a:lstStyle/>
          <a:p>
            <a:pPr algn="l" indent="0" marL="0">
              <a:buNone/>
            </a:pPr>
            <a:r>
              <a:rPr lang="en-US" sz="1020" b="1" dirty="0">
                <a:solidFill>
                  <a:srgbClr val="172337"/>
                </a:solidFill>
                <a:latin typeface="Aptos" pitchFamily="34" charset="0"/>
                <a:ea typeface="Aptos" pitchFamily="34" charset="-122"/>
                <a:cs typeface="Aptos" pitchFamily="34" charset="-120"/>
              </a:rPr>
              <a:t>Website</a:t>
            </a:r>
            <a:endParaRPr lang="en-US" sz="1020" dirty="0"/>
          </a:p>
        </p:txBody>
      </p:sp>
      <p:sp>
        <p:nvSpPr>
          <p:cNvPr id="16" name="Text 14"/>
          <p:cNvSpPr txBox="1"/>
          <p:nvPr/>
        </p:nvSpPr>
        <p:spPr>
          <a:xfrm>
            <a:off x="868680" y="4488180"/>
            <a:ext cx="1219200" cy="198120"/>
          </a:xfrm>
          <a:prstGeom prst="rect">
            <a:avLst/>
          </a:prstGeom>
          <a:noFill/>
          <a:ln/>
        </p:spPr>
        <p:txBody>
          <a:bodyPr wrap="square" lIns="0" tIns="0" rIns="0" bIns="0" rtlCol="0" anchor="ctr">
            <a:normAutofit/>
          </a:bodyPr>
          <a:lstStyle/>
          <a:p>
            <a:pPr algn="l" indent="0" marL="0">
              <a:buNone/>
            </a:pPr>
            <a:r>
              <a:rPr lang="en-US" sz="780" dirty="0">
                <a:solidFill>
                  <a:srgbClr val="718097"/>
                </a:solidFill>
                <a:latin typeface="Aptos" pitchFamily="34" charset="0"/>
                <a:ea typeface="Aptos" pitchFamily="34" charset="-122"/>
                <a:cs typeface="Aptos" pitchFamily="34" charset="-120"/>
              </a:rPr>
              <a:t>product claim</a:t>
            </a:r>
            <a:endParaRPr lang="en-US" sz="780" dirty="0"/>
          </a:p>
        </p:txBody>
      </p:sp>
      <p:sp>
        <p:nvSpPr>
          <p:cNvPr id="17" name="Shape 15"/>
          <p:cNvSpPr/>
          <p:nvPr/>
        </p:nvSpPr>
        <p:spPr>
          <a:xfrm>
            <a:off x="2476500" y="4015740"/>
            <a:ext cx="1600200" cy="883920"/>
          </a:xfrm>
          <a:prstGeom prst="roundRect">
            <a:avLst>
              <a:gd name="adj" fmla="val 12414"/>
            </a:avLst>
          </a:prstGeom>
          <a:solidFill>
            <a:srgbClr val="FFF1DF"/>
          </a:solidFill>
          <a:ln w="6350">
            <a:solidFill>
              <a:srgbClr val="FFF1DF">
                <a:alpha val="0"/>
              </a:srgbClr>
            </a:solidFill>
            <a:prstDash val="solid"/>
          </a:ln>
        </p:spPr>
      </p:sp>
      <p:sp>
        <p:nvSpPr>
          <p:cNvPr id="18" name="Shape 16"/>
          <p:cNvSpPr/>
          <p:nvPr/>
        </p:nvSpPr>
        <p:spPr>
          <a:xfrm>
            <a:off x="2621280" y="4175760"/>
            <a:ext cx="91440" cy="91440"/>
          </a:xfrm>
          <a:prstGeom prst="ellipse">
            <a:avLst/>
          </a:prstGeom>
          <a:solidFill>
            <a:srgbClr val="B87932"/>
          </a:solidFill>
          <a:ln w="12700">
            <a:solidFill>
              <a:srgbClr val="333333">
                <a:alpha val="0"/>
              </a:srgbClr>
            </a:solidFill>
            <a:prstDash val="solid"/>
          </a:ln>
        </p:spPr>
      </p:sp>
      <p:sp>
        <p:nvSpPr>
          <p:cNvPr id="19" name="Text 17"/>
          <p:cNvSpPr txBox="1"/>
          <p:nvPr/>
        </p:nvSpPr>
        <p:spPr>
          <a:xfrm>
            <a:off x="2811780" y="4122420"/>
            <a:ext cx="1066800" cy="259080"/>
          </a:xfrm>
          <a:prstGeom prst="rect">
            <a:avLst/>
          </a:prstGeom>
          <a:noFill/>
          <a:ln/>
        </p:spPr>
        <p:txBody>
          <a:bodyPr wrap="square" lIns="0" tIns="0" rIns="0" bIns="0" rtlCol="0" anchor="ctr">
            <a:normAutofit/>
          </a:bodyPr>
          <a:lstStyle/>
          <a:p>
            <a:pPr algn="l" indent="0" marL="0">
              <a:buNone/>
            </a:pPr>
            <a:r>
              <a:rPr lang="en-US" sz="1020" b="1" dirty="0">
                <a:solidFill>
                  <a:srgbClr val="172337"/>
                </a:solidFill>
                <a:latin typeface="Aptos" pitchFamily="34" charset="0"/>
                <a:ea typeface="Aptos" pitchFamily="34" charset="-122"/>
                <a:cs typeface="Aptos" pitchFamily="34" charset="-120"/>
              </a:rPr>
              <a:t>Social</a:t>
            </a:r>
            <a:endParaRPr lang="en-US" sz="1020" dirty="0"/>
          </a:p>
        </p:txBody>
      </p:sp>
      <p:sp>
        <p:nvSpPr>
          <p:cNvPr id="20" name="Text 18"/>
          <p:cNvSpPr txBox="1"/>
          <p:nvPr/>
        </p:nvSpPr>
        <p:spPr>
          <a:xfrm>
            <a:off x="2659380" y="4488180"/>
            <a:ext cx="1219200" cy="198120"/>
          </a:xfrm>
          <a:prstGeom prst="rect">
            <a:avLst/>
          </a:prstGeom>
          <a:noFill/>
          <a:ln/>
        </p:spPr>
        <p:txBody>
          <a:bodyPr wrap="square" lIns="0" tIns="0" rIns="0" bIns="0" rtlCol="0" anchor="ctr">
            <a:normAutofit/>
          </a:bodyPr>
          <a:lstStyle/>
          <a:p>
            <a:pPr algn="l" indent="0" marL="0">
              <a:buNone/>
            </a:pPr>
            <a:r>
              <a:rPr lang="en-US" sz="780" dirty="0">
                <a:solidFill>
                  <a:srgbClr val="718097"/>
                </a:solidFill>
                <a:latin typeface="Aptos" pitchFamily="34" charset="0"/>
                <a:ea typeface="Aptos" pitchFamily="34" charset="-122"/>
                <a:cs typeface="Aptos" pitchFamily="34" charset="-120"/>
              </a:rPr>
              <a:t>weak signal</a:t>
            </a:r>
            <a:endParaRPr lang="en-US" sz="780" dirty="0"/>
          </a:p>
        </p:txBody>
      </p:sp>
      <p:sp>
        <p:nvSpPr>
          <p:cNvPr id="21" name="Shape 19"/>
          <p:cNvSpPr/>
          <p:nvPr/>
        </p:nvSpPr>
        <p:spPr>
          <a:xfrm>
            <a:off x="4191000" y="3352800"/>
            <a:ext cx="990600" cy="0"/>
          </a:xfrm>
          <a:prstGeom prst="line">
            <a:avLst/>
          </a:prstGeom>
          <a:noFill/>
          <a:ln w="25400">
            <a:solidFill>
              <a:srgbClr val="B9C8DA"/>
            </a:solidFill>
            <a:prstDash val="solid"/>
            <a:headEnd type="none"/>
            <a:tailEnd type="none"/>
          </a:ln>
        </p:spPr>
      </p:sp>
      <p:sp>
        <p:nvSpPr>
          <p:cNvPr id="22" name="Shape 20"/>
          <p:cNvSpPr/>
          <p:nvPr/>
        </p:nvSpPr>
        <p:spPr>
          <a:xfrm>
            <a:off x="4191000" y="4892040"/>
            <a:ext cx="990600" cy="0"/>
          </a:xfrm>
          <a:prstGeom prst="line">
            <a:avLst/>
          </a:prstGeom>
          <a:noFill/>
          <a:ln w="25400">
            <a:solidFill>
              <a:srgbClr val="B9C8DA"/>
            </a:solidFill>
            <a:prstDash val="solid"/>
            <a:headEnd type="none"/>
            <a:tailEnd type="none"/>
          </a:ln>
        </p:spPr>
      </p:sp>
      <p:sp>
        <p:nvSpPr>
          <p:cNvPr id="23" name="Shape 21"/>
          <p:cNvSpPr/>
          <p:nvPr/>
        </p:nvSpPr>
        <p:spPr>
          <a:xfrm>
            <a:off x="5181600" y="2514600"/>
            <a:ext cx="2971800" cy="2971800"/>
          </a:xfrm>
          <a:prstGeom prst="roundRect">
            <a:avLst>
              <a:gd name="adj" fmla="val 5538"/>
            </a:avLst>
          </a:prstGeom>
          <a:solidFill>
            <a:srgbClr val="FFFFFF"/>
          </a:solidFill>
          <a:ln w="6350">
            <a:solidFill>
              <a:srgbClr val="FFFFFF">
                <a:alpha val="0"/>
              </a:srgbClr>
            </a:solidFill>
            <a:prstDash val="solid"/>
          </a:ln>
          <a:effectLst>
            <a:outerShdw sx="100000" sy="100000" kx="0" ky="0" algn="bl" rotWithShape="0" blurRad="25400" dist="50800" dir="2700000">
              <a:srgbClr val="405875">
                <a:alpha val="12000"/>
              </a:srgbClr>
            </a:outerShdw>
          </a:effectLst>
        </p:spPr>
      </p:sp>
      <p:sp>
        <p:nvSpPr>
          <p:cNvPr id="24" name="Text 22"/>
          <p:cNvSpPr txBox="1"/>
          <p:nvPr/>
        </p:nvSpPr>
        <p:spPr>
          <a:xfrm>
            <a:off x="5486400" y="2705100"/>
            <a:ext cx="1676400" cy="213360"/>
          </a:xfrm>
          <a:prstGeom prst="rect">
            <a:avLst/>
          </a:prstGeom>
          <a:noFill/>
          <a:ln/>
        </p:spPr>
        <p:txBody>
          <a:bodyPr wrap="square" lIns="0" tIns="0" rIns="0" bIns="0" rtlCol="0" anchor="ctr">
            <a:normAutofit/>
          </a:bodyPr>
          <a:lstStyle/>
          <a:p>
            <a:pPr algn="l" indent="0" marL="0">
              <a:buNone/>
            </a:pPr>
            <a:r>
              <a:rPr lang="en-US" sz="780" b="1" spc="200" kern="0" dirty="0">
                <a:solidFill>
                  <a:srgbClr val="B9575F"/>
                </a:solidFill>
                <a:latin typeface="Aptos" pitchFamily="34" charset="0"/>
                <a:ea typeface="Aptos" pitchFamily="34" charset="-122"/>
                <a:cs typeface="Aptos" pitchFamily="34" charset="-120"/>
              </a:rPr>
              <a:t>TODAY</a:t>
            </a:r>
            <a:endParaRPr lang="en-US" sz="780" dirty="0"/>
          </a:p>
        </p:txBody>
      </p:sp>
      <p:sp>
        <p:nvSpPr>
          <p:cNvPr id="25" name="Text 23"/>
          <p:cNvSpPr txBox="1"/>
          <p:nvPr/>
        </p:nvSpPr>
        <p:spPr>
          <a:xfrm>
            <a:off x="5486400" y="3086100"/>
            <a:ext cx="2133600" cy="609600"/>
          </a:xfrm>
          <a:prstGeom prst="rect">
            <a:avLst/>
          </a:prstGeom>
          <a:noFill/>
          <a:ln/>
        </p:spPr>
        <p:txBody>
          <a:bodyPr wrap="square" lIns="0" tIns="0" rIns="0" bIns="0" rtlCol="0" anchor="ctr">
            <a:normAutofit/>
          </a:bodyPr>
          <a:lstStyle/>
          <a:p>
            <a:pPr algn="l" indent="0" marL="0">
              <a:buNone/>
            </a:pPr>
            <a:r>
              <a:rPr lang="en-US" sz="4080" b="1" dirty="0">
                <a:solidFill>
                  <a:srgbClr val="172337"/>
                </a:solidFill>
                <a:latin typeface="Aptos Display" pitchFamily="34" charset="0"/>
                <a:ea typeface="Aptos Display" pitchFamily="34" charset="-122"/>
                <a:cs typeface="Aptos Display" pitchFamily="34" charset="-120"/>
              </a:rPr>
              <a:t>Weeks</a:t>
            </a:r>
            <a:endParaRPr lang="en-US" sz="4080" dirty="0"/>
          </a:p>
        </p:txBody>
      </p:sp>
      <p:sp>
        <p:nvSpPr>
          <p:cNvPr id="26" name="Text 24"/>
          <p:cNvSpPr txBox="1"/>
          <p:nvPr/>
        </p:nvSpPr>
        <p:spPr>
          <a:xfrm>
            <a:off x="5486400" y="3771900"/>
            <a:ext cx="2286000" cy="533400"/>
          </a:xfrm>
          <a:prstGeom prst="rect">
            <a:avLst/>
          </a:prstGeom>
          <a:noFill/>
          <a:ln/>
        </p:spPr>
        <p:txBody>
          <a:bodyPr wrap="square" lIns="0" tIns="0" rIns="0" bIns="0" rtlCol="0" anchor="t">
            <a:normAutofit/>
          </a:bodyPr>
          <a:lstStyle/>
          <a:p>
            <a:pPr algn="l" indent="0" marL="0">
              <a:buNone/>
            </a:pPr>
            <a:r>
              <a:rPr lang="en-US" sz="1080" dirty="0">
                <a:solidFill>
                  <a:srgbClr val="718097"/>
                </a:solidFill>
                <a:latin typeface="Aptos" pitchFamily="34" charset="0"/>
                <a:ea typeface="Aptos" pitchFamily="34" charset="-122"/>
                <a:cs typeface="Aptos" pitchFamily="34" charset="-120"/>
              </a:rPr>
              <a:t>to collect, reconcile and</a:t>
            </a:r>
            <a:endParaRPr lang="en-US" sz="1080" dirty="0"/>
          </a:p>
          <a:p>
            <a:pPr algn="l" indent="0" marL="0">
              <a:buNone/>
            </a:pPr>
            <a:r>
              <a:rPr lang="en-US" sz="1080" dirty="0">
                <a:solidFill>
                  <a:srgbClr val="718097"/>
                </a:solidFill>
                <a:latin typeface="Aptos" pitchFamily="34" charset="0"/>
                <a:ea typeface="Aptos" pitchFamily="34" charset="-122"/>
                <a:cs typeface="Aptos" pitchFamily="34" charset="-120"/>
              </a:rPr>
              <a:t>understand one opportunity</a:t>
            </a:r>
            <a:endParaRPr lang="en-US" sz="1080" dirty="0"/>
          </a:p>
        </p:txBody>
      </p:sp>
      <p:sp>
        <p:nvSpPr>
          <p:cNvPr id="27" name="Shape 25"/>
          <p:cNvSpPr/>
          <p:nvPr/>
        </p:nvSpPr>
        <p:spPr>
          <a:xfrm>
            <a:off x="5486400" y="4572000"/>
            <a:ext cx="2324100" cy="0"/>
          </a:xfrm>
          <a:prstGeom prst="line">
            <a:avLst/>
          </a:prstGeom>
          <a:noFill/>
          <a:ln w="15240">
            <a:solidFill>
              <a:srgbClr val="DCE5F0"/>
            </a:solidFill>
            <a:prstDash val="solid"/>
            <a:headEnd type="none"/>
            <a:tailEnd type="none"/>
          </a:ln>
        </p:spPr>
      </p:sp>
      <p:sp>
        <p:nvSpPr>
          <p:cNvPr id="28" name="Text 26"/>
          <p:cNvSpPr txBox="1"/>
          <p:nvPr/>
        </p:nvSpPr>
        <p:spPr>
          <a:xfrm>
            <a:off x="5486400" y="4724400"/>
            <a:ext cx="2286000" cy="533400"/>
          </a:xfrm>
          <a:prstGeom prst="rect">
            <a:avLst/>
          </a:prstGeom>
          <a:noFill/>
          <a:ln/>
        </p:spPr>
        <p:txBody>
          <a:bodyPr wrap="square" lIns="0" tIns="0" rIns="0" bIns="0" rtlCol="0" anchor="t">
            <a:normAutofit/>
          </a:bodyPr>
          <a:lstStyle/>
          <a:p>
            <a:pPr algn="l" indent="0" marL="0">
              <a:buNone/>
            </a:pPr>
            <a:r>
              <a:rPr lang="en-US" sz="1320" b="1" dirty="0">
                <a:solidFill>
                  <a:srgbClr val="B9575F"/>
                </a:solidFill>
                <a:latin typeface="Aptos" pitchFamily="34" charset="0"/>
                <a:ea typeface="Aptos" pitchFamily="34" charset="-122"/>
                <a:cs typeface="Aptos" pitchFamily="34" charset="-120"/>
              </a:rPr>
              <a:t>Capital flows through networks,</a:t>
            </a:r>
            <a:endParaRPr lang="en-US" sz="1320" dirty="0"/>
          </a:p>
          <a:p>
            <a:pPr algn="l" indent="0" marL="0">
              <a:buNone/>
            </a:pPr>
            <a:r>
              <a:rPr lang="en-US" sz="1320" b="1" dirty="0">
                <a:solidFill>
                  <a:srgbClr val="B9575F"/>
                </a:solidFill>
                <a:latin typeface="Aptos" pitchFamily="34" charset="0"/>
                <a:ea typeface="Aptos" pitchFamily="34" charset="-122"/>
                <a:cs typeface="Aptos" pitchFamily="34" charset="-120"/>
              </a:rPr>
              <a:t>not merit.</a:t>
            </a:r>
            <a:endParaRPr lang="en-US" sz="1320" dirty="0"/>
          </a:p>
        </p:txBody>
      </p:sp>
      <p:sp>
        <p:nvSpPr>
          <p:cNvPr id="29" name="Shape 27"/>
          <p:cNvSpPr/>
          <p:nvPr/>
        </p:nvSpPr>
        <p:spPr>
          <a:xfrm>
            <a:off x="8534400" y="2514600"/>
            <a:ext cx="2971800" cy="2971800"/>
          </a:xfrm>
          <a:prstGeom prst="roundRect">
            <a:avLst>
              <a:gd name="adj" fmla="val 5538"/>
            </a:avLst>
          </a:prstGeom>
          <a:solidFill>
            <a:srgbClr val="4E70A6"/>
          </a:solidFill>
          <a:ln w="6350">
            <a:solidFill>
              <a:srgbClr val="4E70A6">
                <a:alpha val="0"/>
              </a:srgbClr>
            </a:solidFill>
            <a:prstDash val="solid"/>
          </a:ln>
          <a:effectLst>
            <a:outerShdw sx="100000" sy="100000" kx="0" ky="0" algn="bl" rotWithShape="0" blurRad="322580000" dist="645160000" dir="162000000000">
              <a:srgbClr val="405875">
                <a:alpha val="1200000000"/>
              </a:srgbClr>
            </a:outerShdw>
          </a:effectLst>
        </p:spPr>
      </p:sp>
      <p:sp>
        <p:nvSpPr>
          <p:cNvPr id="30" name="Text 28"/>
          <p:cNvSpPr txBox="1"/>
          <p:nvPr/>
        </p:nvSpPr>
        <p:spPr>
          <a:xfrm>
            <a:off x="8839200" y="2705100"/>
            <a:ext cx="2133600" cy="213360"/>
          </a:xfrm>
          <a:prstGeom prst="rect">
            <a:avLst/>
          </a:prstGeom>
          <a:noFill/>
          <a:ln/>
        </p:spPr>
        <p:txBody>
          <a:bodyPr wrap="square" lIns="0" tIns="0" rIns="0" bIns="0" rtlCol="0" anchor="ctr">
            <a:normAutofit/>
          </a:bodyPr>
          <a:lstStyle/>
          <a:p>
            <a:pPr algn="l" indent="0" marL="0">
              <a:buNone/>
            </a:pPr>
            <a:r>
              <a:rPr lang="en-US" sz="780" b="1" spc="200" kern="0" dirty="0">
                <a:solidFill>
                  <a:srgbClr val="C7D8F2"/>
                </a:solidFill>
                <a:latin typeface="Aptos" pitchFamily="34" charset="0"/>
                <a:ea typeface="Aptos" pitchFamily="34" charset="-122"/>
                <a:cs typeface="Aptos" pitchFamily="34" charset="-120"/>
              </a:rPr>
              <a:t>FIRSTCHECK24</a:t>
            </a:r>
            <a:endParaRPr lang="en-US" sz="780" dirty="0"/>
          </a:p>
        </p:txBody>
      </p:sp>
      <p:sp>
        <p:nvSpPr>
          <p:cNvPr id="31" name="Text 29"/>
          <p:cNvSpPr txBox="1"/>
          <p:nvPr/>
        </p:nvSpPr>
        <p:spPr>
          <a:xfrm>
            <a:off x="8839200" y="3086100"/>
            <a:ext cx="2133600" cy="640080"/>
          </a:xfrm>
          <a:prstGeom prst="rect">
            <a:avLst/>
          </a:prstGeom>
          <a:noFill/>
          <a:ln/>
        </p:spPr>
        <p:txBody>
          <a:bodyPr wrap="square" lIns="0" tIns="0" rIns="0" bIns="0" rtlCol="0" anchor="ctr">
            <a:normAutofit/>
          </a:bodyPr>
          <a:lstStyle/>
          <a:p>
            <a:pPr algn="l" indent="0" marL="0">
              <a:buNone/>
            </a:pPr>
            <a:r>
              <a:rPr lang="en-US" sz="4680" b="1" dirty="0">
                <a:solidFill>
                  <a:srgbClr val="FFFFFF"/>
                </a:solidFill>
                <a:latin typeface="Aptos Display" pitchFamily="34" charset="0"/>
                <a:ea typeface="Aptos Display" pitchFamily="34" charset="-122"/>
                <a:cs typeface="Aptos Display" pitchFamily="34" charset="-120"/>
              </a:rPr>
              <a:t>24h</a:t>
            </a:r>
            <a:endParaRPr lang="en-US" sz="4680" dirty="0"/>
          </a:p>
        </p:txBody>
      </p:sp>
      <p:sp>
        <p:nvSpPr>
          <p:cNvPr id="32" name="Text 30"/>
          <p:cNvSpPr txBox="1"/>
          <p:nvPr/>
        </p:nvSpPr>
        <p:spPr>
          <a:xfrm>
            <a:off x="8839200" y="3771900"/>
            <a:ext cx="2286000" cy="533400"/>
          </a:xfrm>
          <a:prstGeom prst="rect">
            <a:avLst/>
          </a:prstGeom>
          <a:noFill/>
          <a:ln/>
        </p:spPr>
        <p:txBody>
          <a:bodyPr wrap="square" lIns="0" tIns="0" rIns="0" bIns="0" rtlCol="0" anchor="t">
            <a:normAutofit/>
          </a:bodyPr>
          <a:lstStyle/>
          <a:p>
            <a:pPr algn="l" indent="0" marL="0">
              <a:buNone/>
            </a:pPr>
            <a:r>
              <a:rPr lang="en-US" sz="1080" dirty="0">
                <a:solidFill>
                  <a:srgbClr val="D7E3F4"/>
                </a:solidFill>
                <a:latin typeface="Aptos" pitchFamily="34" charset="0"/>
                <a:ea typeface="Aptos" pitchFamily="34" charset="-122"/>
                <a:cs typeface="Aptos" pitchFamily="34" charset="-120"/>
              </a:rPr>
              <a:t>from a valid application</a:t>
            </a:r>
            <a:endParaRPr lang="en-US" sz="1080" dirty="0"/>
          </a:p>
          <a:p>
            <a:pPr algn="l" indent="0" marL="0">
              <a:buNone/>
            </a:pPr>
            <a:r>
              <a:rPr lang="en-US" sz="1080" dirty="0">
                <a:solidFill>
                  <a:srgbClr val="D7E3F4"/>
                </a:solidFill>
                <a:latin typeface="Aptos" pitchFamily="34" charset="0"/>
                <a:ea typeface="Aptos" pitchFamily="34" charset="-122"/>
                <a:cs typeface="Aptos" pitchFamily="34" charset="-120"/>
              </a:rPr>
              <a:t>to an evidence-backed decision</a:t>
            </a:r>
            <a:endParaRPr lang="en-US" sz="1080" dirty="0"/>
          </a:p>
        </p:txBody>
      </p:sp>
      <p:sp>
        <p:nvSpPr>
          <p:cNvPr id="33" name="Shape 31"/>
          <p:cNvSpPr/>
          <p:nvPr/>
        </p:nvSpPr>
        <p:spPr>
          <a:xfrm>
            <a:off x="8839200" y="4572000"/>
            <a:ext cx="2324100" cy="0"/>
          </a:xfrm>
          <a:prstGeom prst="line">
            <a:avLst/>
          </a:prstGeom>
          <a:noFill/>
          <a:ln w="15240">
            <a:solidFill>
              <a:srgbClr val="7894BA"/>
            </a:solidFill>
            <a:prstDash val="solid"/>
            <a:headEnd type="none"/>
            <a:tailEnd type="none"/>
          </a:ln>
        </p:spPr>
      </p:sp>
      <p:sp>
        <p:nvSpPr>
          <p:cNvPr id="34" name="Text 32"/>
          <p:cNvSpPr txBox="1"/>
          <p:nvPr/>
        </p:nvSpPr>
        <p:spPr>
          <a:xfrm>
            <a:off x="8839200" y="4724400"/>
            <a:ext cx="2286000" cy="533400"/>
          </a:xfrm>
          <a:prstGeom prst="rect">
            <a:avLst/>
          </a:prstGeom>
          <a:noFill/>
          <a:ln/>
        </p:spPr>
        <p:txBody>
          <a:bodyPr wrap="square" lIns="0" tIns="0" rIns="0" bIns="0" rtlCol="0" anchor="t">
            <a:normAutofit/>
          </a:bodyPr>
          <a:lstStyle/>
          <a:p>
            <a:pPr algn="l" indent="0" marL="0">
              <a:buNone/>
            </a:pPr>
            <a:r>
              <a:rPr lang="en-US" sz="1440" b="1" dirty="0">
                <a:solidFill>
                  <a:srgbClr val="FFFFFF"/>
                </a:solidFill>
                <a:latin typeface="Aptos" pitchFamily="34" charset="0"/>
                <a:ea typeface="Aptos" pitchFamily="34" charset="-122"/>
                <a:cs typeface="Aptos" pitchFamily="34" charset="-120"/>
              </a:rPr>
              <a:t>Find them before</a:t>
            </a:r>
            <a:endParaRPr lang="en-US" sz="1440" dirty="0"/>
          </a:p>
          <a:p>
            <a:pPr algn="l" indent="0" marL="0">
              <a:buNone/>
            </a:pPr>
            <a:r>
              <a:rPr lang="en-US" sz="1440" b="1" dirty="0">
                <a:solidFill>
                  <a:srgbClr val="FFFFFF"/>
                </a:solidFill>
                <a:latin typeface="Aptos" pitchFamily="34" charset="0"/>
                <a:ea typeface="Aptos" pitchFamily="34" charset="-122"/>
                <a:cs typeface="Aptos" pitchFamily="34" charset="-120"/>
              </a:rPr>
              <a:t>the market does.</a:t>
            </a:r>
            <a:endParaRPr lang="en-US" sz="1440" dirty="0"/>
          </a:p>
        </p:txBody>
      </p:sp>
      <p:sp>
        <p:nvSpPr>
          <p:cNvPr id="35" name="Text 33"/>
          <p:cNvSpPr/>
          <p:nvPr/>
        </p:nvSpPr>
        <p:spPr>
          <a:xfrm>
            <a:off x="685800" y="6210300"/>
            <a:ext cx="1371600" cy="243840"/>
          </a:xfrm>
          <a:prstGeom prst="rect">
            <a:avLst/>
          </a:prstGeom>
          <a:noFill/>
          <a:ln/>
        </p:spPr>
        <p:txBody>
          <a:bodyPr wrap="square" lIns="0" tIns="0" rIns="0" bIns="0" rtlCol="0" anchor="ctr">
            <a:normAutofit/>
          </a:bodyPr>
          <a:lstStyle/>
          <a:p>
            <a:pPr indent="0" marL="0">
              <a:buNone/>
            </a:pPr>
            <a:r>
              <a:rPr lang="en-US" sz="1400" b="1" dirty="0">
                <a:solidFill>
                  <a:srgbClr val="172337"/>
                </a:solidFill>
                <a:latin typeface="Aptos Display" pitchFamily="34" charset="0"/>
                <a:ea typeface="Aptos Display" pitchFamily="34" charset="-122"/>
                <a:cs typeface="Aptos Display" pitchFamily="34" charset="-120"/>
              </a:rPr>
              <a:t>FirstCheck</a:t>
            </a:r>
            <a:pPr indent="0" marL="0">
              <a:buNone/>
            </a:pPr>
            <a:r>
              <a:rPr lang="en-US" sz="1200" b="1" dirty="0">
                <a:solidFill>
                  <a:srgbClr val="557DC0"/>
                </a:solidFill>
                <a:latin typeface="Aptos Display" pitchFamily="34" charset="0"/>
                <a:ea typeface="Aptos Display" pitchFamily="34" charset="-122"/>
                <a:cs typeface="Aptos Display" pitchFamily="34" charset="-120"/>
              </a:rPr>
              <a:t>24</a:t>
            </a:r>
            <a:endParaRPr lang="en-US" sz="1400" dirty="0"/>
          </a:p>
        </p:txBody>
      </p:sp>
      <p:sp>
        <p:nvSpPr>
          <p:cNvPr id="36" name="Text 34"/>
          <p:cNvSpPr txBox="1"/>
          <p:nvPr/>
        </p:nvSpPr>
        <p:spPr>
          <a:xfrm>
            <a:off x="11125200" y="6248400"/>
            <a:ext cx="381000" cy="152400"/>
          </a:xfrm>
          <a:prstGeom prst="rect">
            <a:avLst/>
          </a:prstGeom>
          <a:noFill/>
          <a:ln/>
        </p:spPr>
        <p:txBody>
          <a:bodyPr wrap="square" lIns="0" tIns="0" rIns="0" bIns="0" rtlCol="0" anchor="ctr">
            <a:normAutofit/>
          </a:bodyPr>
          <a:lstStyle/>
          <a:p>
            <a:pPr algn="r" indent="0" marL="0">
              <a:buNone/>
            </a:pPr>
            <a:r>
              <a:rPr lang="en-US" sz="780" b="1" spc="200" kern="0" dirty="0">
                <a:solidFill>
                  <a:srgbClr val="94A3B8"/>
                </a:solidFill>
                <a:latin typeface="Aptos" pitchFamily="34" charset="0"/>
                <a:ea typeface="Aptos" pitchFamily="34" charset="-122"/>
                <a:cs typeface="Aptos" pitchFamily="34" charset="-120"/>
              </a:rPr>
              <a:t>02</a:t>
            </a:r>
            <a:endParaRPr lang="en-US" sz="78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6FB"/>
        </a:solidFill>
      </p:bgPr>
    </p:bg>
    <p:spTree>
      <p:nvGrpSpPr>
        <p:cNvPr id="1" name=""/>
        <p:cNvGrpSpPr/>
        <p:nvPr/>
      </p:nvGrpSpPr>
      <p:grpSpPr>
        <a:xfrm>
          <a:off x="0" y="0"/>
          <a:ext cx="0" cy="0"/>
          <a:chOff x="0" y="0"/>
          <a:chExt cx="0" cy="0"/>
        </a:xfrm>
      </p:grpSpPr>
      <p:sp>
        <p:nvSpPr>
          <p:cNvPr id="2" name="Text 0"/>
          <p:cNvSpPr txBox="1"/>
          <p:nvPr/>
        </p:nvSpPr>
        <p:spPr>
          <a:xfrm>
            <a:off x="685800" y="548640"/>
            <a:ext cx="4267200" cy="213360"/>
          </a:xfrm>
          <a:prstGeom prst="rect">
            <a:avLst/>
          </a:prstGeom>
          <a:noFill/>
          <a:ln/>
        </p:spPr>
        <p:txBody>
          <a:bodyPr wrap="square" lIns="0" tIns="0" rIns="0" bIns="0" rtlCol="0" anchor="ctr">
            <a:normAutofit/>
          </a:bodyPr>
          <a:lstStyle/>
          <a:p>
            <a:pPr algn="l" indent="0" marL="0">
              <a:buNone/>
            </a:pPr>
            <a:r>
              <a:rPr lang="en-US" sz="900" b="1" spc="240" kern="0" dirty="0">
                <a:solidFill>
                  <a:srgbClr val="557DC0"/>
                </a:solidFill>
                <a:latin typeface="Aptos" pitchFamily="34" charset="0"/>
                <a:ea typeface="Aptos" pitchFamily="34" charset="-122"/>
                <a:cs typeface="Aptos" pitchFamily="34" charset="-120"/>
              </a:rPr>
              <a:t>THE PRODUCT THESIS</a:t>
            </a:r>
            <a:endParaRPr lang="en-US" sz="900" dirty="0"/>
          </a:p>
        </p:txBody>
      </p:sp>
      <p:sp>
        <p:nvSpPr>
          <p:cNvPr id="3" name="Text 1"/>
          <p:cNvSpPr txBox="1"/>
          <p:nvPr/>
        </p:nvSpPr>
        <p:spPr>
          <a:xfrm>
            <a:off x="685800" y="800100"/>
            <a:ext cx="4267200" cy="760781"/>
          </a:xfrm>
          <a:prstGeom prst="rect">
            <a:avLst/>
          </a:prstGeom>
          <a:noFill/>
          <a:ln/>
        </p:spPr>
        <p:txBody>
          <a:bodyPr wrap="square" lIns="0" tIns="0" rIns="0" bIns="0" rtlCol="0" anchor="t">
            <a:normAutofit/>
          </a:bodyPr>
          <a:lstStyle/>
          <a:p>
            <a:pPr algn="l" indent="0" marL="0">
              <a:buNone/>
            </a:pPr>
            <a:r>
              <a:rPr lang="en-US" sz="2880" b="1" dirty="0">
                <a:solidFill>
                  <a:srgbClr val="172337"/>
                </a:solidFill>
                <a:latin typeface="Aptos Display" pitchFamily="34" charset="0"/>
                <a:ea typeface="Aptos Display" pitchFamily="34" charset="-122"/>
                <a:cs typeface="Aptos Display" pitchFamily="34" charset="-120"/>
              </a:rPr>
              <a:t>Autonomous discovery.</a:t>
            </a:r>
            <a:endParaRPr lang="en-US" sz="2880" dirty="0"/>
          </a:p>
          <a:p>
            <a:pPr algn="l" indent="0" marL="0">
              <a:buNone/>
            </a:pPr>
            <a:r>
              <a:rPr lang="en-US" sz="2880" b="1" dirty="0">
                <a:solidFill>
                  <a:srgbClr val="172337"/>
                </a:solidFill>
                <a:latin typeface="Aptos Display" pitchFamily="34" charset="0"/>
                <a:ea typeface="Aptos Display" pitchFamily="34" charset="-122"/>
                <a:cs typeface="Aptos Display" pitchFamily="34" charset="-120"/>
              </a:rPr>
              <a:t>Explainable decisions.</a:t>
            </a:r>
            <a:endParaRPr lang="en-US" sz="2880" dirty="0"/>
          </a:p>
        </p:txBody>
      </p:sp>
      <p:sp>
        <p:nvSpPr>
          <p:cNvPr id="4" name="Text 2"/>
          <p:cNvSpPr txBox="1"/>
          <p:nvPr/>
        </p:nvSpPr>
        <p:spPr>
          <a:xfrm>
            <a:off x="685800" y="1690421"/>
            <a:ext cx="3810000" cy="487680"/>
          </a:xfrm>
          <a:prstGeom prst="rect">
            <a:avLst/>
          </a:prstGeom>
          <a:noFill/>
          <a:ln/>
        </p:spPr>
        <p:txBody>
          <a:bodyPr wrap="square" lIns="0" tIns="0" rIns="0" bIns="0" rtlCol="0" anchor="t">
            <a:normAutofit/>
          </a:bodyPr>
          <a:lstStyle/>
          <a:p>
            <a:pPr algn="l" indent="0" marL="0">
              <a:buNone/>
            </a:pPr>
            <a:r>
              <a:rPr lang="en-US" sz="1200" dirty="0">
                <a:solidFill>
                  <a:srgbClr val="718097"/>
                </a:solidFill>
                <a:latin typeface="Aptos" pitchFamily="34" charset="0"/>
                <a:ea typeface="Aptos" pitchFamily="34" charset="-122"/>
                <a:cs typeface="Aptos" pitchFamily="34" charset="-120"/>
              </a:rPr>
              <a:t>Find hidden founders early — then show</a:t>
            </a:r>
            <a:endParaRPr lang="en-US" sz="1200" dirty="0"/>
          </a:p>
          <a:p>
            <a:pPr algn="l" indent="0" marL="0">
              <a:buNone/>
            </a:pPr>
            <a:r>
              <a:rPr lang="en-US" sz="1200" dirty="0">
                <a:solidFill>
                  <a:srgbClr val="718097"/>
                </a:solidFill>
                <a:latin typeface="Aptos" pitchFamily="34" charset="0"/>
                <a:ea typeface="Aptos" pitchFamily="34" charset="-122"/>
                <a:cs typeface="Aptos" pitchFamily="34" charset="-120"/>
              </a:rPr>
              <a:t>every step behind the score.</a:t>
            </a:r>
            <a:endParaRPr lang="en-US" sz="1200" dirty="0"/>
          </a:p>
        </p:txBody>
      </p:sp>
      <p:sp>
        <p:nvSpPr>
          <p:cNvPr id="5" name="Shape 3"/>
          <p:cNvSpPr/>
          <p:nvPr/>
        </p:nvSpPr>
        <p:spPr>
          <a:xfrm>
            <a:off x="670560" y="3238500"/>
            <a:ext cx="3962400" cy="784860"/>
          </a:xfrm>
          <a:prstGeom prst="roundRect">
            <a:avLst>
              <a:gd name="adj" fmla="val 13981"/>
            </a:avLst>
          </a:prstGeom>
          <a:solidFill>
            <a:srgbClr val="E4F2ED"/>
          </a:solidFill>
          <a:ln w="6350">
            <a:solidFill>
              <a:srgbClr val="E4F2ED">
                <a:alpha val="0"/>
              </a:srgbClr>
            </a:solidFill>
            <a:prstDash val="solid"/>
          </a:ln>
        </p:spPr>
      </p:sp>
      <p:sp>
        <p:nvSpPr>
          <p:cNvPr id="6" name="Text 4"/>
          <p:cNvSpPr txBox="1"/>
          <p:nvPr/>
        </p:nvSpPr>
        <p:spPr>
          <a:xfrm>
            <a:off x="899160" y="3352800"/>
            <a:ext cx="2895600" cy="213360"/>
          </a:xfrm>
          <a:prstGeom prst="rect">
            <a:avLst/>
          </a:prstGeom>
          <a:noFill/>
          <a:ln/>
        </p:spPr>
        <p:txBody>
          <a:bodyPr wrap="square" lIns="0" tIns="0" rIns="0" bIns="0" rtlCol="0" anchor="ctr">
            <a:normAutofit/>
          </a:bodyPr>
          <a:lstStyle/>
          <a:p>
            <a:pPr algn="l" indent="0" marL="0">
              <a:buNone/>
            </a:pPr>
            <a:r>
              <a:rPr lang="en-US" sz="720" b="1" spc="120" kern="0" dirty="0">
                <a:solidFill>
                  <a:srgbClr val="2F8B72"/>
                </a:solidFill>
                <a:latin typeface="Aptos" pitchFamily="34" charset="0"/>
                <a:ea typeface="Aptos" pitchFamily="34" charset="-122"/>
                <a:cs typeface="Aptos" pitchFamily="34" charset="-120"/>
              </a:rPr>
              <a:t>CORE 01 · AUTONOMOUS DISCOVERY</a:t>
            </a:r>
            <a:endParaRPr lang="en-US" sz="720" dirty="0"/>
          </a:p>
        </p:txBody>
      </p:sp>
      <p:sp>
        <p:nvSpPr>
          <p:cNvPr id="7" name="Text 5"/>
          <p:cNvSpPr txBox="1"/>
          <p:nvPr/>
        </p:nvSpPr>
        <p:spPr>
          <a:xfrm>
            <a:off x="899160" y="3619500"/>
            <a:ext cx="3276600" cy="243840"/>
          </a:xfrm>
          <a:prstGeom prst="rect">
            <a:avLst/>
          </a:prstGeom>
          <a:noFill/>
          <a:ln/>
        </p:spPr>
        <p:txBody>
          <a:bodyPr wrap="square" lIns="0" tIns="0" rIns="0" bIns="0" rtlCol="0" anchor="ctr">
            <a:normAutofit/>
          </a:bodyPr>
          <a:lstStyle/>
          <a:p>
            <a:pPr algn="l" indent="0" marL="0">
              <a:buNone/>
            </a:pPr>
            <a:r>
              <a:rPr lang="en-US" sz="1200" b="1" dirty="0">
                <a:solidFill>
                  <a:srgbClr val="172337"/>
                </a:solidFill>
                <a:latin typeface="Aptos" pitchFamily="34" charset="0"/>
                <a:ea typeface="Aptos" pitchFamily="34" charset="-122"/>
                <a:cs typeface="Aptos" pitchFamily="34" charset="-120"/>
              </a:rPr>
              <a:t>Public signals → ranked founders</a:t>
            </a:r>
            <a:endParaRPr lang="en-US" sz="1200" dirty="0"/>
          </a:p>
        </p:txBody>
      </p:sp>
      <p:sp>
        <p:nvSpPr>
          <p:cNvPr id="8" name="Shape 6"/>
          <p:cNvSpPr/>
          <p:nvPr/>
        </p:nvSpPr>
        <p:spPr>
          <a:xfrm>
            <a:off x="670560" y="4175760"/>
            <a:ext cx="3962400" cy="784860"/>
          </a:xfrm>
          <a:prstGeom prst="roundRect">
            <a:avLst>
              <a:gd name="adj" fmla="val 13981"/>
            </a:avLst>
          </a:prstGeom>
          <a:solidFill>
            <a:srgbClr val="EEE8F8"/>
          </a:solidFill>
          <a:ln w="6350">
            <a:solidFill>
              <a:srgbClr val="EEE8F8">
                <a:alpha val="0"/>
              </a:srgbClr>
            </a:solidFill>
            <a:prstDash val="solid"/>
          </a:ln>
        </p:spPr>
      </p:sp>
      <p:sp>
        <p:nvSpPr>
          <p:cNvPr id="9" name="Text 7"/>
          <p:cNvSpPr txBox="1"/>
          <p:nvPr/>
        </p:nvSpPr>
        <p:spPr>
          <a:xfrm>
            <a:off x="899160" y="4290060"/>
            <a:ext cx="3124200" cy="213360"/>
          </a:xfrm>
          <a:prstGeom prst="rect">
            <a:avLst/>
          </a:prstGeom>
          <a:noFill/>
          <a:ln/>
        </p:spPr>
        <p:txBody>
          <a:bodyPr wrap="square" lIns="0" tIns="0" rIns="0" bIns="0" rtlCol="0" anchor="ctr">
            <a:normAutofit/>
          </a:bodyPr>
          <a:lstStyle/>
          <a:p>
            <a:pPr algn="l" indent="0" marL="0">
              <a:buNone/>
            </a:pPr>
            <a:r>
              <a:rPr lang="en-US" sz="720" b="1" spc="110" kern="0" dirty="0">
                <a:solidFill>
                  <a:srgbClr val="7656A5"/>
                </a:solidFill>
                <a:latin typeface="Aptos" pitchFamily="34" charset="0"/>
                <a:ea typeface="Aptos" pitchFamily="34" charset="-122"/>
                <a:cs typeface="Aptos" pitchFamily="34" charset="-120"/>
              </a:rPr>
              <a:t>CORE 02 · EXPLAINABLE INTELLIGENCE</a:t>
            </a:r>
            <a:endParaRPr lang="en-US" sz="720" dirty="0"/>
          </a:p>
        </p:txBody>
      </p:sp>
      <p:sp>
        <p:nvSpPr>
          <p:cNvPr id="10" name="Text 8"/>
          <p:cNvSpPr txBox="1"/>
          <p:nvPr/>
        </p:nvSpPr>
        <p:spPr>
          <a:xfrm>
            <a:off x="899160" y="4556760"/>
            <a:ext cx="3352800" cy="243840"/>
          </a:xfrm>
          <a:prstGeom prst="rect">
            <a:avLst/>
          </a:prstGeom>
          <a:noFill/>
          <a:ln/>
        </p:spPr>
        <p:txBody>
          <a:bodyPr wrap="square" lIns="0" tIns="0" rIns="0" bIns="0" rtlCol="0" anchor="ctr">
            <a:normAutofit/>
          </a:bodyPr>
          <a:lstStyle/>
          <a:p>
            <a:pPr algn="l" indent="0" marL="0">
              <a:buNone/>
            </a:pPr>
            <a:r>
              <a:rPr lang="en-US" sz="1200" b="1" dirty="0">
                <a:solidFill>
                  <a:srgbClr val="172337"/>
                </a:solidFill>
                <a:latin typeface="Aptos" pitchFamily="34" charset="0"/>
                <a:ea typeface="Aptos" pitchFamily="34" charset="-122"/>
                <a:cs typeface="Aptos" pitchFamily="34" charset="-120"/>
              </a:rPr>
              <a:t>Source → claim → score → decision</a:t>
            </a:r>
            <a:endParaRPr lang="en-US" sz="1200" dirty="0"/>
          </a:p>
        </p:txBody>
      </p:sp>
      <p:sp>
        <p:nvSpPr>
          <p:cNvPr id="11" name="Text 9"/>
          <p:cNvSpPr txBox="1"/>
          <p:nvPr/>
        </p:nvSpPr>
        <p:spPr>
          <a:xfrm>
            <a:off x="723900" y="5219700"/>
            <a:ext cx="3657600" cy="472440"/>
          </a:xfrm>
          <a:prstGeom prst="rect">
            <a:avLst/>
          </a:prstGeom>
          <a:noFill/>
          <a:ln/>
        </p:spPr>
        <p:txBody>
          <a:bodyPr wrap="square" lIns="0" tIns="0" rIns="0" bIns="0" rtlCol="0" anchor="t">
            <a:normAutofit/>
          </a:bodyPr>
          <a:lstStyle/>
          <a:p>
            <a:pPr algn="l" indent="0" marL="0">
              <a:buNone/>
            </a:pPr>
            <a:r>
              <a:rPr lang="en-US" sz="1020" dirty="0">
                <a:solidFill>
                  <a:srgbClr val="718097"/>
                </a:solidFill>
                <a:latin typeface="Aptos" pitchFamily="34" charset="0"/>
                <a:ea typeface="Aptos" pitchFamily="34" charset="-122"/>
                <a:cs typeface="Aptos" pitchFamily="34" charset="-120"/>
              </a:rPr>
              <a:t>One investor approves outreach and capital.</a:t>
            </a:r>
            <a:endParaRPr lang="en-US" sz="1020" dirty="0"/>
          </a:p>
          <a:p>
            <a:pPr algn="l" indent="0" marL="0">
              <a:buNone/>
            </a:pPr>
            <a:r>
              <a:rPr lang="en-US" sz="1020" dirty="0">
                <a:solidFill>
                  <a:srgbClr val="718097"/>
                </a:solidFill>
                <a:latin typeface="Aptos" pitchFamily="34" charset="0"/>
                <a:ea typeface="Aptos" pitchFamily="34" charset="-122"/>
                <a:cs typeface="Aptos" pitchFamily="34" charset="-120"/>
              </a:rPr>
              <a:t>Memory learns from every correction.</a:t>
            </a:r>
            <a:endParaRPr lang="en-US" sz="1020" dirty="0"/>
          </a:p>
        </p:txBody>
      </p:sp>
      <p:sp>
        <p:nvSpPr>
          <p:cNvPr id="12" name="Shape 10"/>
          <p:cNvSpPr/>
          <p:nvPr/>
        </p:nvSpPr>
        <p:spPr>
          <a:xfrm>
            <a:off x="5181600" y="876300"/>
            <a:ext cx="6400800" cy="4442460"/>
          </a:xfrm>
          <a:prstGeom prst="roundRect">
            <a:avLst>
              <a:gd name="adj" fmla="val 3705"/>
            </a:avLst>
          </a:prstGeom>
          <a:solidFill>
            <a:srgbClr val="FFFFFF"/>
          </a:solidFill>
          <a:ln w="6350">
            <a:solidFill>
              <a:srgbClr val="FFFFFF">
                <a:alpha val="0"/>
              </a:srgbClr>
            </a:solidFill>
            <a:prstDash val="solid"/>
          </a:ln>
          <a:effectLst>
            <a:outerShdw sx="100000" sy="100000" kx="0" ky="0" algn="bl" rotWithShape="0" blurRad="4096766000000" dist="8193532000000" dir="9720000000000000">
              <a:srgbClr val="405875">
                <a:alpha val="120000000000000"/>
              </a:srgbClr>
            </a:outerShdw>
          </a:effectLst>
        </p:spPr>
      </p:sp>
      <p:pic>
        <p:nvPicPr>
          <p:cNvPr id="13" name="Image 0" descr="/Users/zeyu/Projects/HACKATHON/The-VC-Brain/docs/pitch-assets/overview.png">    </p:cNvPr>
          <p:cNvPicPr>
            <a:picLocks noChangeAspect="1"/>
          </p:cNvPicPr>
          <p:nvPr/>
        </p:nvPicPr>
        <p:blipFill>
          <a:blip r:embed="rId1"/>
          <a:stretch>
            <a:fillRect/>
          </a:stretch>
        </p:blipFill>
        <p:spPr>
          <a:xfrm>
            <a:off x="5273040" y="967740"/>
            <a:ext cx="6217920" cy="4259580"/>
          </a:xfrm>
          <a:prstGeom prst="rect">
            <a:avLst/>
          </a:prstGeom>
        </p:spPr>
      </p:pic>
      <p:sp>
        <p:nvSpPr>
          <p:cNvPr id="14" name="Shape 11"/>
          <p:cNvSpPr/>
          <p:nvPr/>
        </p:nvSpPr>
        <p:spPr>
          <a:xfrm>
            <a:off x="9791700" y="5524500"/>
            <a:ext cx="1752600" cy="266700"/>
          </a:xfrm>
          <a:prstGeom prst="roundRect">
            <a:avLst>
              <a:gd name="adj" fmla="val 54857"/>
            </a:avLst>
          </a:prstGeom>
          <a:solidFill>
            <a:srgbClr val="E7EEF9"/>
          </a:solidFill>
          <a:ln w="6350">
            <a:solidFill>
              <a:srgbClr val="E7EEF9">
                <a:alpha val="0"/>
              </a:srgbClr>
            </a:solidFill>
            <a:prstDash val="solid"/>
          </a:ln>
        </p:spPr>
      </p:sp>
      <p:sp>
        <p:nvSpPr>
          <p:cNvPr id="15" name="Text 12"/>
          <p:cNvSpPr txBox="1"/>
          <p:nvPr/>
        </p:nvSpPr>
        <p:spPr>
          <a:xfrm>
            <a:off x="9867900" y="5547360"/>
            <a:ext cx="1600200" cy="220980"/>
          </a:xfrm>
          <a:prstGeom prst="rect">
            <a:avLst/>
          </a:prstGeom>
          <a:noFill/>
          <a:ln/>
        </p:spPr>
        <p:txBody>
          <a:bodyPr wrap="square" lIns="0" tIns="0" rIns="0" bIns="0" rtlCol="0" anchor="ctr">
            <a:normAutofit/>
          </a:bodyPr>
          <a:lstStyle/>
          <a:p>
            <a:pPr algn="ctr" indent="0" marL="0">
              <a:buNone/>
            </a:pPr>
            <a:r>
              <a:rPr lang="en-US" sz="780" b="1" spc="30" kern="0" dirty="0">
                <a:solidFill>
                  <a:srgbClr val="557DC0"/>
                </a:solidFill>
                <a:latin typeface="Aptos" pitchFamily="34" charset="0"/>
                <a:ea typeface="Aptos" pitchFamily="34" charset="-122"/>
                <a:cs typeface="Aptos" pitchFamily="34" charset="-120"/>
              </a:rPr>
              <a:t>LIVE PRODUCT</a:t>
            </a:r>
            <a:endParaRPr lang="en-US" sz="780" dirty="0"/>
          </a:p>
        </p:txBody>
      </p:sp>
      <p:sp>
        <p:nvSpPr>
          <p:cNvPr id="16" name="Text 13"/>
          <p:cNvSpPr/>
          <p:nvPr/>
        </p:nvSpPr>
        <p:spPr>
          <a:xfrm>
            <a:off x="685800" y="6210300"/>
            <a:ext cx="1371600" cy="243840"/>
          </a:xfrm>
          <a:prstGeom prst="rect">
            <a:avLst/>
          </a:prstGeom>
          <a:noFill/>
          <a:ln/>
        </p:spPr>
        <p:txBody>
          <a:bodyPr wrap="square" lIns="0" tIns="0" rIns="0" bIns="0" rtlCol="0" anchor="ctr">
            <a:normAutofit/>
          </a:bodyPr>
          <a:lstStyle/>
          <a:p>
            <a:pPr indent="0" marL="0">
              <a:buNone/>
            </a:pPr>
            <a:r>
              <a:rPr lang="en-US" sz="1400" b="1" dirty="0">
                <a:solidFill>
                  <a:srgbClr val="172337"/>
                </a:solidFill>
                <a:latin typeface="Aptos Display" pitchFamily="34" charset="0"/>
                <a:ea typeface="Aptos Display" pitchFamily="34" charset="-122"/>
                <a:cs typeface="Aptos Display" pitchFamily="34" charset="-120"/>
              </a:rPr>
              <a:t>FirstCheck</a:t>
            </a:r>
            <a:pPr indent="0" marL="0">
              <a:buNone/>
            </a:pPr>
            <a:r>
              <a:rPr lang="en-US" sz="1200" b="1" dirty="0">
                <a:solidFill>
                  <a:srgbClr val="557DC0"/>
                </a:solidFill>
                <a:latin typeface="Aptos Display" pitchFamily="34" charset="0"/>
                <a:ea typeface="Aptos Display" pitchFamily="34" charset="-122"/>
                <a:cs typeface="Aptos Display" pitchFamily="34" charset="-120"/>
              </a:rPr>
              <a:t>24</a:t>
            </a:r>
            <a:endParaRPr lang="en-US" sz="1400" dirty="0"/>
          </a:p>
        </p:txBody>
      </p:sp>
      <p:sp>
        <p:nvSpPr>
          <p:cNvPr id="17" name="Text 14"/>
          <p:cNvSpPr txBox="1"/>
          <p:nvPr/>
        </p:nvSpPr>
        <p:spPr>
          <a:xfrm>
            <a:off x="11125200" y="6248400"/>
            <a:ext cx="381000" cy="152400"/>
          </a:xfrm>
          <a:prstGeom prst="rect">
            <a:avLst/>
          </a:prstGeom>
          <a:noFill/>
          <a:ln/>
        </p:spPr>
        <p:txBody>
          <a:bodyPr wrap="square" lIns="0" tIns="0" rIns="0" bIns="0" rtlCol="0" anchor="ctr">
            <a:normAutofit/>
          </a:bodyPr>
          <a:lstStyle/>
          <a:p>
            <a:pPr algn="r" indent="0" marL="0">
              <a:buNone/>
            </a:pPr>
            <a:r>
              <a:rPr lang="en-US" sz="780" b="1" spc="200" kern="0" dirty="0">
                <a:solidFill>
                  <a:srgbClr val="94A3B8"/>
                </a:solidFill>
                <a:latin typeface="Aptos" pitchFamily="34" charset="0"/>
                <a:ea typeface="Aptos" pitchFamily="34" charset="-122"/>
                <a:cs typeface="Aptos" pitchFamily="34" charset="-120"/>
              </a:rPr>
              <a:t>03</a:t>
            </a:r>
            <a:endParaRPr lang="en-US" sz="78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6FB"/>
        </a:solidFill>
      </p:bgPr>
    </p:bg>
    <p:spTree>
      <p:nvGrpSpPr>
        <p:cNvPr id="1" name=""/>
        <p:cNvGrpSpPr/>
        <p:nvPr/>
      </p:nvGrpSpPr>
      <p:grpSpPr>
        <a:xfrm>
          <a:off x="0" y="0"/>
          <a:ext cx="0" cy="0"/>
          <a:chOff x="0" y="0"/>
          <a:chExt cx="0" cy="0"/>
        </a:xfrm>
      </p:grpSpPr>
      <p:sp>
        <p:nvSpPr>
          <p:cNvPr id="2" name="Text 0"/>
          <p:cNvSpPr txBox="1"/>
          <p:nvPr/>
        </p:nvSpPr>
        <p:spPr>
          <a:xfrm>
            <a:off x="685800" y="548640"/>
            <a:ext cx="5791200" cy="213360"/>
          </a:xfrm>
          <a:prstGeom prst="rect">
            <a:avLst/>
          </a:prstGeom>
          <a:noFill/>
          <a:ln/>
        </p:spPr>
        <p:txBody>
          <a:bodyPr wrap="square" lIns="0" tIns="0" rIns="0" bIns="0" rtlCol="0" anchor="ctr">
            <a:normAutofit/>
          </a:bodyPr>
          <a:lstStyle/>
          <a:p>
            <a:pPr algn="l" indent="0" marL="0">
              <a:buNone/>
            </a:pPr>
            <a:r>
              <a:rPr lang="en-US" sz="900" b="1" spc="240" kern="0" dirty="0">
                <a:solidFill>
                  <a:srgbClr val="557DC0"/>
                </a:solidFill>
                <a:latin typeface="Aptos" pitchFamily="34" charset="0"/>
                <a:ea typeface="Aptos" pitchFamily="34" charset="-122"/>
                <a:cs typeface="Aptos" pitchFamily="34" charset="-120"/>
              </a:rPr>
              <a:t>CORE 01 · AUTONOMOUS DISCOVERY</a:t>
            </a:r>
            <a:endParaRPr lang="en-US" sz="900" dirty="0"/>
          </a:p>
        </p:txBody>
      </p:sp>
      <p:sp>
        <p:nvSpPr>
          <p:cNvPr id="3" name="Text 1"/>
          <p:cNvSpPr txBox="1"/>
          <p:nvPr/>
        </p:nvSpPr>
        <p:spPr>
          <a:xfrm>
            <a:off x="685800" y="800100"/>
            <a:ext cx="5791200" cy="824179"/>
          </a:xfrm>
          <a:prstGeom prst="rect">
            <a:avLst/>
          </a:prstGeom>
          <a:noFill/>
          <a:ln/>
        </p:spPr>
        <p:txBody>
          <a:bodyPr wrap="square" lIns="0" tIns="0" rIns="0" bIns="0" rtlCol="0" anchor="t">
            <a:normAutofit/>
          </a:bodyPr>
          <a:lstStyle/>
          <a:p>
            <a:pPr algn="l" indent="0" marL="0">
              <a:buNone/>
            </a:pPr>
            <a:r>
              <a:rPr lang="en-US" sz="3120" b="1" dirty="0">
                <a:solidFill>
                  <a:srgbClr val="172337"/>
                </a:solidFill>
                <a:latin typeface="Aptos Display" pitchFamily="34" charset="0"/>
                <a:ea typeface="Aptos Display" pitchFamily="34" charset="-122"/>
                <a:cs typeface="Aptos Display" pitchFamily="34" charset="-120"/>
              </a:rPr>
              <a:t>Always on.</a:t>
            </a:r>
            <a:endParaRPr lang="en-US" sz="3120" dirty="0"/>
          </a:p>
          <a:p>
            <a:pPr algn="l" indent="0" marL="0">
              <a:buNone/>
            </a:pPr>
            <a:r>
              <a:rPr lang="en-US" sz="3120" b="1" dirty="0">
                <a:solidFill>
                  <a:srgbClr val="172337"/>
                </a:solidFill>
                <a:latin typeface="Aptos Display" pitchFamily="34" charset="0"/>
                <a:ea typeface="Aptos Display" pitchFamily="34" charset="-122"/>
                <a:cs typeface="Aptos Display" pitchFamily="34" charset="-120"/>
              </a:rPr>
              <a:t>Thesis directed.</a:t>
            </a:r>
            <a:endParaRPr lang="en-US" sz="3120" dirty="0"/>
          </a:p>
        </p:txBody>
      </p:sp>
      <p:sp>
        <p:nvSpPr>
          <p:cNvPr id="4" name="Text 2"/>
          <p:cNvSpPr txBox="1"/>
          <p:nvPr/>
        </p:nvSpPr>
        <p:spPr>
          <a:xfrm>
            <a:off x="685800" y="1753819"/>
            <a:ext cx="7010400" cy="243840"/>
          </a:xfrm>
          <a:prstGeom prst="rect">
            <a:avLst/>
          </a:prstGeom>
          <a:noFill/>
          <a:ln/>
        </p:spPr>
        <p:txBody>
          <a:bodyPr wrap="square" lIns="0" tIns="0" rIns="0" bIns="0" rtlCol="0" anchor="t">
            <a:normAutofit/>
          </a:bodyPr>
          <a:lstStyle/>
          <a:p>
            <a:pPr algn="l" indent="0" marL="0">
              <a:buNone/>
            </a:pPr>
            <a:r>
              <a:rPr lang="en-US" sz="1200" dirty="0">
                <a:solidFill>
                  <a:srgbClr val="718097"/>
                </a:solidFill>
                <a:latin typeface="Aptos" pitchFamily="34" charset="0"/>
                <a:ea typeface="Aptos" pitchFamily="34" charset="-122"/>
                <a:cs typeface="Aptos" pitchFamily="34" charset="-120"/>
              </a:rPr>
              <a:t>Ten collectors continuously scan execution, research, launches and community signals.</a:t>
            </a:r>
            <a:endParaRPr lang="en-US" sz="1200" dirty="0"/>
          </a:p>
        </p:txBody>
      </p:sp>
      <p:sp>
        <p:nvSpPr>
          <p:cNvPr id="5" name="Shape 3"/>
          <p:cNvSpPr/>
          <p:nvPr/>
        </p:nvSpPr>
        <p:spPr>
          <a:xfrm>
            <a:off x="685800" y="2400300"/>
            <a:ext cx="1508760" cy="266700"/>
          </a:xfrm>
          <a:prstGeom prst="roundRect">
            <a:avLst>
              <a:gd name="adj" fmla="val 54857"/>
            </a:avLst>
          </a:prstGeom>
          <a:solidFill>
            <a:srgbClr val="E4F2ED"/>
          </a:solidFill>
          <a:ln w="6350">
            <a:solidFill>
              <a:srgbClr val="E4F2ED">
                <a:alpha val="0"/>
              </a:srgbClr>
            </a:solidFill>
            <a:prstDash val="solid"/>
          </a:ln>
        </p:spPr>
      </p:sp>
      <p:sp>
        <p:nvSpPr>
          <p:cNvPr id="6" name="Text 4"/>
          <p:cNvSpPr txBox="1"/>
          <p:nvPr/>
        </p:nvSpPr>
        <p:spPr>
          <a:xfrm>
            <a:off x="762000" y="2423160"/>
            <a:ext cx="1356360" cy="220980"/>
          </a:xfrm>
          <a:prstGeom prst="rect">
            <a:avLst/>
          </a:prstGeom>
          <a:noFill/>
          <a:ln/>
        </p:spPr>
        <p:txBody>
          <a:bodyPr wrap="square" lIns="0" tIns="0" rIns="0" bIns="0" rtlCol="0" anchor="ctr">
            <a:normAutofit/>
          </a:bodyPr>
          <a:lstStyle/>
          <a:p>
            <a:pPr algn="ctr" indent="0" marL="0">
              <a:buNone/>
            </a:pPr>
            <a:r>
              <a:rPr lang="en-US" sz="660" b="1" spc="30" kern="0" dirty="0">
                <a:solidFill>
                  <a:srgbClr val="2F8B72"/>
                </a:solidFill>
                <a:latin typeface="Aptos" pitchFamily="34" charset="0"/>
                <a:ea typeface="Aptos" pitchFamily="34" charset="-122"/>
                <a:cs typeface="Aptos" pitchFamily="34" charset="-120"/>
              </a:rPr>
              <a:t>GITHUB</a:t>
            </a:r>
            <a:endParaRPr lang="en-US" sz="660" dirty="0"/>
          </a:p>
        </p:txBody>
      </p:sp>
      <p:sp>
        <p:nvSpPr>
          <p:cNvPr id="7" name="Shape 5"/>
          <p:cNvSpPr/>
          <p:nvPr/>
        </p:nvSpPr>
        <p:spPr>
          <a:xfrm>
            <a:off x="2362200" y="2400300"/>
            <a:ext cx="1508760" cy="266700"/>
          </a:xfrm>
          <a:prstGeom prst="roundRect">
            <a:avLst>
              <a:gd name="adj" fmla="val 54857"/>
            </a:avLst>
          </a:prstGeom>
          <a:solidFill>
            <a:srgbClr val="EEE8F8"/>
          </a:solidFill>
          <a:ln w="6350">
            <a:solidFill>
              <a:srgbClr val="EEE8F8">
                <a:alpha val="0"/>
              </a:srgbClr>
            </a:solidFill>
            <a:prstDash val="solid"/>
          </a:ln>
        </p:spPr>
      </p:sp>
      <p:sp>
        <p:nvSpPr>
          <p:cNvPr id="8" name="Text 6"/>
          <p:cNvSpPr txBox="1"/>
          <p:nvPr/>
        </p:nvSpPr>
        <p:spPr>
          <a:xfrm>
            <a:off x="2438400" y="2423160"/>
            <a:ext cx="1356360" cy="220980"/>
          </a:xfrm>
          <a:prstGeom prst="rect">
            <a:avLst/>
          </a:prstGeom>
          <a:noFill/>
          <a:ln/>
        </p:spPr>
        <p:txBody>
          <a:bodyPr wrap="square" lIns="0" tIns="0" rIns="0" bIns="0" rtlCol="0" anchor="ctr">
            <a:normAutofit/>
          </a:bodyPr>
          <a:lstStyle/>
          <a:p>
            <a:pPr algn="ctr" indent="0" marL="0">
              <a:buNone/>
            </a:pPr>
            <a:r>
              <a:rPr lang="en-US" sz="660" b="1" spc="30" kern="0" dirty="0">
                <a:solidFill>
                  <a:srgbClr val="7656A5"/>
                </a:solidFill>
                <a:latin typeface="Aptos" pitchFamily="34" charset="0"/>
                <a:ea typeface="Aptos" pitchFamily="34" charset="-122"/>
                <a:cs typeface="Aptos" pitchFamily="34" charset="-120"/>
              </a:rPr>
              <a:t>PRODUCT HUNT</a:t>
            </a:r>
            <a:endParaRPr lang="en-US" sz="660" dirty="0"/>
          </a:p>
        </p:txBody>
      </p:sp>
      <p:sp>
        <p:nvSpPr>
          <p:cNvPr id="9" name="Shape 7"/>
          <p:cNvSpPr/>
          <p:nvPr/>
        </p:nvSpPr>
        <p:spPr>
          <a:xfrm>
            <a:off x="4038600" y="2400300"/>
            <a:ext cx="1508760" cy="266700"/>
          </a:xfrm>
          <a:prstGeom prst="roundRect">
            <a:avLst>
              <a:gd name="adj" fmla="val 54857"/>
            </a:avLst>
          </a:prstGeom>
          <a:solidFill>
            <a:srgbClr val="E7EEF9"/>
          </a:solidFill>
          <a:ln w="6350">
            <a:solidFill>
              <a:srgbClr val="E7EEF9">
                <a:alpha val="0"/>
              </a:srgbClr>
            </a:solidFill>
            <a:prstDash val="solid"/>
          </a:ln>
        </p:spPr>
      </p:sp>
      <p:sp>
        <p:nvSpPr>
          <p:cNvPr id="10" name="Text 8"/>
          <p:cNvSpPr txBox="1"/>
          <p:nvPr/>
        </p:nvSpPr>
        <p:spPr>
          <a:xfrm>
            <a:off x="4114800" y="2423160"/>
            <a:ext cx="1356360" cy="220980"/>
          </a:xfrm>
          <a:prstGeom prst="rect">
            <a:avLst/>
          </a:prstGeom>
          <a:noFill/>
          <a:ln/>
        </p:spPr>
        <p:txBody>
          <a:bodyPr wrap="square" lIns="0" tIns="0" rIns="0" bIns="0" rtlCol="0" anchor="ctr">
            <a:normAutofit/>
          </a:bodyPr>
          <a:lstStyle/>
          <a:p>
            <a:pPr algn="ctr" indent="0" marL="0">
              <a:buNone/>
            </a:pPr>
            <a:r>
              <a:rPr lang="en-US" sz="660" b="1" spc="30" kern="0" dirty="0">
                <a:solidFill>
                  <a:srgbClr val="557DC0"/>
                </a:solidFill>
                <a:latin typeface="Aptos" pitchFamily="34" charset="0"/>
                <a:ea typeface="Aptos" pitchFamily="34" charset="-122"/>
                <a:cs typeface="Aptos" pitchFamily="34" charset="-120"/>
              </a:rPr>
              <a:t>HACKER NEWS</a:t>
            </a:r>
            <a:endParaRPr lang="en-US" sz="660" dirty="0"/>
          </a:p>
        </p:txBody>
      </p:sp>
      <p:sp>
        <p:nvSpPr>
          <p:cNvPr id="11" name="Shape 9"/>
          <p:cNvSpPr/>
          <p:nvPr/>
        </p:nvSpPr>
        <p:spPr>
          <a:xfrm>
            <a:off x="5715000" y="2400300"/>
            <a:ext cx="1508760" cy="266700"/>
          </a:xfrm>
          <a:prstGeom prst="roundRect">
            <a:avLst>
              <a:gd name="adj" fmla="val 54857"/>
            </a:avLst>
          </a:prstGeom>
          <a:solidFill>
            <a:srgbClr val="FFF1DF"/>
          </a:solidFill>
          <a:ln w="6350">
            <a:solidFill>
              <a:srgbClr val="FFF1DF">
                <a:alpha val="0"/>
              </a:srgbClr>
            </a:solidFill>
            <a:prstDash val="solid"/>
          </a:ln>
        </p:spPr>
      </p:sp>
      <p:sp>
        <p:nvSpPr>
          <p:cNvPr id="12" name="Text 10"/>
          <p:cNvSpPr txBox="1"/>
          <p:nvPr/>
        </p:nvSpPr>
        <p:spPr>
          <a:xfrm>
            <a:off x="5791200" y="2423160"/>
            <a:ext cx="1356360" cy="220980"/>
          </a:xfrm>
          <a:prstGeom prst="rect">
            <a:avLst/>
          </a:prstGeom>
          <a:noFill/>
          <a:ln/>
        </p:spPr>
        <p:txBody>
          <a:bodyPr wrap="square" lIns="0" tIns="0" rIns="0" bIns="0" rtlCol="0" anchor="ctr">
            <a:normAutofit/>
          </a:bodyPr>
          <a:lstStyle/>
          <a:p>
            <a:pPr algn="ctr" indent="0" marL="0">
              <a:buNone/>
            </a:pPr>
            <a:r>
              <a:rPr lang="en-US" sz="660" b="1" spc="30" kern="0" dirty="0">
                <a:solidFill>
                  <a:srgbClr val="B87932"/>
                </a:solidFill>
                <a:latin typeface="Aptos" pitchFamily="34" charset="0"/>
                <a:ea typeface="Aptos" pitchFamily="34" charset="-122"/>
                <a:cs typeface="Aptos" pitchFamily="34" charset="-120"/>
              </a:rPr>
              <a:t>ARXIV</a:t>
            </a:r>
            <a:endParaRPr lang="en-US" sz="660" dirty="0"/>
          </a:p>
        </p:txBody>
      </p:sp>
      <p:sp>
        <p:nvSpPr>
          <p:cNvPr id="13" name="Shape 11"/>
          <p:cNvSpPr/>
          <p:nvPr/>
        </p:nvSpPr>
        <p:spPr>
          <a:xfrm>
            <a:off x="7391400" y="2400300"/>
            <a:ext cx="1508760" cy="266700"/>
          </a:xfrm>
          <a:prstGeom prst="roundRect">
            <a:avLst>
              <a:gd name="adj" fmla="val 54857"/>
            </a:avLst>
          </a:prstGeom>
          <a:solidFill>
            <a:srgbClr val="EAF0F6"/>
          </a:solidFill>
          <a:ln w="6350">
            <a:solidFill>
              <a:srgbClr val="EAF0F6">
                <a:alpha val="0"/>
              </a:srgbClr>
            </a:solidFill>
            <a:prstDash val="solid"/>
          </a:ln>
        </p:spPr>
      </p:sp>
      <p:sp>
        <p:nvSpPr>
          <p:cNvPr id="14" name="Text 12"/>
          <p:cNvSpPr txBox="1"/>
          <p:nvPr/>
        </p:nvSpPr>
        <p:spPr>
          <a:xfrm>
            <a:off x="7467600" y="2423160"/>
            <a:ext cx="1356360" cy="220980"/>
          </a:xfrm>
          <a:prstGeom prst="rect">
            <a:avLst/>
          </a:prstGeom>
          <a:noFill/>
          <a:ln/>
        </p:spPr>
        <p:txBody>
          <a:bodyPr wrap="square" lIns="0" tIns="0" rIns="0" bIns="0" rtlCol="0" anchor="ctr">
            <a:normAutofit/>
          </a:bodyPr>
          <a:lstStyle/>
          <a:p>
            <a:pPr algn="ctr" indent="0" marL="0">
              <a:buNone/>
            </a:pPr>
            <a:r>
              <a:rPr lang="en-US" sz="660" b="1" spc="30" kern="0" dirty="0">
                <a:solidFill>
                  <a:srgbClr val="344258"/>
                </a:solidFill>
                <a:latin typeface="Aptos" pitchFamily="34" charset="0"/>
                <a:ea typeface="Aptos" pitchFamily="34" charset="-122"/>
                <a:cs typeface="Aptos" pitchFamily="34" charset="-120"/>
              </a:rPr>
              <a:t>HACKATHONS</a:t>
            </a:r>
            <a:endParaRPr lang="en-US" sz="660" dirty="0"/>
          </a:p>
        </p:txBody>
      </p:sp>
      <p:sp>
        <p:nvSpPr>
          <p:cNvPr id="15" name="Shape 13"/>
          <p:cNvSpPr/>
          <p:nvPr/>
        </p:nvSpPr>
        <p:spPr>
          <a:xfrm>
            <a:off x="685800" y="2842260"/>
            <a:ext cx="1508760" cy="266700"/>
          </a:xfrm>
          <a:prstGeom prst="roundRect">
            <a:avLst>
              <a:gd name="adj" fmla="val 54857"/>
            </a:avLst>
          </a:prstGeom>
          <a:solidFill>
            <a:srgbClr val="E4F2ED"/>
          </a:solidFill>
          <a:ln w="6350">
            <a:solidFill>
              <a:srgbClr val="E4F2ED">
                <a:alpha val="0"/>
              </a:srgbClr>
            </a:solidFill>
            <a:prstDash val="solid"/>
          </a:ln>
        </p:spPr>
      </p:sp>
      <p:sp>
        <p:nvSpPr>
          <p:cNvPr id="16" name="Text 14"/>
          <p:cNvSpPr txBox="1"/>
          <p:nvPr/>
        </p:nvSpPr>
        <p:spPr>
          <a:xfrm>
            <a:off x="762000" y="2865120"/>
            <a:ext cx="1356360" cy="220980"/>
          </a:xfrm>
          <a:prstGeom prst="rect">
            <a:avLst/>
          </a:prstGeom>
          <a:noFill/>
          <a:ln/>
        </p:spPr>
        <p:txBody>
          <a:bodyPr wrap="square" lIns="0" tIns="0" rIns="0" bIns="0" rtlCol="0" anchor="ctr">
            <a:normAutofit/>
          </a:bodyPr>
          <a:lstStyle/>
          <a:p>
            <a:pPr algn="ctr" indent="0" marL="0">
              <a:buNone/>
            </a:pPr>
            <a:r>
              <a:rPr lang="en-US" sz="660" b="1" spc="30" kern="0" dirty="0">
                <a:solidFill>
                  <a:srgbClr val="2F8B72"/>
                </a:solidFill>
                <a:latin typeface="Aptos" pitchFamily="34" charset="0"/>
                <a:ea typeface="Aptos" pitchFamily="34" charset="-122"/>
                <a:cs typeface="Aptos" pitchFamily="34" charset="-120"/>
              </a:rPr>
              <a:t>YOUTUBE</a:t>
            </a:r>
            <a:endParaRPr lang="en-US" sz="660" dirty="0"/>
          </a:p>
        </p:txBody>
      </p:sp>
      <p:sp>
        <p:nvSpPr>
          <p:cNvPr id="17" name="Shape 15"/>
          <p:cNvSpPr/>
          <p:nvPr/>
        </p:nvSpPr>
        <p:spPr>
          <a:xfrm>
            <a:off x="2362200" y="2842260"/>
            <a:ext cx="1508760" cy="266700"/>
          </a:xfrm>
          <a:prstGeom prst="roundRect">
            <a:avLst>
              <a:gd name="adj" fmla="val 54857"/>
            </a:avLst>
          </a:prstGeom>
          <a:solidFill>
            <a:srgbClr val="EEE8F8"/>
          </a:solidFill>
          <a:ln w="6350">
            <a:solidFill>
              <a:srgbClr val="EEE8F8">
                <a:alpha val="0"/>
              </a:srgbClr>
            </a:solidFill>
            <a:prstDash val="solid"/>
          </a:ln>
        </p:spPr>
      </p:sp>
      <p:sp>
        <p:nvSpPr>
          <p:cNvPr id="18" name="Text 16"/>
          <p:cNvSpPr txBox="1"/>
          <p:nvPr/>
        </p:nvSpPr>
        <p:spPr>
          <a:xfrm>
            <a:off x="2438400" y="2865120"/>
            <a:ext cx="1356360" cy="220980"/>
          </a:xfrm>
          <a:prstGeom prst="rect">
            <a:avLst/>
          </a:prstGeom>
          <a:noFill/>
          <a:ln/>
        </p:spPr>
        <p:txBody>
          <a:bodyPr wrap="square" lIns="0" tIns="0" rIns="0" bIns="0" rtlCol="0" anchor="ctr">
            <a:normAutofit/>
          </a:bodyPr>
          <a:lstStyle/>
          <a:p>
            <a:pPr algn="ctr" indent="0" marL="0">
              <a:buNone/>
            </a:pPr>
            <a:r>
              <a:rPr lang="en-US" sz="660" b="1" spc="30" kern="0" dirty="0">
                <a:solidFill>
                  <a:srgbClr val="7656A5"/>
                </a:solidFill>
                <a:latin typeface="Aptos" pitchFamily="34" charset="0"/>
                <a:ea typeface="Aptos" pitchFamily="34" charset="-122"/>
                <a:cs typeface="Aptos" pitchFamily="34" charset="-120"/>
              </a:rPr>
              <a:t>WEB</a:t>
            </a:r>
            <a:endParaRPr lang="en-US" sz="660" dirty="0"/>
          </a:p>
        </p:txBody>
      </p:sp>
      <p:sp>
        <p:nvSpPr>
          <p:cNvPr id="19" name="Shape 17"/>
          <p:cNvSpPr/>
          <p:nvPr/>
        </p:nvSpPr>
        <p:spPr>
          <a:xfrm>
            <a:off x="4038600" y="2842260"/>
            <a:ext cx="1508760" cy="266700"/>
          </a:xfrm>
          <a:prstGeom prst="roundRect">
            <a:avLst>
              <a:gd name="adj" fmla="val 54857"/>
            </a:avLst>
          </a:prstGeom>
          <a:solidFill>
            <a:srgbClr val="E7EEF9"/>
          </a:solidFill>
          <a:ln w="6350">
            <a:solidFill>
              <a:srgbClr val="E7EEF9">
                <a:alpha val="0"/>
              </a:srgbClr>
            </a:solidFill>
            <a:prstDash val="solid"/>
          </a:ln>
        </p:spPr>
      </p:sp>
      <p:sp>
        <p:nvSpPr>
          <p:cNvPr id="20" name="Text 18"/>
          <p:cNvSpPr txBox="1"/>
          <p:nvPr/>
        </p:nvSpPr>
        <p:spPr>
          <a:xfrm>
            <a:off x="4114800" y="2865120"/>
            <a:ext cx="1356360" cy="220980"/>
          </a:xfrm>
          <a:prstGeom prst="rect">
            <a:avLst/>
          </a:prstGeom>
          <a:noFill/>
          <a:ln/>
        </p:spPr>
        <p:txBody>
          <a:bodyPr wrap="square" lIns="0" tIns="0" rIns="0" bIns="0" rtlCol="0" anchor="ctr">
            <a:normAutofit/>
          </a:bodyPr>
          <a:lstStyle/>
          <a:p>
            <a:pPr algn="ctr" indent="0" marL="0">
              <a:buNone/>
            </a:pPr>
            <a:r>
              <a:rPr lang="en-US" sz="660" b="1" spc="30" kern="0" dirty="0">
                <a:solidFill>
                  <a:srgbClr val="557DC0"/>
                </a:solidFill>
                <a:latin typeface="Aptos" pitchFamily="34" charset="0"/>
                <a:ea typeface="Aptos" pitchFamily="34" charset="-122"/>
                <a:cs typeface="Aptos" pitchFamily="34" charset="-120"/>
              </a:rPr>
              <a:t>TAVILY</a:t>
            </a:r>
            <a:endParaRPr lang="en-US" sz="660" dirty="0"/>
          </a:p>
        </p:txBody>
      </p:sp>
      <p:sp>
        <p:nvSpPr>
          <p:cNvPr id="21" name="Shape 19"/>
          <p:cNvSpPr/>
          <p:nvPr/>
        </p:nvSpPr>
        <p:spPr>
          <a:xfrm>
            <a:off x="5715000" y="2842260"/>
            <a:ext cx="1508760" cy="266700"/>
          </a:xfrm>
          <a:prstGeom prst="roundRect">
            <a:avLst>
              <a:gd name="adj" fmla="val 54857"/>
            </a:avLst>
          </a:prstGeom>
          <a:solidFill>
            <a:srgbClr val="FFF1DF"/>
          </a:solidFill>
          <a:ln w="6350">
            <a:solidFill>
              <a:srgbClr val="FFF1DF">
                <a:alpha val="0"/>
              </a:srgbClr>
            </a:solidFill>
            <a:prstDash val="solid"/>
          </a:ln>
        </p:spPr>
      </p:sp>
      <p:sp>
        <p:nvSpPr>
          <p:cNvPr id="22" name="Text 20"/>
          <p:cNvSpPr txBox="1"/>
          <p:nvPr/>
        </p:nvSpPr>
        <p:spPr>
          <a:xfrm>
            <a:off x="5791200" y="2865120"/>
            <a:ext cx="1356360" cy="220980"/>
          </a:xfrm>
          <a:prstGeom prst="rect">
            <a:avLst/>
          </a:prstGeom>
          <a:noFill/>
          <a:ln/>
        </p:spPr>
        <p:txBody>
          <a:bodyPr wrap="square" lIns="0" tIns="0" rIns="0" bIns="0" rtlCol="0" anchor="ctr">
            <a:normAutofit/>
          </a:bodyPr>
          <a:lstStyle/>
          <a:p>
            <a:pPr algn="ctr" indent="0" marL="0">
              <a:buNone/>
            </a:pPr>
            <a:r>
              <a:rPr lang="en-US" sz="660" b="1" spc="30" kern="0" dirty="0">
                <a:solidFill>
                  <a:srgbClr val="B87932"/>
                </a:solidFill>
                <a:latin typeface="Aptos" pitchFamily="34" charset="0"/>
                <a:ea typeface="Aptos" pitchFamily="34" charset="-122"/>
                <a:cs typeface="Aptos" pitchFamily="34" charset="-120"/>
              </a:rPr>
              <a:t>LINKEDIN</a:t>
            </a:r>
            <a:endParaRPr lang="en-US" sz="660" dirty="0"/>
          </a:p>
        </p:txBody>
      </p:sp>
      <p:sp>
        <p:nvSpPr>
          <p:cNvPr id="23" name="Shape 21"/>
          <p:cNvSpPr/>
          <p:nvPr/>
        </p:nvSpPr>
        <p:spPr>
          <a:xfrm>
            <a:off x="7391400" y="2842260"/>
            <a:ext cx="1508760" cy="266700"/>
          </a:xfrm>
          <a:prstGeom prst="roundRect">
            <a:avLst>
              <a:gd name="adj" fmla="val 54857"/>
            </a:avLst>
          </a:prstGeom>
          <a:solidFill>
            <a:srgbClr val="EAF0F6"/>
          </a:solidFill>
          <a:ln w="6350">
            <a:solidFill>
              <a:srgbClr val="EAF0F6">
                <a:alpha val="0"/>
              </a:srgbClr>
            </a:solidFill>
            <a:prstDash val="solid"/>
          </a:ln>
        </p:spPr>
      </p:sp>
      <p:sp>
        <p:nvSpPr>
          <p:cNvPr id="24" name="Text 22"/>
          <p:cNvSpPr txBox="1"/>
          <p:nvPr/>
        </p:nvSpPr>
        <p:spPr>
          <a:xfrm>
            <a:off x="7467600" y="2865120"/>
            <a:ext cx="1356360" cy="220980"/>
          </a:xfrm>
          <a:prstGeom prst="rect">
            <a:avLst/>
          </a:prstGeom>
          <a:noFill/>
          <a:ln/>
        </p:spPr>
        <p:txBody>
          <a:bodyPr wrap="square" lIns="0" tIns="0" rIns="0" bIns="0" rtlCol="0" anchor="ctr">
            <a:normAutofit/>
          </a:bodyPr>
          <a:lstStyle/>
          <a:p>
            <a:pPr algn="ctr" indent="0" marL="0">
              <a:buNone/>
            </a:pPr>
            <a:r>
              <a:rPr lang="en-US" sz="660" b="1" spc="30" kern="0" dirty="0">
                <a:solidFill>
                  <a:srgbClr val="344258"/>
                </a:solidFill>
                <a:latin typeface="Aptos" pitchFamily="34" charset="0"/>
                <a:ea typeface="Aptos" pitchFamily="34" charset="-122"/>
                <a:cs typeface="Aptos" pitchFamily="34" charset="-120"/>
              </a:rPr>
              <a:t>PODCASTS</a:t>
            </a:r>
            <a:endParaRPr lang="en-US" sz="660" dirty="0"/>
          </a:p>
        </p:txBody>
      </p:sp>
      <p:sp>
        <p:nvSpPr>
          <p:cNvPr id="25" name="Shape 23"/>
          <p:cNvSpPr/>
          <p:nvPr/>
        </p:nvSpPr>
        <p:spPr>
          <a:xfrm>
            <a:off x="685800" y="4152900"/>
            <a:ext cx="2400300" cy="1257300"/>
          </a:xfrm>
          <a:prstGeom prst="roundRect">
            <a:avLst>
              <a:gd name="adj" fmla="val 11636"/>
            </a:avLst>
          </a:prstGeom>
          <a:solidFill>
            <a:srgbClr val="FFFFFF"/>
          </a:solidFill>
          <a:ln w="6350">
            <a:solidFill>
              <a:srgbClr val="FFFFFF">
                <a:alpha val="0"/>
              </a:srgbClr>
            </a:solidFill>
            <a:prstDash val="solid"/>
          </a:ln>
          <a:effectLst>
            <a:outerShdw sx="100000" sy="100000" kx="0" ky="0" algn="bl" rotWithShape="0" blurRad="52028928200000000" dist="104057856400000000" dir="583200000000000000000">
              <a:srgbClr val="405875">
                <a:alpha val="12000000000000000000"/>
              </a:srgbClr>
            </a:outerShdw>
          </a:effectLst>
        </p:spPr>
      </p:sp>
      <p:sp>
        <p:nvSpPr>
          <p:cNvPr id="26" name="Text 24"/>
          <p:cNvSpPr txBox="1"/>
          <p:nvPr/>
        </p:nvSpPr>
        <p:spPr>
          <a:xfrm>
            <a:off x="876300" y="4267200"/>
            <a:ext cx="457200" cy="182880"/>
          </a:xfrm>
          <a:prstGeom prst="rect">
            <a:avLst/>
          </a:prstGeom>
          <a:noFill/>
          <a:ln/>
        </p:spPr>
        <p:txBody>
          <a:bodyPr wrap="square" lIns="0" tIns="0" rIns="0" bIns="0" rtlCol="0" anchor="ctr">
            <a:normAutofit/>
          </a:bodyPr>
          <a:lstStyle/>
          <a:p>
            <a:pPr algn="l" indent="0" marL="0">
              <a:buNone/>
            </a:pPr>
            <a:r>
              <a:rPr lang="en-US" sz="780" b="1" spc="150" kern="0" dirty="0">
                <a:solidFill>
                  <a:srgbClr val="557DC0"/>
                </a:solidFill>
                <a:latin typeface="Aptos" pitchFamily="34" charset="0"/>
                <a:ea typeface="Aptos" pitchFamily="34" charset="-122"/>
                <a:cs typeface="Aptos" pitchFamily="34" charset="-120"/>
              </a:rPr>
              <a:t>01</a:t>
            </a:r>
            <a:endParaRPr lang="en-US" sz="780" dirty="0"/>
          </a:p>
        </p:txBody>
      </p:sp>
      <p:sp>
        <p:nvSpPr>
          <p:cNvPr id="27" name="Text 25"/>
          <p:cNvSpPr txBox="1"/>
          <p:nvPr/>
        </p:nvSpPr>
        <p:spPr>
          <a:xfrm>
            <a:off x="876300" y="4533900"/>
            <a:ext cx="1752600" cy="320040"/>
          </a:xfrm>
          <a:prstGeom prst="rect">
            <a:avLst/>
          </a:prstGeom>
          <a:noFill/>
          <a:ln/>
        </p:spPr>
        <p:txBody>
          <a:bodyPr wrap="square" lIns="0" tIns="0" rIns="0" bIns="0" rtlCol="0" anchor="ctr">
            <a:normAutofit/>
          </a:bodyPr>
          <a:lstStyle/>
          <a:p>
            <a:pPr algn="l" indent="0" marL="0">
              <a:buNone/>
            </a:pPr>
            <a:r>
              <a:rPr lang="en-US" sz="1500" b="1" dirty="0">
                <a:solidFill>
                  <a:srgbClr val="172337"/>
                </a:solidFill>
                <a:latin typeface="Aptos Display" pitchFamily="34" charset="0"/>
                <a:ea typeface="Aptos Display" pitchFamily="34" charset="-122"/>
                <a:cs typeface="Aptos Display" pitchFamily="34" charset="-120"/>
              </a:rPr>
              <a:t>Collect</a:t>
            </a:r>
            <a:endParaRPr lang="en-US" sz="1500" dirty="0"/>
          </a:p>
        </p:txBody>
      </p:sp>
      <p:sp>
        <p:nvSpPr>
          <p:cNvPr id="28" name="Text 26"/>
          <p:cNvSpPr txBox="1"/>
          <p:nvPr/>
        </p:nvSpPr>
        <p:spPr>
          <a:xfrm>
            <a:off x="876300" y="4914900"/>
            <a:ext cx="1905000" cy="213360"/>
          </a:xfrm>
          <a:prstGeom prst="rect">
            <a:avLst/>
          </a:prstGeom>
          <a:noFill/>
          <a:ln/>
        </p:spPr>
        <p:txBody>
          <a:bodyPr wrap="square" lIns="0" tIns="0" rIns="0" bIns="0" rtlCol="0" anchor="ctr">
            <a:normAutofit/>
          </a:bodyPr>
          <a:lstStyle/>
          <a:p>
            <a:pPr algn="l" indent="0" marL="0">
              <a:buNone/>
            </a:pPr>
            <a:r>
              <a:rPr lang="en-US" sz="900" dirty="0">
                <a:solidFill>
                  <a:srgbClr val="718097"/>
                </a:solidFill>
                <a:latin typeface="Aptos" pitchFamily="34" charset="0"/>
                <a:ea typeface="Aptos" pitchFamily="34" charset="-122"/>
                <a:cs typeface="Aptos" pitchFamily="34" charset="-120"/>
              </a:rPr>
              <a:t>immutable snapshots</a:t>
            </a:r>
            <a:endParaRPr lang="en-US" sz="900" dirty="0"/>
          </a:p>
        </p:txBody>
      </p:sp>
      <p:sp>
        <p:nvSpPr>
          <p:cNvPr id="29" name="Text 27"/>
          <p:cNvSpPr txBox="1"/>
          <p:nvPr/>
        </p:nvSpPr>
        <p:spPr>
          <a:xfrm>
            <a:off x="3139440" y="4572000"/>
            <a:ext cx="381000" cy="304800"/>
          </a:xfrm>
          <a:prstGeom prst="rect">
            <a:avLst/>
          </a:prstGeom>
          <a:noFill/>
          <a:ln/>
        </p:spPr>
        <p:txBody>
          <a:bodyPr wrap="square" lIns="0" tIns="0" rIns="0" bIns="0" rtlCol="0" anchor="ctr">
            <a:normAutofit/>
          </a:bodyPr>
          <a:lstStyle/>
          <a:p>
            <a:pPr algn="ctr" indent="0" marL="0">
              <a:buNone/>
            </a:pPr>
            <a:r>
              <a:rPr lang="en-US" sz="1680" dirty="0">
                <a:solidFill>
                  <a:srgbClr val="557DC0"/>
                </a:solidFill>
                <a:latin typeface="Aptos" pitchFamily="34" charset="0"/>
                <a:ea typeface="Aptos" pitchFamily="34" charset="-122"/>
                <a:cs typeface="Aptos" pitchFamily="34" charset="-120"/>
              </a:rPr>
              <a:t>→</a:t>
            </a:r>
            <a:endParaRPr lang="en-US" sz="1680" dirty="0"/>
          </a:p>
        </p:txBody>
      </p:sp>
      <p:sp>
        <p:nvSpPr>
          <p:cNvPr id="30" name="Shape 28"/>
          <p:cNvSpPr/>
          <p:nvPr/>
        </p:nvSpPr>
        <p:spPr>
          <a:xfrm>
            <a:off x="3467100" y="4152900"/>
            <a:ext cx="2400300" cy="1257300"/>
          </a:xfrm>
          <a:prstGeom prst="roundRect">
            <a:avLst>
              <a:gd name="adj" fmla="val 11636"/>
            </a:avLst>
          </a:prstGeom>
          <a:solidFill>
            <a:srgbClr val="FFFFFF"/>
          </a:solidFill>
          <a:ln w="6350">
            <a:solidFill>
              <a:srgbClr val="FFFFFF">
                <a:alpha val="0"/>
              </a:srgbClr>
            </a:solidFill>
            <a:prstDash val="solid"/>
          </a:ln>
          <a:effectLst>
            <a:outerShdw sx="100000" sy="100000" kx="0" ky="0" algn="bl" rotWithShape="0" blurRad="660767388140000000000" dist="1.32153477628e+21" dir="3.4992e+25">
              <a:srgbClr val="405875">
                <a:alpha val="1.2e+24"/>
              </a:srgbClr>
            </a:outerShdw>
          </a:effectLst>
        </p:spPr>
      </p:sp>
      <p:sp>
        <p:nvSpPr>
          <p:cNvPr id="31" name="Text 29"/>
          <p:cNvSpPr txBox="1"/>
          <p:nvPr/>
        </p:nvSpPr>
        <p:spPr>
          <a:xfrm>
            <a:off x="3657600" y="4267200"/>
            <a:ext cx="457200" cy="182880"/>
          </a:xfrm>
          <a:prstGeom prst="rect">
            <a:avLst/>
          </a:prstGeom>
          <a:noFill/>
          <a:ln/>
        </p:spPr>
        <p:txBody>
          <a:bodyPr wrap="square" lIns="0" tIns="0" rIns="0" bIns="0" rtlCol="0" anchor="ctr">
            <a:normAutofit/>
          </a:bodyPr>
          <a:lstStyle/>
          <a:p>
            <a:pPr algn="l" indent="0" marL="0">
              <a:buNone/>
            </a:pPr>
            <a:r>
              <a:rPr lang="en-US" sz="780" b="1" spc="150" kern="0" dirty="0">
                <a:solidFill>
                  <a:srgbClr val="557DC0"/>
                </a:solidFill>
                <a:latin typeface="Aptos" pitchFamily="34" charset="0"/>
                <a:ea typeface="Aptos" pitchFamily="34" charset="-122"/>
                <a:cs typeface="Aptos" pitchFamily="34" charset="-120"/>
              </a:rPr>
              <a:t>02</a:t>
            </a:r>
            <a:endParaRPr lang="en-US" sz="780" dirty="0"/>
          </a:p>
        </p:txBody>
      </p:sp>
      <p:sp>
        <p:nvSpPr>
          <p:cNvPr id="32" name="Text 30"/>
          <p:cNvSpPr txBox="1"/>
          <p:nvPr/>
        </p:nvSpPr>
        <p:spPr>
          <a:xfrm>
            <a:off x="3657600" y="4533900"/>
            <a:ext cx="1752600" cy="320040"/>
          </a:xfrm>
          <a:prstGeom prst="rect">
            <a:avLst/>
          </a:prstGeom>
          <a:noFill/>
          <a:ln/>
        </p:spPr>
        <p:txBody>
          <a:bodyPr wrap="square" lIns="0" tIns="0" rIns="0" bIns="0" rtlCol="0" anchor="ctr">
            <a:normAutofit/>
          </a:bodyPr>
          <a:lstStyle/>
          <a:p>
            <a:pPr algn="l" indent="0" marL="0">
              <a:buNone/>
            </a:pPr>
            <a:r>
              <a:rPr lang="en-US" sz="1500" b="1" dirty="0">
                <a:solidFill>
                  <a:srgbClr val="172337"/>
                </a:solidFill>
                <a:latin typeface="Aptos Display" pitchFamily="34" charset="0"/>
                <a:ea typeface="Aptos Display" pitchFamily="34" charset="-122"/>
                <a:cs typeface="Aptos Display" pitchFamily="34" charset="-120"/>
              </a:rPr>
              <a:t>Resolve</a:t>
            </a:r>
            <a:endParaRPr lang="en-US" sz="1500" dirty="0"/>
          </a:p>
        </p:txBody>
      </p:sp>
      <p:sp>
        <p:nvSpPr>
          <p:cNvPr id="33" name="Text 31"/>
          <p:cNvSpPr txBox="1"/>
          <p:nvPr/>
        </p:nvSpPr>
        <p:spPr>
          <a:xfrm>
            <a:off x="3657600" y="4914900"/>
            <a:ext cx="1905000" cy="213360"/>
          </a:xfrm>
          <a:prstGeom prst="rect">
            <a:avLst/>
          </a:prstGeom>
          <a:noFill/>
          <a:ln/>
        </p:spPr>
        <p:txBody>
          <a:bodyPr wrap="square" lIns="0" tIns="0" rIns="0" bIns="0" rtlCol="0" anchor="ctr">
            <a:normAutofit/>
          </a:bodyPr>
          <a:lstStyle/>
          <a:p>
            <a:pPr algn="l" indent="0" marL="0">
              <a:buNone/>
            </a:pPr>
            <a:r>
              <a:rPr lang="en-US" sz="900" dirty="0">
                <a:solidFill>
                  <a:srgbClr val="718097"/>
                </a:solidFill>
                <a:latin typeface="Aptos" pitchFamily="34" charset="0"/>
                <a:ea typeface="Aptos" pitchFamily="34" charset="-122"/>
                <a:cs typeface="Aptos" pitchFamily="34" charset="-120"/>
              </a:rPr>
              <a:t>one persistent identity</a:t>
            </a:r>
            <a:endParaRPr lang="en-US" sz="900" dirty="0"/>
          </a:p>
        </p:txBody>
      </p:sp>
      <p:sp>
        <p:nvSpPr>
          <p:cNvPr id="34" name="Text 32"/>
          <p:cNvSpPr txBox="1"/>
          <p:nvPr/>
        </p:nvSpPr>
        <p:spPr>
          <a:xfrm>
            <a:off x="5920740" y="4572000"/>
            <a:ext cx="381000" cy="304800"/>
          </a:xfrm>
          <a:prstGeom prst="rect">
            <a:avLst/>
          </a:prstGeom>
          <a:noFill/>
          <a:ln/>
        </p:spPr>
        <p:txBody>
          <a:bodyPr wrap="square" lIns="0" tIns="0" rIns="0" bIns="0" rtlCol="0" anchor="ctr">
            <a:normAutofit/>
          </a:bodyPr>
          <a:lstStyle/>
          <a:p>
            <a:pPr algn="ctr" indent="0" marL="0">
              <a:buNone/>
            </a:pPr>
            <a:r>
              <a:rPr lang="en-US" sz="1680" dirty="0">
                <a:solidFill>
                  <a:srgbClr val="557DC0"/>
                </a:solidFill>
                <a:latin typeface="Aptos" pitchFamily="34" charset="0"/>
                <a:ea typeface="Aptos" pitchFamily="34" charset="-122"/>
                <a:cs typeface="Aptos" pitchFamily="34" charset="-120"/>
              </a:rPr>
              <a:t>→</a:t>
            </a:r>
            <a:endParaRPr lang="en-US" sz="1680" dirty="0"/>
          </a:p>
        </p:txBody>
      </p:sp>
      <p:sp>
        <p:nvSpPr>
          <p:cNvPr id="35" name="Shape 33"/>
          <p:cNvSpPr/>
          <p:nvPr/>
        </p:nvSpPr>
        <p:spPr>
          <a:xfrm>
            <a:off x="6248400" y="4152900"/>
            <a:ext cx="2400300" cy="1257300"/>
          </a:xfrm>
          <a:prstGeom prst="roundRect">
            <a:avLst>
              <a:gd name="adj" fmla="val 11636"/>
            </a:avLst>
          </a:prstGeom>
          <a:solidFill>
            <a:srgbClr val="FFFFFF"/>
          </a:solidFill>
          <a:ln w="6350">
            <a:solidFill>
              <a:srgbClr val="FFFFFF">
                <a:alpha val="0"/>
              </a:srgbClr>
            </a:solidFill>
            <a:prstDash val="solid"/>
          </a:ln>
          <a:effectLst>
            <a:outerShdw sx="100000" sy="100000" kx="0" ky="0" algn="bl" rotWithShape="0" blurRad="8.391745829378e+24" dist="1.6783491658756e+25" dir="2.09952e+30">
              <a:srgbClr val="405875">
                <a:alpha val="1.2e+29"/>
              </a:srgbClr>
            </a:outerShdw>
          </a:effectLst>
        </p:spPr>
      </p:sp>
      <p:sp>
        <p:nvSpPr>
          <p:cNvPr id="36" name="Text 34"/>
          <p:cNvSpPr txBox="1"/>
          <p:nvPr/>
        </p:nvSpPr>
        <p:spPr>
          <a:xfrm>
            <a:off x="6438900" y="4267200"/>
            <a:ext cx="457200" cy="182880"/>
          </a:xfrm>
          <a:prstGeom prst="rect">
            <a:avLst/>
          </a:prstGeom>
          <a:noFill/>
          <a:ln/>
        </p:spPr>
        <p:txBody>
          <a:bodyPr wrap="square" lIns="0" tIns="0" rIns="0" bIns="0" rtlCol="0" anchor="ctr">
            <a:normAutofit/>
          </a:bodyPr>
          <a:lstStyle/>
          <a:p>
            <a:pPr algn="l" indent="0" marL="0">
              <a:buNone/>
            </a:pPr>
            <a:r>
              <a:rPr lang="en-US" sz="780" b="1" spc="150" kern="0" dirty="0">
                <a:solidFill>
                  <a:srgbClr val="557DC0"/>
                </a:solidFill>
                <a:latin typeface="Aptos" pitchFamily="34" charset="0"/>
                <a:ea typeface="Aptos" pitchFamily="34" charset="-122"/>
                <a:cs typeface="Aptos" pitchFamily="34" charset="-120"/>
              </a:rPr>
              <a:t>03</a:t>
            </a:r>
            <a:endParaRPr lang="en-US" sz="780" dirty="0"/>
          </a:p>
        </p:txBody>
      </p:sp>
      <p:sp>
        <p:nvSpPr>
          <p:cNvPr id="37" name="Text 35"/>
          <p:cNvSpPr txBox="1"/>
          <p:nvPr/>
        </p:nvSpPr>
        <p:spPr>
          <a:xfrm>
            <a:off x="6438900" y="4533900"/>
            <a:ext cx="1752600" cy="320040"/>
          </a:xfrm>
          <a:prstGeom prst="rect">
            <a:avLst/>
          </a:prstGeom>
          <a:noFill/>
          <a:ln/>
        </p:spPr>
        <p:txBody>
          <a:bodyPr wrap="square" lIns="0" tIns="0" rIns="0" bIns="0" rtlCol="0" anchor="ctr">
            <a:normAutofit/>
          </a:bodyPr>
          <a:lstStyle/>
          <a:p>
            <a:pPr algn="l" indent="0" marL="0">
              <a:buNone/>
            </a:pPr>
            <a:r>
              <a:rPr lang="en-US" sz="1500" b="1" dirty="0">
                <a:solidFill>
                  <a:srgbClr val="172337"/>
                </a:solidFill>
                <a:latin typeface="Aptos Display" pitchFamily="34" charset="0"/>
                <a:ea typeface="Aptos Display" pitchFamily="34" charset="-122"/>
                <a:cs typeface="Aptos Display" pitchFamily="34" charset="-120"/>
              </a:rPr>
              <a:t>Score</a:t>
            </a:r>
            <a:endParaRPr lang="en-US" sz="1500" dirty="0"/>
          </a:p>
        </p:txBody>
      </p:sp>
      <p:sp>
        <p:nvSpPr>
          <p:cNvPr id="38" name="Text 36"/>
          <p:cNvSpPr txBox="1"/>
          <p:nvPr/>
        </p:nvSpPr>
        <p:spPr>
          <a:xfrm>
            <a:off x="6438900" y="4914900"/>
            <a:ext cx="1905000" cy="213360"/>
          </a:xfrm>
          <a:prstGeom prst="rect">
            <a:avLst/>
          </a:prstGeom>
          <a:noFill/>
          <a:ln/>
        </p:spPr>
        <p:txBody>
          <a:bodyPr wrap="square" lIns="0" tIns="0" rIns="0" bIns="0" rtlCol="0" anchor="ctr">
            <a:normAutofit/>
          </a:bodyPr>
          <a:lstStyle/>
          <a:p>
            <a:pPr algn="l" indent="0" marL="0">
              <a:buNone/>
            </a:pPr>
            <a:r>
              <a:rPr lang="en-US" sz="900" dirty="0">
                <a:solidFill>
                  <a:srgbClr val="718097"/>
                </a:solidFill>
                <a:latin typeface="Aptos" pitchFamily="34" charset="0"/>
                <a:ea typeface="Aptos" pitchFamily="34" charset="-122"/>
                <a:cs typeface="Aptos" pitchFamily="34" charset="-120"/>
              </a:rPr>
              <a:t>thesis + momentum</a:t>
            </a:r>
            <a:endParaRPr lang="en-US" sz="900" dirty="0"/>
          </a:p>
        </p:txBody>
      </p:sp>
      <p:sp>
        <p:nvSpPr>
          <p:cNvPr id="39" name="Text 37"/>
          <p:cNvSpPr txBox="1"/>
          <p:nvPr/>
        </p:nvSpPr>
        <p:spPr>
          <a:xfrm>
            <a:off x="8702040" y="4572000"/>
            <a:ext cx="381000" cy="304800"/>
          </a:xfrm>
          <a:prstGeom prst="rect">
            <a:avLst/>
          </a:prstGeom>
          <a:noFill/>
          <a:ln/>
        </p:spPr>
        <p:txBody>
          <a:bodyPr wrap="square" lIns="0" tIns="0" rIns="0" bIns="0" rtlCol="0" anchor="ctr">
            <a:normAutofit/>
          </a:bodyPr>
          <a:lstStyle/>
          <a:p>
            <a:pPr algn="ctr" indent="0" marL="0">
              <a:buNone/>
            </a:pPr>
            <a:r>
              <a:rPr lang="en-US" sz="1680" dirty="0">
                <a:solidFill>
                  <a:srgbClr val="557DC0"/>
                </a:solidFill>
                <a:latin typeface="Aptos" pitchFamily="34" charset="0"/>
                <a:ea typeface="Aptos" pitchFamily="34" charset="-122"/>
                <a:cs typeface="Aptos" pitchFamily="34" charset="-120"/>
              </a:rPr>
              <a:t>→</a:t>
            </a:r>
            <a:endParaRPr lang="en-US" sz="1680" dirty="0"/>
          </a:p>
        </p:txBody>
      </p:sp>
      <p:sp>
        <p:nvSpPr>
          <p:cNvPr id="40" name="Shape 38"/>
          <p:cNvSpPr/>
          <p:nvPr/>
        </p:nvSpPr>
        <p:spPr>
          <a:xfrm>
            <a:off x="9029700" y="4152900"/>
            <a:ext cx="2400300" cy="1257300"/>
          </a:xfrm>
          <a:prstGeom prst="roundRect">
            <a:avLst>
              <a:gd name="adj" fmla="val 11636"/>
            </a:avLst>
          </a:prstGeom>
          <a:solidFill>
            <a:srgbClr val="FFFFFF"/>
          </a:solidFill>
          <a:ln w="6350">
            <a:solidFill>
              <a:srgbClr val="FFFFFF">
                <a:alpha val="0"/>
              </a:srgbClr>
            </a:solidFill>
            <a:prstDash val="solid"/>
          </a:ln>
          <a:effectLst>
            <a:outerShdw sx="100000" sy="100000" kx="0" ky="0" algn="bl" rotWithShape="0" blurRad="1.0657517203310059e+29" dist="2.1315034406620118e+29" dir="1.259712e+35">
              <a:srgbClr val="405875">
                <a:alpha val="1.2e+34"/>
              </a:srgbClr>
            </a:outerShdw>
          </a:effectLst>
        </p:spPr>
      </p:sp>
      <p:sp>
        <p:nvSpPr>
          <p:cNvPr id="41" name="Text 39"/>
          <p:cNvSpPr txBox="1"/>
          <p:nvPr/>
        </p:nvSpPr>
        <p:spPr>
          <a:xfrm>
            <a:off x="9220200" y="4267200"/>
            <a:ext cx="457200" cy="182880"/>
          </a:xfrm>
          <a:prstGeom prst="rect">
            <a:avLst/>
          </a:prstGeom>
          <a:noFill/>
          <a:ln/>
        </p:spPr>
        <p:txBody>
          <a:bodyPr wrap="square" lIns="0" tIns="0" rIns="0" bIns="0" rtlCol="0" anchor="ctr">
            <a:normAutofit/>
          </a:bodyPr>
          <a:lstStyle/>
          <a:p>
            <a:pPr algn="l" indent="0" marL="0">
              <a:buNone/>
            </a:pPr>
            <a:r>
              <a:rPr lang="en-US" sz="780" b="1" spc="150" kern="0" dirty="0">
                <a:solidFill>
                  <a:srgbClr val="557DC0"/>
                </a:solidFill>
                <a:latin typeface="Aptos" pitchFamily="34" charset="0"/>
                <a:ea typeface="Aptos" pitchFamily="34" charset="-122"/>
                <a:cs typeface="Aptos" pitchFamily="34" charset="-120"/>
              </a:rPr>
              <a:t>04</a:t>
            </a:r>
            <a:endParaRPr lang="en-US" sz="780" dirty="0"/>
          </a:p>
        </p:txBody>
      </p:sp>
      <p:sp>
        <p:nvSpPr>
          <p:cNvPr id="42" name="Text 40"/>
          <p:cNvSpPr txBox="1"/>
          <p:nvPr/>
        </p:nvSpPr>
        <p:spPr>
          <a:xfrm>
            <a:off x="9220200" y="4533900"/>
            <a:ext cx="1752600" cy="320040"/>
          </a:xfrm>
          <a:prstGeom prst="rect">
            <a:avLst/>
          </a:prstGeom>
          <a:noFill/>
          <a:ln/>
        </p:spPr>
        <p:txBody>
          <a:bodyPr wrap="square" lIns="0" tIns="0" rIns="0" bIns="0" rtlCol="0" anchor="ctr">
            <a:normAutofit/>
          </a:bodyPr>
          <a:lstStyle/>
          <a:p>
            <a:pPr algn="l" indent="0" marL="0">
              <a:buNone/>
            </a:pPr>
            <a:r>
              <a:rPr lang="en-US" sz="1500" b="1" dirty="0">
                <a:solidFill>
                  <a:srgbClr val="172337"/>
                </a:solidFill>
                <a:latin typeface="Aptos Display" pitchFamily="34" charset="0"/>
                <a:ea typeface="Aptos Display" pitchFamily="34" charset="-122"/>
                <a:cs typeface="Aptos Display" pitchFamily="34" charset="-120"/>
              </a:rPr>
              <a:t>Activate</a:t>
            </a:r>
            <a:endParaRPr lang="en-US" sz="1500" dirty="0"/>
          </a:p>
        </p:txBody>
      </p:sp>
      <p:sp>
        <p:nvSpPr>
          <p:cNvPr id="43" name="Text 41"/>
          <p:cNvSpPr txBox="1"/>
          <p:nvPr/>
        </p:nvSpPr>
        <p:spPr>
          <a:xfrm>
            <a:off x="9220200" y="4914900"/>
            <a:ext cx="1905000" cy="213360"/>
          </a:xfrm>
          <a:prstGeom prst="rect">
            <a:avLst/>
          </a:prstGeom>
          <a:noFill/>
          <a:ln/>
        </p:spPr>
        <p:txBody>
          <a:bodyPr wrap="square" lIns="0" tIns="0" rIns="0" bIns="0" rtlCol="0" anchor="ctr">
            <a:normAutofit/>
          </a:bodyPr>
          <a:lstStyle/>
          <a:p>
            <a:pPr algn="l" indent="0" marL="0">
              <a:buNone/>
            </a:pPr>
            <a:r>
              <a:rPr lang="en-US" sz="900" dirty="0">
                <a:solidFill>
                  <a:srgbClr val="718097"/>
                </a:solidFill>
                <a:latin typeface="Aptos" pitchFamily="34" charset="0"/>
                <a:ea typeface="Aptos" pitchFamily="34" charset="-122"/>
                <a:cs typeface="Aptos" pitchFamily="34" charset="-120"/>
              </a:rPr>
              <a:t>human-approved outreach</a:t>
            </a:r>
            <a:endParaRPr lang="en-US" sz="900" dirty="0"/>
          </a:p>
        </p:txBody>
      </p:sp>
      <p:sp>
        <p:nvSpPr>
          <p:cNvPr id="44" name="Text 42"/>
          <p:cNvSpPr txBox="1"/>
          <p:nvPr/>
        </p:nvSpPr>
        <p:spPr>
          <a:xfrm>
            <a:off x="685800" y="5753100"/>
            <a:ext cx="8534400" cy="243840"/>
          </a:xfrm>
          <a:prstGeom prst="rect">
            <a:avLst/>
          </a:prstGeom>
          <a:noFill/>
          <a:ln/>
        </p:spPr>
        <p:txBody>
          <a:bodyPr wrap="square" lIns="0" tIns="0" rIns="0" bIns="0" rtlCol="0" anchor="ctr">
            <a:normAutofit/>
          </a:bodyPr>
          <a:lstStyle/>
          <a:p>
            <a:pPr algn="l" indent="0" marL="0">
              <a:buNone/>
            </a:pPr>
            <a:r>
              <a:rPr lang="en-US" sz="1020" b="1" dirty="0">
                <a:solidFill>
                  <a:srgbClr val="344258"/>
                </a:solidFill>
                <a:latin typeface="Aptos" pitchFamily="34" charset="0"/>
                <a:ea typeface="Aptos" pitchFamily="34" charset="-122"/>
                <a:cs typeface="Aptos" pitchFamily="34" charset="-120"/>
              </a:rPr>
              <a:t>Cold outreach, never cold investment — every activated founder enters the same application funnel.</a:t>
            </a:r>
            <a:endParaRPr lang="en-US" sz="1020" dirty="0"/>
          </a:p>
        </p:txBody>
      </p:sp>
      <p:sp>
        <p:nvSpPr>
          <p:cNvPr id="45" name="Text 43"/>
          <p:cNvSpPr/>
          <p:nvPr/>
        </p:nvSpPr>
        <p:spPr>
          <a:xfrm>
            <a:off x="685800" y="6210300"/>
            <a:ext cx="1371600" cy="243840"/>
          </a:xfrm>
          <a:prstGeom prst="rect">
            <a:avLst/>
          </a:prstGeom>
          <a:noFill/>
          <a:ln/>
        </p:spPr>
        <p:txBody>
          <a:bodyPr wrap="square" lIns="0" tIns="0" rIns="0" bIns="0" rtlCol="0" anchor="ctr">
            <a:normAutofit/>
          </a:bodyPr>
          <a:lstStyle/>
          <a:p>
            <a:pPr indent="0" marL="0">
              <a:buNone/>
            </a:pPr>
            <a:r>
              <a:rPr lang="en-US" sz="1400" b="1" dirty="0">
                <a:solidFill>
                  <a:srgbClr val="172337"/>
                </a:solidFill>
                <a:latin typeface="Aptos Display" pitchFamily="34" charset="0"/>
                <a:ea typeface="Aptos Display" pitchFamily="34" charset="-122"/>
                <a:cs typeface="Aptos Display" pitchFamily="34" charset="-120"/>
              </a:rPr>
              <a:t>FirstCheck</a:t>
            </a:r>
            <a:pPr indent="0" marL="0">
              <a:buNone/>
            </a:pPr>
            <a:r>
              <a:rPr lang="en-US" sz="1200" b="1" dirty="0">
                <a:solidFill>
                  <a:srgbClr val="557DC0"/>
                </a:solidFill>
                <a:latin typeface="Aptos Display" pitchFamily="34" charset="0"/>
                <a:ea typeface="Aptos Display" pitchFamily="34" charset="-122"/>
                <a:cs typeface="Aptos Display" pitchFamily="34" charset="-120"/>
              </a:rPr>
              <a:t>24</a:t>
            </a:r>
            <a:endParaRPr lang="en-US" sz="1400" dirty="0"/>
          </a:p>
        </p:txBody>
      </p:sp>
      <p:sp>
        <p:nvSpPr>
          <p:cNvPr id="46" name="Text 44"/>
          <p:cNvSpPr txBox="1"/>
          <p:nvPr/>
        </p:nvSpPr>
        <p:spPr>
          <a:xfrm>
            <a:off x="11125200" y="6248400"/>
            <a:ext cx="381000" cy="152400"/>
          </a:xfrm>
          <a:prstGeom prst="rect">
            <a:avLst/>
          </a:prstGeom>
          <a:noFill/>
          <a:ln/>
        </p:spPr>
        <p:txBody>
          <a:bodyPr wrap="square" lIns="0" tIns="0" rIns="0" bIns="0" rtlCol="0" anchor="ctr">
            <a:normAutofit/>
          </a:bodyPr>
          <a:lstStyle/>
          <a:p>
            <a:pPr algn="r" indent="0" marL="0">
              <a:buNone/>
            </a:pPr>
            <a:r>
              <a:rPr lang="en-US" sz="780" b="1" spc="200" kern="0" dirty="0">
                <a:solidFill>
                  <a:srgbClr val="94A3B8"/>
                </a:solidFill>
                <a:latin typeface="Aptos" pitchFamily="34" charset="0"/>
                <a:ea typeface="Aptos" pitchFamily="34" charset="-122"/>
                <a:cs typeface="Aptos" pitchFamily="34" charset="-120"/>
              </a:rPr>
              <a:t>04</a:t>
            </a:r>
            <a:endParaRPr lang="en-US" sz="78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6FB"/>
        </a:solidFill>
      </p:bgPr>
    </p:bg>
    <p:spTree>
      <p:nvGrpSpPr>
        <p:cNvPr id="1" name=""/>
        <p:cNvGrpSpPr/>
        <p:nvPr/>
      </p:nvGrpSpPr>
      <p:grpSpPr>
        <a:xfrm>
          <a:off x="0" y="0"/>
          <a:ext cx="0" cy="0"/>
          <a:chOff x="0" y="0"/>
          <a:chExt cx="0" cy="0"/>
        </a:xfrm>
      </p:grpSpPr>
      <p:sp>
        <p:nvSpPr>
          <p:cNvPr id="2" name="Text 0"/>
          <p:cNvSpPr txBox="1"/>
          <p:nvPr/>
        </p:nvSpPr>
        <p:spPr>
          <a:xfrm>
            <a:off x="685800" y="548640"/>
            <a:ext cx="5791200" cy="213360"/>
          </a:xfrm>
          <a:prstGeom prst="rect">
            <a:avLst/>
          </a:prstGeom>
          <a:noFill/>
          <a:ln/>
        </p:spPr>
        <p:txBody>
          <a:bodyPr wrap="square" lIns="0" tIns="0" rIns="0" bIns="0" rtlCol="0" anchor="ctr">
            <a:normAutofit/>
          </a:bodyPr>
          <a:lstStyle/>
          <a:p>
            <a:pPr algn="l" indent="0" marL="0">
              <a:buNone/>
            </a:pPr>
            <a:r>
              <a:rPr lang="en-US" sz="900" b="1" spc="240" kern="0" dirty="0">
                <a:solidFill>
                  <a:srgbClr val="557DC0"/>
                </a:solidFill>
                <a:latin typeface="Aptos" pitchFamily="34" charset="0"/>
                <a:ea typeface="Aptos" pitchFamily="34" charset="-122"/>
                <a:cs typeface="Aptos" pitchFamily="34" charset="-120"/>
              </a:rPr>
              <a:t>CORE 02 · EXPLAINABLE INTELLIGENCE</a:t>
            </a:r>
            <a:endParaRPr lang="en-US" sz="900" dirty="0"/>
          </a:p>
        </p:txBody>
      </p:sp>
      <p:sp>
        <p:nvSpPr>
          <p:cNvPr id="3" name="Text 1"/>
          <p:cNvSpPr txBox="1"/>
          <p:nvPr/>
        </p:nvSpPr>
        <p:spPr>
          <a:xfrm>
            <a:off x="685800" y="800100"/>
            <a:ext cx="5791200" cy="824179"/>
          </a:xfrm>
          <a:prstGeom prst="rect">
            <a:avLst/>
          </a:prstGeom>
          <a:noFill/>
          <a:ln/>
        </p:spPr>
        <p:txBody>
          <a:bodyPr wrap="square" lIns="0" tIns="0" rIns="0" bIns="0" rtlCol="0" anchor="t">
            <a:normAutofit/>
          </a:bodyPr>
          <a:lstStyle/>
          <a:p>
            <a:pPr algn="l" indent="0" marL="0">
              <a:buNone/>
            </a:pPr>
            <a:r>
              <a:rPr lang="en-US" sz="3120" b="1" dirty="0">
                <a:solidFill>
                  <a:srgbClr val="172337"/>
                </a:solidFill>
                <a:latin typeface="Aptos Display" pitchFamily="34" charset="0"/>
                <a:ea typeface="Aptos Display" pitchFamily="34" charset="-122"/>
                <a:cs typeface="Aptos Display" pitchFamily="34" charset="-120"/>
              </a:rPr>
              <a:t>Every score</a:t>
            </a:r>
            <a:endParaRPr lang="en-US" sz="3120" dirty="0"/>
          </a:p>
          <a:p>
            <a:pPr algn="l" indent="0" marL="0">
              <a:buNone/>
            </a:pPr>
            <a:r>
              <a:rPr lang="en-US" sz="3120" b="1" dirty="0">
                <a:solidFill>
                  <a:srgbClr val="172337"/>
                </a:solidFill>
                <a:latin typeface="Aptos Display" pitchFamily="34" charset="0"/>
                <a:ea typeface="Aptos Display" pitchFamily="34" charset="-122"/>
                <a:cs typeface="Aptos Display" pitchFamily="34" charset="-120"/>
              </a:rPr>
              <a:t>shows its work.</a:t>
            </a:r>
            <a:endParaRPr lang="en-US" sz="3120" dirty="0"/>
          </a:p>
        </p:txBody>
      </p:sp>
      <p:sp>
        <p:nvSpPr>
          <p:cNvPr id="4" name="Shape 2"/>
          <p:cNvSpPr/>
          <p:nvPr/>
        </p:nvSpPr>
        <p:spPr>
          <a:xfrm>
            <a:off x="685800" y="2057400"/>
            <a:ext cx="4876800" cy="518160"/>
          </a:xfrm>
          <a:prstGeom prst="roundRect">
            <a:avLst>
              <a:gd name="adj" fmla="val 21176"/>
            </a:avLst>
          </a:prstGeom>
          <a:solidFill>
            <a:srgbClr val="E7EEF9"/>
          </a:solidFill>
          <a:ln w="6350">
            <a:solidFill>
              <a:srgbClr val="E7EEF9">
                <a:alpha val="0"/>
              </a:srgbClr>
            </a:solidFill>
            <a:prstDash val="solid"/>
          </a:ln>
        </p:spPr>
      </p:sp>
      <p:sp>
        <p:nvSpPr>
          <p:cNvPr id="5" name="Shape 3"/>
          <p:cNvSpPr/>
          <p:nvPr/>
        </p:nvSpPr>
        <p:spPr>
          <a:xfrm>
            <a:off x="891540" y="2186940"/>
            <a:ext cx="76200" cy="76200"/>
          </a:xfrm>
          <a:prstGeom prst="ellipse">
            <a:avLst/>
          </a:prstGeom>
          <a:solidFill>
            <a:srgbClr val="557DC0"/>
          </a:solidFill>
          <a:ln w="12700">
            <a:solidFill>
              <a:srgbClr val="333333">
                <a:alpha val="0"/>
              </a:srgbClr>
            </a:solidFill>
            <a:prstDash val="solid"/>
          </a:ln>
        </p:spPr>
      </p:sp>
      <p:sp>
        <p:nvSpPr>
          <p:cNvPr id="6" name="Text 4"/>
          <p:cNvSpPr txBox="1"/>
          <p:nvPr/>
        </p:nvSpPr>
        <p:spPr>
          <a:xfrm>
            <a:off x="1104900" y="2103120"/>
            <a:ext cx="1752600" cy="198120"/>
          </a:xfrm>
          <a:prstGeom prst="rect">
            <a:avLst/>
          </a:prstGeom>
          <a:noFill/>
          <a:ln/>
        </p:spPr>
        <p:txBody>
          <a:bodyPr wrap="square" lIns="0" tIns="0" rIns="0" bIns="0" rtlCol="0" anchor="ctr">
            <a:normAutofit/>
          </a:bodyPr>
          <a:lstStyle/>
          <a:p>
            <a:pPr algn="l" indent="0" marL="0">
              <a:buNone/>
            </a:pPr>
            <a:r>
              <a:rPr lang="en-US" sz="720" b="1" spc="120" kern="0" dirty="0">
                <a:solidFill>
                  <a:srgbClr val="557DC0"/>
                </a:solidFill>
                <a:latin typeface="Aptos" pitchFamily="34" charset="0"/>
                <a:ea typeface="Aptos" pitchFamily="34" charset="-122"/>
                <a:cs typeface="Aptos" pitchFamily="34" charset="-120"/>
              </a:rPr>
              <a:t>SOURCE SNAPSHOT</a:t>
            </a:r>
            <a:endParaRPr lang="en-US" sz="720" dirty="0"/>
          </a:p>
        </p:txBody>
      </p:sp>
      <p:sp>
        <p:nvSpPr>
          <p:cNvPr id="7" name="Text 5"/>
          <p:cNvSpPr txBox="1"/>
          <p:nvPr/>
        </p:nvSpPr>
        <p:spPr>
          <a:xfrm>
            <a:off x="2895600" y="2118360"/>
            <a:ext cx="2400300" cy="190500"/>
          </a:xfrm>
          <a:prstGeom prst="rect">
            <a:avLst/>
          </a:prstGeom>
          <a:noFill/>
          <a:ln/>
        </p:spPr>
        <p:txBody>
          <a:bodyPr wrap="square" lIns="0" tIns="0" rIns="0" bIns="0" rtlCol="0" anchor="ctr">
            <a:normAutofit/>
          </a:bodyPr>
          <a:lstStyle/>
          <a:p>
            <a:pPr algn="r" indent="0" marL="0">
              <a:buNone/>
            </a:pPr>
            <a:r>
              <a:rPr lang="en-US" sz="780" b="1" dirty="0">
                <a:solidFill>
                  <a:srgbClr val="344258"/>
                </a:solidFill>
                <a:latin typeface="Aptos" pitchFamily="34" charset="0"/>
                <a:ea typeface="Aptos" pitchFamily="34" charset="-122"/>
                <a:cs typeface="Aptos" pitchFamily="34" charset="-120"/>
              </a:rPr>
              <a:t>Immutable deck, repo, page or post</a:t>
            </a:r>
            <a:endParaRPr lang="en-US" sz="780" dirty="0"/>
          </a:p>
        </p:txBody>
      </p:sp>
      <p:sp>
        <p:nvSpPr>
          <p:cNvPr id="8" name="Shape 6"/>
          <p:cNvSpPr/>
          <p:nvPr/>
        </p:nvSpPr>
        <p:spPr>
          <a:xfrm>
            <a:off x="3124200" y="2575560"/>
            <a:ext cx="0" cy="152400"/>
          </a:xfrm>
          <a:prstGeom prst="line">
            <a:avLst/>
          </a:prstGeom>
          <a:noFill/>
          <a:ln w="25400">
            <a:solidFill>
              <a:srgbClr val="DCE5F0"/>
            </a:solidFill>
            <a:prstDash val="solid"/>
            <a:headEnd type="none"/>
            <a:tailEnd type="none"/>
          </a:ln>
        </p:spPr>
      </p:sp>
      <p:sp>
        <p:nvSpPr>
          <p:cNvPr id="9" name="Shape 7"/>
          <p:cNvSpPr/>
          <p:nvPr/>
        </p:nvSpPr>
        <p:spPr>
          <a:xfrm>
            <a:off x="685800" y="2727960"/>
            <a:ext cx="4876800" cy="518160"/>
          </a:xfrm>
          <a:prstGeom prst="roundRect">
            <a:avLst>
              <a:gd name="adj" fmla="val 21176"/>
            </a:avLst>
          </a:prstGeom>
          <a:solidFill>
            <a:srgbClr val="EEE8F8"/>
          </a:solidFill>
          <a:ln w="6350">
            <a:solidFill>
              <a:srgbClr val="EEE8F8">
                <a:alpha val="0"/>
              </a:srgbClr>
            </a:solidFill>
            <a:prstDash val="solid"/>
          </a:ln>
        </p:spPr>
      </p:sp>
      <p:sp>
        <p:nvSpPr>
          <p:cNvPr id="10" name="Shape 8"/>
          <p:cNvSpPr/>
          <p:nvPr/>
        </p:nvSpPr>
        <p:spPr>
          <a:xfrm>
            <a:off x="891540" y="2857500"/>
            <a:ext cx="76200" cy="76200"/>
          </a:xfrm>
          <a:prstGeom prst="ellipse">
            <a:avLst/>
          </a:prstGeom>
          <a:solidFill>
            <a:srgbClr val="7656A5"/>
          </a:solidFill>
          <a:ln w="12700">
            <a:solidFill>
              <a:srgbClr val="333333">
                <a:alpha val="0"/>
              </a:srgbClr>
            </a:solidFill>
            <a:prstDash val="solid"/>
          </a:ln>
        </p:spPr>
      </p:sp>
      <p:sp>
        <p:nvSpPr>
          <p:cNvPr id="11" name="Text 9"/>
          <p:cNvSpPr txBox="1"/>
          <p:nvPr/>
        </p:nvSpPr>
        <p:spPr>
          <a:xfrm>
            <a:off x="1104900" y="2773680"/>
            <a:ext cx="1752600" cy="198120"/>
          </a:xfrm>
          <a:prstGeom prst="rect">
            <a:avLst/>
          </a:prstGeom>
          <a:noFill/>
          <a:ln/>
        </p:spPr>
        <p:txBody>
          <a:bodyPr wrap="square" lIns="0" tIns="0" rIns="0" bIns="0" rtlCol="0" anchor="ctr">
            <a:normAutofit/>
          </a:bodyPr>
          <a:lstStyle/>
          <a:p>
            <a:pPr algn="l" indent="0" marL="0">
              <a:buNone/>
            </a:pPr>
            <a:r>
              <a:rPr lang="en-US" sz="720" b="1" spc="120" kern="0" dirty="0">
                <a:solidFill>
                  <a:srgbClr val="7656A5"/>
                </a:solidFill>
                <a:latin typeface="Aptos" pitchFamily="34" charset="0"/>
                <a:ea typeface="Aptos" pitchFamily="34" charset="-122"/>
                <a:cs typeface="Aptos" pitchFamily="34" charset="-120"/>
              </a:rPr>
              <a:t>OBSERVATION</a:t>
            </a:r>
            <a:endParaRPr lang="en-US" sz="720" dirty="0"/>
          </a:p>
        </p:txBody>
      </p:sp>
      <p:sp>
        <p:nvSpPr>
          <p:cNvPr id="12" name="Text 10"/>
          <p:cNvSpPr txBox="1"/>
          <p:nvPr/>
        </p:nvSpPr>
        <p:spPr>
          <a:xfrm>
            <a:off x="2895600" y="2788920"/>
            <a:ext cx="2400300" cy="190500"/>
          </a:xfrm>
          <a:prstGeom prst="rect">
            <a:avLst/>
          </a:prstGeom>
          <a:noFill/>
          <a:ln/>
        </p:spPr>
        <p:txBody>
          <a:bodyPr wrap="square" lIns="0" tIns="0" rIns="0" bIns="0" rtlCol="0" anchor="ctr">
            <a:normAutofit/>
          </a:bodyPr>
          <a:lstStyle/>
          <a:p>
            <a:pPr algn="r" indent="0" marL="0">
              <a:buNone/>
            </a:pPr>
            <a:r>
              <a:rPr lang="en-US" sz="780" b="1" dirty="0">
                <a:solidFill>
                  <a:srgbClr val="344258"/>
                </a:solidFill>
                <a:latin typeface="Aptos" pitchFamily="34" charset="0"/>
                <a:ea typeface="Aptos" pitchFamily="34" charset="-122"/>
                <a:cs typeface="Aptos" pitchFamily="34" charset="-120"/>
              </a:rPr>
              <a:t>Timestamped extraction with provenance</a:t>
            </a:r>
            <a:endParaRPr lang="en-US" sz="780" dirty="0"/>
          </a:p>
        </p:txBody>
      </p:sp>
      <p:sp>
        <p:nvSpPr>
          <p:cNvPr id="13" name="Shape 11"/>
          <p:cNvSpPr/>
          <p:nvPr/>
        </p:nvSpPr>
        <p:spPr>
          <a:xfrm>
            <a:off x="3124200" y="3246120"/>
            <a:ext cx="0" cy="152400"/>
          </a:xfrm>
          <a:prstGeom prst="line">
            <a:avLst/>
          </a:prstGeom>
          <a:noFill/>
          <a:ln w="25400">
            <a:solidFill>
              <a:srgbClr val="DCE5F0"/>
            </a:solidFill>
            <a:prstDash val="solid"/>
            <a:headEnd type="none"/>
            <a:tailEnd type="none"/>
          </a:ln>
        </p:spPr>
      </p:sp>
      <p:sp>
        <p:nvSpPr>
          <p:cNvPr id="14" name="Shape 12"/>
          <p:cNvSpPr/>
          <p:nvPr/>
        </p:nvSpPr>
        <p:spPr>
          <a:xfrm>
            <a:off x="685800" y="3398520"/>
            <a:ext cx="4876800" cy="518160"/>
          </a:xfrm>
          <a:prstGeom prst="roundRect">
            <a:avLst>
              <a:gd name="adj" fmla="val 21176"/>
            </a:avLst>
          </a:prstGeom>
          <a:solidFill>
            <a:srgbClr val="FFF1DF"/>
          </a:solidFill>
          <a:ln w="6350">
            <a:solidFill>
              <a:srgbClr val="FFF1DF">
                <a:alpha val="0"/>
              </a:srgbClr>
            </a:solidFill>
            <a:prstDash val="solid"/>
          </a:ln>
        </p:spPr>
      </p:sp>
      <p:sp>
        <p:nvSpPr>
          <p:cNvPr id="15" name="Shape 13"/>
          <p:cNvSpPr/>
          <p:nvPr/>
        </p:nvSpPr>
        <p:spPr>
          <a:xfrm>
            <a:off x="891540" y="3528060"/>
            <a:ext cx="76200" cy="76200"/>
          </a:xfrm>
          <a:prstGeom prst="ellipse">
            <a:avLst/>
          </a:prstGeom>
          <a:solidFill>
            <a:srgbClr val="B87932"/>
          </a:solidFill>
          <a:ln w="12700">
            <a:solidFill>
              <a:srgbClr val="333333">
                <a:alpha val="0"/>
              </a:srgbClr>
            </a:solidFill>
            <a:prstDash val="solid"/>
          </a:ln>
        </p:spPr>
      </p:sp>
      <p:sp>
        <p:nvSpPr>
          <p:cNvPr id="16" name="Text 14"/>
          <p:cNvSpPr txBox="1"/>
          <p:nvPr/>
        </p:nvSpPr>
        <p:spPr>
          <a:xfrm>
            <a:off x="1104900" y="3444240"/>
            <a:ext cx="1752600" cy="198120"/>
          </a:xfrm>
          <a:prstGeom prst="rect">
            <a:avLst/>
          </a:prstGeom>
          <a:noFill/>
          <a:ln/>
        </p:spPr>
        <p:txBody>
          <a:bodyPr wrap="square" lIns="0" tIns="0" rIns="0" bIns="0" rtlCol="0" anchor="ctr">
            <a:normAutofit/>
          </a:bodyPr>
          <a:lstStyle/>
          <a:p>
            <a:pPr algn="l" indent="0" marL="0">
              <a:buNone/>
            </a:pPr>
            <a:r>
              <a:rPr lang="en-US" sz="720" b="1" spc="120" kern="0" dirty="0">
                <a:solidFill>
                  <a:srgbClr val="B87932"/>
                </a:solidFill>
                <a:latin typeface="Aptos" pitchFamily="34" charset="0"/>
                <a:ea typeface="Aptos" pitchFamily="34" charset="-122"/>
                <a:cs typeface="Aptos" pitchFamily="34" charset="-120"/>
              </a:rPr>
              <a:t>CLAIM</a:t>
            </a:r>
            <a:endParaRPr lang="en-US" sz="720" dirty="0"/>
          </a:p>
        </p:txBody>
      </p:sp>
      <p:sp>
        <p:nvSpPr>
          <p:cNvPr id="17" name="Text 15"/>
          <p:cNvSpPr txBox="1"/>
          <p:nvPr/>
        </p:nvSpPr>
        <p:spPr>
          <a:xfrm>
            <a:off x="2895600" y="3459480"/>
            <a:ext cx="2400300" cy="190500"/>
          </a:xfrm>
          <a:prstGeom prst="rect">
            <a:avLst/>
          </a:prstGeom>
          <a:noFill/>
          <a:ln/>
        </p:spPr>
        <p:txBody>
          <a:bodyPr wrap="square" lIns="0" tIns="0" rIns="0" bIns="0" rtlCol="0" anchor="ctr">
            <a:normAutofit/>
          </a:bodyPr>
          <a:lstStyle/>
          <a:p>
            <a:pPr algn="r" indent="0" marL="0">
              <a:buNone/>
            </a:pPr>
            <a:r>
              <a:rPr lang="en-US" sz="780" b="1" dirty="0">
                <a:solidFill>
                  <a:srgbClr val="344258"/>
                </a:solidFill>
                <a:latin typeface="Aptos" pitchFamily="34" charset="0"/>
                <a:ea typeface="Aptos" pitchFamily="34" charset="-122"/>
                <a:cs typeface="Aptos" pitchFamily="34" charset="-120"/>
              </a:rPr>
              <a:t>Reconciled assertion + contradiction state</a:t>
            </a:r>
            <a:endParaRPr lang="en-US" sz="780" dirty="0"/>
          </a:p>
        </p:txBody>
      </p:sp>
      <p:sp>
        <p:nvSpPr>
          <p:cNvPr id="18" name="Shape 16"/>
          <p:cNvSpPr/>
          <p:nvPr/>
        </p:nvSpPr>
        <p:spPr>
          <a:xfrm>
            <a:off x="3124200" y="3916680"/>
            <a:ext cx="0" cy="152400"/>
          </a:xfrm>
          <a:prstGeom prst="line">
            <a:avLst/>
          </a:prstGeom>
          <a:noFill/>
          <a:ln w="25400">
            <a:solidFill>
              <a:srgbClr val="DCE5F0"/>
            </a:solidFill>
            <a:prstDash val="solid"/>
            <a:headEnd type="none"/>
            <a:tailEnd type="none"/>
          </a:ln>
        </p:spPr>
      </p:sp>
      <p:sp>
        <p:nvSpPr>
          <p:cNvPr id="19" name="Shape 17"/>
          <p:cNvSpPr/>
          <p:nvPr/>
        </p:nvSpPr>
        <p:spPr>
          <a:xfrm>
            <a:off x="685800" y="4069080"/>
            <a:ext cx="4876800" cy="518160"/>
          </a:xfrm>
          <a:prstGeom prst="roundRect">
            <a:avLst>
              <a:gd name="adj" fmla="val 21176"/>
            </a:avLst>
          </a:prstGeom>
          <a:solidFill>
            <a:srgbClr val="E4F2ED"/>
          </a:solidFill>
          <a:ln w="6350">
            <a:solidFill>
              <a:srgbClr val="E4F2ED">
                <a:alpha val="0"/>
              </a:srgbClr>
            </a:solidFill>
            <a:prstDash val="solid"/>
          </a:ln>
        </p:spPr>
      </p:sp>
      <p:sp>
        <p:nvSpPr>
          <p:cNvPr id="20" name="Shape 18"/>
          <p:cNvSpPr/>
          <p:nvPr/>
        </p:nvSpPr>
        <p:spPr>
          <a:xfrm>
            <a:off x="891540" y="4198620"/>
            <a:ext cx="76200" cy="76200"/>
          </a:xfrm>
          <a:prstGeom prst="ellipse">
            <a:avLst/>
          </a:prstGeom>
          <a:solidFill>
            <a:srgbClr val="2F8B72"/>
          </a:solidFill>
          <a:ln w="12700">
            <a:solidFill>
              <a:srgbClr val="333333">
                <a:alpha val="0"/>
              </a:srgbClr>
            </a:solidFill>
            <a:prstDash val="solid"/>
          </a:ln>
        </p:spPr>
      </p:sp>
      <p:sp>
        <p:nvSpPr>
          <p:cNvPr id="21" name="Text 19"/>
          <p:cNvSpPr txBox="1"/>
          <p:nvPr/>
        </p:nvSpPr>
        <p:spPr>
          <a:xfrm>
            <a:off x="1104900" y="4114800"/>
            <a:ext cx="1752600" cy="198120"/>
          </a:xfrm>
          <a:prstGeom prst="rect">
            <a:avLst/>
          </a:prstGeom>
          <a:noFill/>
          <a:ln/>
        </p:spPr>
        <p:txBody>
          <a:bodyPr wrap="square" lIns="0" tIns="0" rIns="0" bIns="0" rtlCol="0" anchor="ctr">
            <a:normAutofit/>
          </a:bodyPr>
          <a:lstStyle/>
          <a:p>
            <a:pPr algn="l" indent="0" marL="0">
              <a:buNone/>
            </a:pPr>
            <a:r>
              <a:rPr lang="en-US" sz="720" b="1" spc="120" kern="0" dirty="0">
                <a:solidFill>
                  <a:srgbClr val="2F8B72"/>
                </a:solidFill>
                <a:latin typeface="Aptos" pitchFamily="34" charset="0"/>
                <a:ea typeface="Aptos" pitchFamily="34" charset="-122"/>
                <a:cs typeface="Aptos" pitchFamily="34" charset="-120"/>
              </a:rPr>
              <a:t>AXIS SCORE</a:t>
            </a:r>
            <a:endParaRPr lang="en-US" sz="720" dirty="0"/>
          </a:p>
        </p:txBody>
      </p:sp>
      <p:sp>
        <p:nvSpPr>
          <p:cNvPr id="22" name="Text 20"/>
          <p:cNvSpPr txBox="1"/>
          <p:nvPr/>
        </p:nvSpPr>
        <p:spPr>
          <a:xfrm>
            <a:off x="2895600" y="4130040"/>
            <a:ext cx="2400300" cy="190500"/>
          </a:xfrm>
          <a:prstGeom prst="rect">
            <a:avLst/>
          </a:prstGeom>
          <a:noFill/>
          <a:ln/>
        </p:spPr>
        <p:txBody>
          <a:bodyPr wrap="square" lIns="0" tIns="0" rIns="0" bIns="0" rtlCol="0" anchor="ctr">
            <a:normAutofit/>
          </a:bodyPr>
          <a:lstStyle/>
          <a:p>
            <a:pPr algn="r" indent="0" marL="0">
              <a:buNone/>
            </a:pPr>
            <a:r>
              <a:rPr lang="en-US" sz="780" b="1" dirty="0">
                <a:solidFill>
                  <a:srgbClr val="344258"/>
                </a:solidFill>
                <a:latin typeface="Aptos" pitchFamily="34" charset="0"/>
                <a:ea typeface="Aptos" pitchFamily="34" charset="-122"/>
                <a:cs typeface="Aptos" pitchFamily="34" charset="-120"/>
              </a:rPr>
              <a:t>Versioned result linked to supporting claims</a:t>
            </a:r>
            <a:endParaRPr lang="en-US" sz="780" dirty="0"/>
          </a:p>
        </p:txBody>
      </p:sp>
      <p:sp>
        <p:nvSpPr>
          <p:cNvPr id="23" name="Shape 21"/>
          <p:cNvSpPr/>
          <p:nvPr/>
        </p:nvSpPr>
        <p:spPr>
          <a:xfrm>
            <a:off x="3124200" y="4587240"/>
            <a:ext cx="0" cy="152400"/>
          </a:xfrm>
          <a:prstGeom prst="line">
            <a:avLst/>
          </a:prstGeom>
          <a:noFill/>
          <a:ln w="25400">
            <a:solidFill>
              <a:srgbClr val="DCE5F0"/>
            </a:solidFill>
            <a:prstDash val="solid"/>
            <a:headEnd type="none"/>
            <a:tailEnd type="none"/>
          </a:ln>
        </p:spPr>
      </p:sp>
      <p:sp>
        <p:nvSpPr>
          <p:cNvPr id="24" name="Shape 22"/>
          <p:cNvSpPr/>
          <p:nvPr/>
        </p:nvSpPr>
        <p:spPr>
          <a:xfrm>
            <a:off x="685800" y="4739640"/>
            <a:ext cx="4876800" cy="518160"/>
          </a:xfrm>
          <a:prstGeom prst="roundRect">
            <a:avLst>
              <a:gd name="adj" fmla="val 21176"/>
            </a:avLst>
          </a:prstGeom>
          <a:solidFill>
            <a:srgbClr val="EAF0F6"/>
          </a:solidFill>
          <a:ln w="6350">
            <a:solidFill>
              <a:srgbClr val="EAF0F6">
                <a:alpha val="0"/>
              </a:srgbClr>
            </a:solidFill>
            <a:prstDash val="solid"/>
          </a:ln>
        </p:spPr>
      </p:sp>
      <p:sp>
        <p:nvSpPr>
          <p:cNvPr id="25" name="Shape 23"/>
          <p:cNvSpPr/>
          <p:nvPr/>
        </p:nvSpPr>
        <p:spPr>
          <a:xfrm>
            <a:off x="891540" y="4869180"/>
            <a:ext cx="76200" cy="76200"/>
          </a:xfrm>
          <a:prstGeom prst="ellipse">
            <a:avLst/>
          </a:prstGeom>
          <a:solidFill>
            <a:srgbClr val="344258"/>
          </a:solidFill>
          <a:ln w="12700">
            <a:solidFill>
              <a:srgbClr val="333333">
                <a:alpha val="0"/>
              </a:srgbClr>
            </a:solidFill>
            <a:prstDash val="solid"/>
          </a:ln>
        </p:spPr>
      </p:sp>
      <p:sp>
        <p:nvSpPr>
          <p:cNvPr id="26" name="Text 24"/>
          <p:cNvSpPr txBox="1"/>
          <p:nvPr/>
        </p:nvSpPr>
        <p:spPr>
          <a:xfrm>
            <a:off x="1104900" y="4785360"/>
            <a:ext cx="1752600" cy="198120"/>
          </a:xfrm>
          <a:prstGeom prst="rect">
            <a:avLst/>
          </a:prstGeom>
          <a:noFill/>
          <a:ln/>
        </p:spPr>
        <p:txBody>
          <a:bodyPr wrap="square" lIns="0" tIns="0" rIns="0" bIns="0" rtlCol="0" anchor="ctr">
            <a:normAutofit/>
          </a:bodyPr>
          <a:lstStyle/>
          <a:p>
            <a:pPr algn="l" indent="0" marL="0">
              <a:buNone/>
            </a:pPr>
            <a:r>
              <a:rPr lang="en-US" sz="720" b="1" spc="120" kern="0" dirty="0">
                <a:solidFill>
                  <a:srgbClr val="344258"/>
                </a:solidFill>
                <a:latin typeface="Aptos" pitchFamily="34" charset="0"/>
                <a:ea typeface="Aptos" pitchFamily="34" charset="-122"/>
                <a:cs typeface="Aptos" pitchFamily="34" charset="-120"/>
              </a:rPr>
              <a:t>DECISION MEMO</a:t>
            </a:r>
            <a:endParaRPr lang="en-US" sz="720" dirty="0"/>
          </a:p>
        </p:txBody>
      </p:sp>
      <p:sp>
        <p:nvSpPr>
          <p:cNvPr id="27" name="Text 25"/>
          <p:cNvSpPr txBox="1"/>
          <p:nvPr/>
        </p:nvSpPr>
        <p:spPr>
          <a:xfrm>
            <a:off x="2895600" y="4800600"/>
            <a:ext cx="2400300" cy="190500"/>
          </a:xfrm>
          <a:prstGeom prst="rect">
            <a:avLst/>
          </a:prstGeom>
          <a:noFill/>
          <a:ln/>
        </p:spPr>
        <p:txBody>
          <a:bodyPr wrap="square" lIns="0" tIns="0" rIns="0" bIns="0" rtlCol="0" anchor="ctr">
            <a:normAutofit/>
          </a:bodyPr>
          <a:lstStyle/>
          <a:p>
            <a:pPr algn="r" indent="0" marL="0">
              <a:buNone/>
            </a:pPr>
            <a:r>
              <a:rPr lang="en-US" sz="780" b="1" dirty="0">
                <a:solidFill>
                  <a:srgbClr val="344258"/>
                </a:solidFill>
                <a:latin typeface="Aptos" pitchFamily="34" charset="0"/>
                <a:ea typeface="Aptos" pitchFamily="34" charset="-122"/>
                <a:cs typeface="Aptos" pitchFamily="34" charset="-120"/>
              </a:rPr>
              <a:t>Investor conclusion with a complete audit trail</a:t>
            </a:r>
            <a:endParaRPr lang="en-US" sz="780" dirty="0"/>
          </a:p>
        </p:txBody>
      </p:sp>
      <p:sp>
        <p:nvSpPr>
          <p:cNvPr id="28" name="Shape 26"/>
          <p:cNvSpPr/>
          <p:nvPr/>
        </p:nvSpPr>
        <p:spPr>
          <a:xfrm>
            <a:off x="6248400" y="1981200"/>
            <a:ext cx="5257800" cy="3962400"/>
          </a:xfrm>
          <a:prstGeom prst="roundRect">
            <a:avLst>
              <a:gd name="adj" fmla="val 4154"/>
            </a:avLst>
          </a:prstGeom>
          <a:solidFill>
            <a:srgbClr val="FFFFFF"/>
          </a:solidFill>
          <a:ln w="6350">
            <a:solidFill>
              <a:srgbClr val="FFFFFF">
                <a:alpha val="0"/>
              </a:srgbClr>
            </a:solidFill>
            <a:prstDash val="solid"/>
          </a:ln>
          <a:effectLst>
            <a:outerShdw sx="100000" sy="100000" kx="0" ky="0" algn="bl" rotWithShape="0" blurRad="1.3535046848203775e+33" dist="2.707009369640755e+33" dir="7.558272e+39">
              <a:srgbClr val="405875">
                <a:alpha val="1.1999999999999999e+39"/>
              </a:srgbClr>
            </a:outerShdw>
          </a:effectLst>
        </p:spPr>
      </p:sp>
      <p:sp>
        <p:nvSpPr>
          <p:cNvPr id="29" name="Text 27"/>
          <p:cNvSpPr txBox="1"/>
          <p:nvPr/>
        </p:nvSpPr>
        <p:spPr>
          <a:xfrm>
            <a:off x="6591300" y="2171700"/>
            <a:ext cx="2895600" cy="228600"/>
          </a:xfrm>
          <a:prstGeom prst="rect">
            <a:avLst/>
          </a:prstGeom>
          <a:noFill/>
          <a:ln/>
        </p:spPr>
        <p:txBody>
          <a:bodyPr wrap="square" lIns="0" tIns="0" rIns="0" bIns="0" rtlCol="0" anchor="ctr">
            <a:normAutofit/>
          </a:bodyPr>
          <a:lstStyle/>
          <a:p>
            <a:pPr algn="l" indent="0" marL="0">
              <a:buNone/>
            </a:pPr>
            <a:r>
              <a:rPr lang="en-US" sz="780" b="1" spc="170" kern="0" dirty="0">
                <a:solidFill>
                  <a:srgbClr val="557DC0"/>
                </a:solidFill>
                <a:latin typeface="Aptos" pitchFamily="34" charset="0"/>
                <a:ea typeface="Aptos" pitchFamily="34" charset="-122"/>
                <a:cs typeface="Aptos" pitchFamily="34" charset="-120"/>
              </a:rPr>
              <a:t>EXPLAINABILITY CONTRACT</a:t>
            </a:r>
            <a:endParaRPr lang="en-US" sz="780" dirty="0"/>
          </a:p>
        </p:txBody>
      </p:sp>
      <p:sp>
        <p:nvSpPr>
          <p:cNvPr id="30" name="Text 28"/>
          <p:cNvSpPr txBox="1"/>
          <p:nvPr/>
        </p:nvSpPr>
        <p:spPr>
          <a:xfrm>
            <a:off x="6591300" y="2552700"/>
            <a:ext cx="3962400" cy="685800"/>
          </a:xfrm>
          <a:prstGeom prst="rect">
            <a:avLst/>
          </a:prstGeom>
          <a:noFill/>
          <a:ln/>
        </p:spPr>
        <p:txBody>
          <a:bodyPr wrap="square" lIns="0" tIns="0" rIns="0" bIns="0" rtlCol="0" anchor="t">
            <a:normAutofit/>
          </a:bodyPr>
          <a:lstStyle/>
          <a:p>
            <a:pPr algn="l" indent="0" marL="0">
              <a:buNone/>
            </a:pPr>
            <a:r>
              <a:rPr lang="en-US" sz="2280" b="1" dirty="0">
                <a:solidFill>
                  <a:srgbClr val="172337"/>
                </a:solidFill>
                <a:latin typeface="Aptos Display" pitchFamily="34" charset="0"/>
                <a:ea typeface="Aptos Display" pitchFamily="34" charset="-122"/>
                <a:cs typeface="Aptos Display" pitchFamily="34" charset="-120"/>
              </a:rPr>
              <a:t>Every claim answers</a:t>
            </a:r>
            <a:endParaRPr lang="en-US" sz="2280" dirty="0"/>
          </a:p>
          <a:p>
            <a:pPr algn="l" indent="0" marL="0">
              <a:buNone/>
            </a:pPr>
            <a:r>
              <a:rPr lang="en-US" sz="2280" b="1" dirty="0">
                <a:solidFill>
                  <a:srgbClr val="172337"/>
                </a:solidFill>
                <a:latin typeface="Aptos Display" pitchFamily="34" charset="0"/>
                <a:ea typeface="Aptos Display" pitchFamily="34" charset="-122"/>
                <a:cs typeface="Aptos Display" pitchFamily="34" charset="-120"/>
              </a:rPr>
              <a:t>four questions.</a:t>
            </a:r>
            <a:endParaRPr lang="en-US" sz="2280" dirty="0"/>
          </a:p>
        </p:txBody>
      </p:sp>
      <p:sp>
        <p:nvSpPr>
          <p:cNvPr id="31" name="Text 29"/>
          <p:cNvSpPr txBox="1"/>
          <p:nvPr/>
        </p:nvSpPr>
        <p:spPr>
          <a:xfrm>
            <a:off x="6591300" y="3581400"/>
            <a:ext cx="266700" cy="213360"/>
          </a:xfrm>
          <a:prstGeom prst="rect">
            <a:avLst/>
          </a:prstGeom>
          <a:noFill/>
          <a:ln/>
        </p:spPr>
        <p:txBody>
          <a:bodyPr wrap="square" lIns="0" tIns="0" rIns="0" bIns="0" rtlCol="0" anchor="ctr">
            <a:normAutofit/>
          </a:bodyPr>
          <a:lstStyle/>
          <a:p>
            <a:pPr algn="l" indent="0" marL="0">
              <a:buNone/>
            </a:pPr>
            <a:r>
              <a:rPr lang="en-US" sz="840" b="1" dirty="0">
                <a:solidFill>
                  <a:srgbClr val="557DC0"/>
                </a:solidFill>
                <a:latin typeface="Aptos" pitchFamily="34" charset="0"/>
                <a:ea typeface="Aptos" pitchFamily="34" charset="-122"/>
                <a:cs typeface="Aptos" pitchFamily="34" charset="-120"/>
              </a:rPr>
              <a:t>01</a:t>
            </a:r>
            <a:endParaRPr lang="en-US" sz="840" dirty="0"/>
          </a:p>
        </p:txBody>
      </p:sp>
      <p:sp>
        <p:nvSpPr>
          <p:cNvPr id="32" name="Text 30"/>
          <p:cNvSpPr txBox="1"/>
          <p:nvPr/>
        </p:nvSpPr>
        <p:spPr>
          <a:xfrm>
            <a:off x="6972300" y="3581400"/>
            <a:ext cx="3657600" cy="213360"/>
          </a:xfrm>
          <a:prstGeom prst="rect">
            <a:avLst/>
          </a:prstGeom>
          <a:noFill/>
          <a:ln/>
        </p:spPr>
        <p:txBody>
          <a:bodyPr wrap="square" lIns="0" tIns="0" rIns="0" bIns="0" rtlCol="0" anchor="ctr">
            <a:normAutofit/>
          </a:bodyPr>
          <a:lstStyle/>
          <a:p>
            <a:pPr algn="l" indent="0" marL="0">
              <a:buNone/>
            </a:pPr>
            <a:r>
              <a:rPr lang="en-US" sz="1080" b="1" dirty="0">
                <a:solidFill>
                  <a:srgbClr val="344258"/>
                </a:solidFill>
                <a:latin typeface="Aptos" pitchFamily="34" charset="0"/>
                <a:ea typeface="Aptos" pitchFamily="34" charset="-122"/>
                <a:cs typeface="Aptos" pitchFamily="34" charset="-120"/>
              </a:rPr>
              <a:t>Where did it come from?</a:t>
            </a:r>
            <a:endParaRPr lang="en-US" sz="1080" dirty="0"/>
          </a:p>
        </p:txBody>
      </p:sp>
      <p:sp>
        <p:nvSpPr>
          <p:cNvPr id="33" name="Text 31"/>
          <p:cNvSpPr txBox="1"/>
          <p:nvPr/>
        </p:nvSpPr>
        <p:spPr>
          <a:xfrm>
            <a:off x="6591300" y="4023360"/>
            <a:ext cx="266700" cy="213360"/>
          </a:xfrm>
          <a:prstGeom prst="rect">
            <a:avLst/>
          </a:prstGeom>
          <a:noFill/>
          <a:ln/>
        </p:spPr>
        <p:txBody>
          <a:bodyPr wrap="square" lIns="0" tIns="0" rIns="0" bIns="0" rtlCol="0" anchor="ctr">
            <a:normAutofit/>
          </a:bodyPr>
          <a:lstStyle/>
          <a:p>
            <a:pPr algn="l" indent="0" marL="0">
              <a:buNone/>
            </a:pPr>
            <a:r>
              <a:rPr lang="en-US" sz="840" b="1" dirty="0">
                <a:solidFill>
                  <a:srgbClr val="7656A5"/>
                </a:solidFill>
                <a:latin typeface="Aptos" pitchFamily="34" charset="0"/>
                <a:ea typeface="Aptos" pitchFamily="34" charset="-122"/>
                <a:cs typeface="Aptos" pitchFamily="34" charset="-120"/>
              </a:rPr>
              <a:t>02</a:t>
            </a:r>
            <a:endParaRPr lang="en-US" sz="840" dirty="0"/>
          </a:p>
        </p:txBody>
      </p:sp>
      <p:sp>
        <p:nvSpPr>
          <p:cNvPr id="34" name="Text 32"/>
          <p:cNvSpPr txBox="1"/>
          <p:nvPr/>
        </p:nvSpPr>
        <p:spPr>
          <a:xfrm>
            <a:off x="6972300" y="4023360"/>
            <a:ext cx="3657600" cy="213360"/>
          </a:xfrm>
          <a:prstGeom prst="rect">
            <a:avLst/>
          </a:prstGeom>
          <a:noFill/>
          <a:ln/>
        </p:spPr>
        <p:txBody>
          <a:bodyPr wrap="square" lIns="0" tIns="0" rIns="0" bIns="0" rtlCol="0" anchor="ctr">
            <a:normAutofit/>
          </a:bodyPr>
          <a:lstStyle/>
          <a:p>
            <a:pPr algn="l" indent="0" marL="0">
              <a:buNone/>
            </a:pPr>
            <a:r>
              <a:rPr lang="en-US" sz="1080" b="1" dirty="0">
                <a:solidFill>
                  <a:srgbClr val="344258"/>
                </a:solidFill>
                <a:latin typeface="Aptos" pitchFamily="34" charset="0"/>
                <a:ea typeface="Aptos" pitchFamily="34" charset="-122"/>
                <a:cs typeface="Aptos" pitchFamily="34" charset="-120"/>
              </a:rPr>
              <a:t>When was it observed?</a:t>
            </a:r>
            <a:endParaRPr lang="en-US" sz="1080" dirty="0"/>
          </a:p>
        </p:txBody>
      </p:sp>
      <p:sp>
        <p:nvSpPr>
          <p:cNvPr id="35" name="Text 33"/>
          <p:cNvSpPr txBox="1"/>
          <p:nvPr/>
        </p:nvSpPr>
        <p:spPr>
          <a:xfrm>
            <a:off x="6591300" y="4465320"/>
            <a:ext cx="266700" cy="213360"/>
          </a:xfrm>
          <a:prstGeom prst="rect">
            <a:avLst/>
          </a:prstGeom>
          <a:noFill/>
          <a:ln/>
        </p:spPr>
        <p:txBody>
          <a:bodyPr wrap="square" lIns="0" tIns="0" rIns="0" bIns="0" rtlCol="0" anchor="ctr">
            <a:normAutofit/>
          </a:bodyPr>
          <a:lstStyle/>
          <a:p>
            <a:pPr algn="l" indent="0" marL="0">
              <a:buNone/>
            </a:pPr>
            <a:r>
              <a:rPr lang="en-US" sz="840" b="1" dirty="0">
                <a:solidFill>
                  <a:srgbClr val="B87932"/>
                </a:solidFill>
                <a:latin typeface="Aptos" pitchFamily="34" charset="0"/>
                <a:ea typeface="Aptos" pitchFamily="34" charset="-122"/>
                <a:cs typeface="Aptos" pitchFamily="34" charset="-120"/>
              </a:rPr>
              <a:t>03</a:t>
            </a:r>
            <a:endParaRPr lang="en-US" sz="840" dirty="0"/>
          </a:p>
        </p:txBody>
      </p:sp>
      <p:sp>
        <p:nvSpPr>
          <p:cNvPr id="36" name="Text 34"/>
          <p:cNvSpPr txBox="1"/>
          <p:nvPr/>
        </p:nvSpPr>
        <p:spPr>
          <a:xfrm>
            <a:off x="6972300" y="4465320"/>
            <a:ext cx="3657600" cy="213360"/>
          </a:xfrm>
          <a:prstGeom prst="rect">
            <a:avLst/>
          </a:prstGeom>
          <a:noFill/>
          <a:ln/>
        </p:spPr>
        <p:txBody>
          <a:bodyPr wrap="square" lIns="0" tIns="0" rIns="0" bIns="0" rtlCol="0" anchor="ctr">
            <a:normAutofit/>
          </a:bodyPr>
          <a:lstStyle/>
          <a:p>
            <a:pPr algn="l" indent="0" marL="0">
              <a:buNone/>
            </a:pPr>
            <a:r>
              <a:rPr lang="en-US" sz="1080" b="1" dirty="0">
                <a:solidFill>
                  <a:srgbClr val="344258"/>
                </a:solidFill>
                <a:latin typeface="Aptos" pitchFamily="34" charset="0"/>
                <a:ea typeface="Aptos" pitchFamily="34" charset="-122"/>
                <a:cs typeface="Aptos" pitchFamily="34" charset="-120"/>
              </a:rPr>
              <a:t>How confident are we?</a:t>
            </a:r>
            <a:endParaRPr lang="en-US" sz="1080" dirty="0"/>
          </a:p>
        </p:txBody>
      </p:sp>
      <p:sp>
        <p:nvSpPr>
          <p:cNvPr id="37" name="Text 35"/>
          <p:cNvSpPr txBox="1"/>
          <p:nvPr/>
        </p:nvSpPr>
        <p:spPr>
          <a:xfrm>
            <a:off x="6591300" y="4907280"/>
            <a:ext cx="266700" cy="213360"/>
          </a:xfrm>
          <a:prstGeom prst="rect">
            <a:avLst/>
          </a:prstGeom>
          <a:noFill/>
          <a:ln/>
        </p:spPr>
        <p:txBody>
          <a:bodyPr wrap="square" lIns="0" tIns="0" rIns="0" bIns="0" rtlCol="0" anchor="ctr">
            <a:normAutofit/>
          </a:bodyPr>
          <a:lstStyle/>
          <a:p>
            <a:pPr algn="l" indent="0" marL="0">
              <a:buNone/>
            </a:pPr>
            <a:r>
              <a:rPr lang="en-US" sz="840" b="1" dirty="0">
                <a:solidFill>
                  <a:srgbClr val="2F8B72"/>
                </a:solidFill>
                <a:latin typeface="Aptos" pitchFamily="34" charset="0"/>
                <a:ea typeface="Aptos" pitchFamily="34" charset="-122"/>
                <a:cs typeface="Aptos" pitchFamily="34" charset="-120"/>
              </a:rPr>
              <a:t>04</a:t>
            </a:r>
            <a:endParaRPr lang="en-US" sz="840" dirty="0"/>
          </a:p>
        </p:txBody>
      </p:sp>
      <p:sp>
        <p:nvSpPr>
          <p:cNvPr id="38" name="Text 36"/>
          <p:cNvSpPr txBox="1"/>
          <p:nvPr/>
        </p:nvSpPr>
        <p:spPr>
          <a:xfrm>
            <a:off x="6972300" y="4907280"/>
            <a:ext cx="3657600" cy="213360"/>
          </a:xfrm>
          <a:prstGeom prst="rect">
            <a:avLst/>
          </a:prstGeom>
          <a:noFill/>
          <a:ln/>
        </p:spPr>
        <p:txBody>
          <a:bodyPr wrap="square" lIns="0" tIns="0" rIns="0" bIns="0" rtlCol="0" anchor="ctr">
            <a:normAutofit/>
          </a:bodyPr>
          <a:lstStyle/>
          <a:p>
            <a:pPr algn="l" indent="0" marL="0">
              <a:buNone/>
            </a:pPr>
            <a:r>
              <a:rPr lang="en-US" sz="1080" b="1" dirty="0">
                <a:solidFill>
                  <a:srgbClr val="344258"/>
                </a:solidFill>
                <a:latin typeface="Aptos" pitchFamily="34" charset="0"/>
                <a:ea typeface="Aptos" pitchFamily="34" charset="-122"/>
                <a:cs typeface="Aptos" pitchFamily="34" charset="-120"/>
              </a:rPr>
              <a:t>What contradicts it?</a:t>
            </a:r>
            <a:endParaRPr lang="en-US" sz="1080" dirty="0"/>
          </a:p>
        </p:txBody>
      </p:sp>
      <p:sp>
        <p:nvSpPr>
          <p:cNvPr id="39" name="Shape 37"/>
          <p:cNvSpPr/>
          <p:nvPr/>
        </p:nvSpPr>
        <p:spPr>
          <a:xfrm>
            <a:off x="6591300" y="5471160"/>
            <a:ext cx="2133600" cy="266700"/>
          </a:xfrm>
          <a:prstGeom prst="roundRect">
            <a:avLst>
              <a:gd name="adj" fmla="val 54857"/>
            </a:avLst>
          </a:prstGeom>
          <a:solidFill>
            <a:srgbClr val="E7EEF9"/>
          </a:solidFill>
          <a:ln w="6350">
            <a:solidFill>
              <a:srgbClr val="E7EEF9">
                <a:alpha val="0"/>
              </a:srgbClr>
            </a:solidFill>
            <a:prstDash val="solid"/>
          </a:ln>
        </p:spPr>
      </p:sp>
      <p:sp>
        <p:nvSpPr>
          <p:cNvPr id="40" name="Text 38"/>
          <p:cNvSpPr txBox="1"/>
          <p:nvPr/>
        </p:nvSpPr>
        <p:spPr>
          <a:xfrm>
            <a:off x="6667500" y="5494020"/>
            <a:ext cx="1981200" cy="220980"/>
          </a:xfrm>
          <a:prstGeom prst="rect">
            <a:avLst/>
          </a:prstGeom>
          <a:noFill/>
          <a:ln/>
        </p:spPr>
        <p:txBody>
          <a:bodyPr wrap="square" lIns="0" tIns="0" rIns="0" bIns="0" rtlCol="0" anchor="ctr">
            <a:normAutofit/>
          </a:bodyPr>
          <a:lstStyle/>
          <a:p>
            <a:pPr algn="ctr" indent="0" marL="0">
              <a:buNone/>
            </a:pPr>
            <a:r>
              <a:rPr lang="en-US" sz="600" b="1" spc="30" kern="0" dirty="0">
                <a:solidFill>
                  <a:srgbClr val="557DC0"/>
                </a:solidFill>
                <a:latin typeface="Aptos" pitchFamily="34" charset="0"/>
                <a:ea typeface="Aptos" pitchFamily="34" charset="-122"/>
                <a:cs typeface="Aptos" pitchFamily="34" charset="-120"/>
              </a:rPr>
              <a:t>CLICK SCORE → SOURCE</a:t>
            </a:r>
            <a:endParaRPr lang="en-US" sz="600" dirty="0"/>
          </a:p>
        </p:txBody>
      </p:sp>
      <p:sp>
        <p:nvSpPr>
          <p:cNvPr id="41" name="Shape 39"/>
          <p:cNvSpPr/>
          <p:nvPr/>
        </p:nvSpPr>
        <p:spPr>
          <a:xfrm>
            <a:off x="8839200" y="5471160"/>
            <a:ext cx="2324100" cy="266700"/>
          </a:xfrm>
          <a:prstGeom prst="roundRect">
            <a:avLst>
              <a:gd name="adj" fmla="val 54857"/>
            </a:avLst>
          </a:prstGeom>
          <a:solidFill>
            <a:srgbClr val="FBE8E9"/>
          </a:solidFill>
          <a:ln w="6350">
            <a:solidFill>
              <a:srgbClr val="FBE8E9">
                <a:alpha val="0"/>
              </a:srgbClr>
            </a:solidFill>
            <a:prstDash val="solid"/>
          </a:ln>
        </p:spPr>
      </p:sp>
      <p:sp>
        <p:nvSpPr>
          <p:cNvPr id="42" name="Text 40"/>
          <p:cNvSpPr txBox="1"/>
          <p:nvPr/>
        </p:nvSpPr>
        <p:spPr>
          <a:xfrm>
            <a:off x="8915400" y="5494020"/>
            <a:ext cx="2171700" cy="220980"/>
          </a:xfrm>
          <a:prstGeom prst="rect">
            <a:avLst/>
          </a:prstGeom>
          <a:noFill/>
          <a:ln/>
        </p:spPr>
        <p:txBody>
          <a:bodyPr wrap="square" lIns="0" tIns="0" rIns="0" bIns="0" rtlCol="0" anchor="ctr">
            <a:normAutofit/>
          </a:bodyPr>
          <a:lstStyle/>
          <a:p>
            <a:pPr algn="ctr" indent="0" marL="0">
              <a:buNone/>
            </a:pPr>
            <a:r>
              <a:rPr lang="en-US" sz="600" b="1" spc="30" kern="0" dirty="0">
                <a:solidFill>
                  <a:srgbClr val="B9575F"/>
                </a:solidFill>
                <a:latin typeface="Aptos" pitchFamily="34" charset="0"/>
                <a:ea typeface="Aptos" pitchFamily="34" charset="-122"/>
                <a:cs typeface="Aptos" pitchFamily="34" charset="-120"/>
              </a:rPr>
              <a:t>MISSING DATA ≠ BAD FOUNDER</a:t>
            </a:r>
            <a:endParaRPr lang="en-US" sz="600" dirty="0"/>
          </a:p>
        </p:txBody>
      </p:sp>
      <p:sp>
        <p:nvSpPr>
          <p:cNvPr id="43" name="Text 41"/>
          <p:cNvSpPr/>
          <p:nvPr/>
        </p:nvSpPr>
        <p:spPr>
          <a:xfrm>
            <a:off x="685800" y="6210300"/>
            <a:ext cx="1371600" cy="243840"/>
          </a:xfrm>
          <a:prstGeom prst="rect">
            <a:avLst/>
          </a:prstGeom>
          <a:noFill/>
          <a:ln/>
        </p:spPr>
        <p:txBody>
          <a:bodyPr wrap="square" lIns="0" tIns="0" rIns="0" bIns="0" rtlCol="0" anchor="ctr">
            <a:normAutofit/>
          </a:bodyPr>
          <a:lstStyle/>
          <a:p>
            <a:pPr indent="0" marL="0">
              <a:buNone/>
            </a:pPr>
            <a:r>
              <a:rPr lang="en-US" sz="1400" b="1" dirty="0">
                <a:solidFill>
                  <a:srgbClr val="172337"/>
                </a:solidFill>
                <a:latin typeface="Aptos Display" pitchFamily="34" charset="0"/>
                <a:ea typeface="Aptos Display" pitchFamily="34" charset="-122"/>
                <a:cs typeface="Aptos Display" pitchFamily="34" charset="-120"/>
              </a:rPr>
              <a:t>FirstCheck</a:t>
            </a:r>
            <a:pPr indent="0" marL="0">
              <a:buNone/>
            </a:pPr>
            <a:r>
              <a:rPr lang="en-US" sz="1200" b="1" dirty="0">
                <a:solidFill>
                  <a:srgbClr val="557DC0"/>
                </a:solidFill>
                <a:latin typeface="Aptos Display" pitchFamily="34" charset="0"/>
                <a:ea typeface="Aptos Display" pitchFamily="34" charset="-122"/>
                <a:cs typeface="Aptos Display" pitchFamily="34" charset="-120"/>
              </a:rPr>
              <a:t>24</a:t>
            </a:r>
            <a:endParaRPr lang="en-US" sz="1400" dirty="0"/>
          </a:p>
        </p:txBody>
      </p:sp>
      <p:sp>
        <p:nvSpPr>
          <p:cNvPr id="44" name="Text 42"/>
          <p:cNvSpPr txBox="1"/>
          <p:nvPr/>
        </p:nvSpPr>
        <p:spPr>
          <a:xfrm>
            <a:off x="11125200" y="6248400"/>
            <a:ext cx="381000" cy="152400"/>
          </a:xfrm>
          <a:prstGeom prst="rect">
            <a:avLst/>
          </a:prstGeom>
          <a:noFill/>
          <a:ln/>
        </p:spPr>
        <p:txBody>
          <a:bodyPr wrap="square" lIns="0" tIns="0" rIns="0" bIns="0" rtlCol="0" anchor="ctr">
            <a:normAutofit/>
          </a:bodyPr>
          <a:lstStyle/>
          <a:p>
            <a:pPr algn="r" indent="0" marL="0">
              <a:buNone/>
            </a:pPr>
            <a:r>
              <a:rPr lang="en-US" sz="780" b="1" spc="200" kern="0" dirty="0">
                <a:solidFill>
                  <a:srgbClr val="94A3B8"/>
                </a:solidFill>
                <a:latin typeface="Aptos" pitchFamily="34" charset="0"/>
                <a:ea typeface="Aptos" pitchFamily="34" charset="-122"/>
                <a:cs typeface="Aptos" pitchFamily="34" charset="-120"/>
              </a:rPr>
              <a:t>05</a:t>
            </a:r>
            <a:endParaRPr lang="en-US" sz="78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6FB"/>
        </a:solidFill>
      </p:bgPr>
    </p:bg>
    <p:spTree>
      <p:nvGrpSpPr>
        <p:cNvPr id="1" name=""/>
        <p:cNvGrpSpPr/>
        <p:nvPr/>
      </p:nvGrpSpPr>
      <p:grpSpPr>
        <a:xfrm>
          <a:off x="0" y="0"/>
          <a:ext cx="0" cy="0"/>
          <a:chOff x="0" y="0"/>
          <a:chExt cx="0" cy="0"/>
        </a:xfrm>
      </p:grpSpPr>
      <p:sp>
        <p:nvSpPr>
          <p:cNvPr id="2" name="Text 0"/>
          <p:cNvSpPr txBox="1"/>
          <p:nvPr/>
        </p:nvSpPr>
        <p:spPr>
          <a:xfrm>
            <a:off x="685800" y="548640"/>
            <a:ext cx="5791200" cy="213360"/>
          </a:xfrm>
          <a:prstGeom prst="rect">
            <a:avLst/>
          </a:prstGeom>
          <a:noFill/>
          <a:ln/>
        </p:spPr>
        <p:txBody>
          <a:bodyPr wrap="square" lIns="0" tIns="0" rIns="0" bIns="0" rtlCol="0" anchor="ctr">
            <a:normAutofit/>
          </a:bodyPr>
          <a:lstStyle/>
          <a:p>
            <a:pPr algn="l" indent="0" marL="0">
              <a:buNone/>
            </a:pPr>
            <a:r>
              <a:rPr lang="en-US" sz="900" b="1" spc="240" kern="0" dirty="0">
                <a:solidFill>
                  <a:srgbClr val="557DC0"/>
                </a:solidFill>
                <a:latin typeface="Aptos" pitchFamily="34" charset="0"/>
                <a:ea typeface="Aptos" pitchFamily="34" charset="-122"/>
                <a:cs typeface="Aptos" pitchFamily="34" charset="-120"/>
              </a:rPr>
              <a:t>EXPLAINABILITY, NOT A BLACK BOX</a:t>
            </a:r>
            <a:endParaRPr lang="en-US" sz="900" dirty="0"/>
          </a:p>
        </p:txBody>
      </p:sp>
      <p:sp>
        <p:nvSpPr>
          <p:cNvPr id="3" name="Text 1"/>
          <p:cNvSpPr txBox="1"/>
          <p:nvPr/>
        </p:nvSpPr>
        <p:spPr>
          <a:xfrm>
            <a:off x="685800" y="800100"/>
            <a:ext cx="5791200" cy="792480"/>
          </a:xfrm>
          <a:prstGeom prst="rect">
            <a:avLst/>
          </a:prstGeom>
          <a:noFill/>
          <a:ln/>
        </p:spPr>
        <p:txBody>
          <a:bodyPr wrap="square" lIns="0" tIns="0" rIns="0" bIns="0" rtlCol="0" anchor="t">
            <a:normAutofit/>
          </a:bodyPr>
          <a:lstStyle/>
          <a:p>
            <a:pPr algn="l" indent="0" marL="0">
              <a:buNone/>
            </a:pPr>
            <a:r>
              <a:rPr lang="en-US" sz="3000" b="1" dirty="0">
                <a:solidFill>
                  <a:srgbClr val="172337"/>
                </a:solidFill>
                <a:latin typeface="Aptos Display" pitchFamily="34" charset="0"/>
                <a:ea typeface="Aptos Display" pitchFamily="34" charset="-122"/>
                <a:cs typeface="Aptos Display" pitchFamily="34" charset="-120"/>
              </a:rPr>
              <a:t>A score is not</a:t>
            </a:r>
            <a:endParaRPr lang="en-US" sz="3000" dirty="0"/>
          </a:p>
          <a:p>
            <a:pPr algn="l" indent="0" marL="0">
              <a:buNone/>
            </a:pPr>
            <a:r>
              <a:rPr lang="en-US" sz="3000" b="1" dirty="0">
                <a:solidFill>
                  <a:srgbClr val="172337"/>
                </a:solidFill>
                <a:latin typeface="Aptos Display" pitchFamily="34" charset="0"/>
                <a:ea typeface="Aptos Display" pitchFamily="34" charset="-122"/>
                <a:cs typeface="Aptos Display" pitchFamily="34" charset="-120"/>
              </a:rPr>
              <a:t>an answer.</a:t>
            </a:r>
            <a:endParaRPr lang="en-US" sz="3000" dirty="0"/>
          </a:p>
        </p:txBody>
      </p:sp>
      <p:sp>
        <p:nvSpPr>
          <p:cNvPr id="4" name="Text 2"/>
          <p:cNvSpPr txBox="1"/>
          <p:nvPr/>
        </p:nvSpPr>
        <p:spPr>
          <a:xfrm>
            <a:off x="685800" y="1722120"/>
            <a:ext cx="7010400" cy="243840"/>
          </a:xfrm>
          <a:prstGeom prst="rect">
            <a:avLst/>
          </a:prstGeom>
          <a:noFill/>
          <a:ln/>
        </p:spPr>
        <p:txBody>
          <a:bodyPr wrap="square" lIns="0" tIns="0" rIns="0" bIns="0" rtlCol="0" anchor="t">
            <a:normAutofit/>
          </a:bodyPr>
          <a:lstStyle/>
          <a:p>
            <a:pPr algn="l" indent="0" marL="0">
              <a:buNone/>
            </a:pPr>
            <a:r>
              <a:rPr lang="en-US" sz="1200" dirty="0">
                <a:solidFill>
                  <a:srgbClr val="718097"/>
                </a:solidFill>
                <a:latin typeface="Aptos" pitchFamily="34" charset="0"/>
                <a:ea typeface="Aptos" pitchFamily="34" charset="-122"/>
                <a:cs typeface="Aptos" pitchFamily="34" charset="-120"/>
              </a:rPr>
              <a:t>Three independent axes preserve disagreement — each with evidence, confidence and trend.</a:t>
            </a:r>
            <a:endParaRPr lang="en-US" sz="1200" dirty="0"/>
          </a:p>
        </p:txBody>
      </p:sp>
      <p:sp>
        <p:nvSpPr>
          <p:cNvPr id="5" name="Shape 3"/>
          <p:cNvSpPr/>
          <p:nvPr/>
        </p:nvSpPr>
        <p:spPr>
          <a:xfrm>
            <a:off x="685800" y="2286000"/>
            <a:ext cx="3390900" cy="3352800"/>
          </a:xfrm>
          <a:prstGeom prst="roundRect">
            <a:avLst>
              <a:gd name="adj" fmla="val 4909"/>
            </a:avLst>
          </a:prstGeom>
          <a:solidFill>
            <a:srgbClr val="FFFFFF"/>
          </a:solidFill>
          <a:ln w="6350">
            <a:solidFill>
              <a:srgbClr val="FFFFFF">
                <a:alpha val="0"/>
              </a:srgbClr>
            </a:solidFill>
            <a:prstDash val="solid"/>
          </a:ln>
          <a:effectLst>
            <a:outerShdw sx="100000" sy="100000" kx="0" ky="0" algn="bl" rotWithShape="0" blurRad="1.7189509497218795e+37" dist="3.437901899443759e+37" dir="4.5349632000000006e+44">
              <a:srgbClr val="405875">
                <a:alpha val="1.1999999999999999e+44"/>
              </a:srgbClr>
            </a:outerShdw>
          </a:effectLst>
        </p:spPr>
      </p:sp>
      <p:sp>
        <p:nvSpPr>
          <p:cNvPr id="6" name="Text 4"/>
          <p:cNvSpPr txBox="1"/>
          <p:nvPr/>
        </p:nvSpPr>
        <p:spPr>
          <a:xfrm>
            <a:off x="914400" y="2438400"/>
            <a:ext cx="1866900" cy="266700"/>
          </a:xfrm>
          <a:prstGeom prst="rect">
            <a:avLst/>
          </a:prstGeom>
          <a:noFill/>
          <a:ln/>
        </p:spPr>
        <p:txBody>
          <a:bodyPr wrap="square" lIns="0" tIns="0" rIns="0" bIns="0" rtlCol="0" anchor="ctr">
            <a:normAutofit/>
          </a:bodyPr>
          <a:lstStyle/>
          <a:p>
            <a:pPr algn="l" indent="0" marL="0">
              <a:buNone/>
            </a:pPr>
            <a:r>
              <a:rPr lang="en-US" sz="1320" b="1" dirty="0">
                <a:solidFill>
                  <a:srgbClr val="172337"/>
                </a:solidFill>
                <a:latin typeface="Aptos Display" pitchFamily="34" charset="0"/>
                <a:ea typeface="Aptos Display" pitchFamily="34" charset="-122"/>
                <a:cs typeface="Aptos Display" pitchFamily="34" charset="-120"/>
              </a:rPr>
              <a:t>Founder</a:t>
            </a:r>
            <a:endParaRPr lang="en-US" sz="1320" dirty="0"/>
          </a:p>
        </p:txBody>
      </p:sp>
      <p:sp>
        <p:nvSpPr>
          <p:cNvPr id="7" name="Text 5"/>
          <p:cNvSpPr txBox="1"/>
          <p:nvPr/>
        </p:nvSpPr>
        <p:spPr>
          <a:xfrm>
            <a:off x="3200400" y="2400300"/>
            <a:ext cx="533400" cy="365760"/>
          </a:xfrm>
          <a:prstGeom prst="rect">
            <a:avLst/>
          </a:prstGeom>
          <a:noFill/>
          <a:ln/>
        </p:spPr>
        <p:txBody>
          <a:bodyPr wrap="square" lIns="0" tIns="0" rIns="0" bIns="0" rtlCol="0" anchor="ctr">
            <a:normAutofit/>
          </a:bodyPr>
          <a:lstStyle/>
          <a:p>
            <a:pPr algn="r" indent="0" marL="0">
              <a:buNone/>
            </a:pPr>
            <a:r>
              <a:rPr lang="en-US" sz="2520" b="1" dirty="0">
                <a:solidFill>
                  <a:srgbClr val="2F8B72"/>
                </a:solidFill>
                <a:latin typeface="Aptos Display" pitchFamily="34" charset="0"/>
                <a:ea typeface="Aptos Display" pitchFamily="34" charset="-122"/>
                <a:cs typeface="Aptos Display" pitchFamily="34" charset="-120"/>
              </a:rPr>
              <a:t>82</a:t>
            </a:r>
            <a:endParaRPr lang="en-US" sz="2520" dirty="0"/>
          </a:p>
        </p:txBody>
      </p:sp>
      <p:sp>
        <p:nvSpPr>
          <p:cNvPr id="8" name="Shape 6"/>
          <p:cNvSpPr/>
          <p:nvPr/>
        </p:nvSpPr>
        <p:spPr>
          <a:xfrm>
            <a:off x="914400" y="2872740"/>
            <a:ext cx="952500" cy="266700"/>
          </a:xfrm>
          <a:prstGeom prst="roundRect">
            <a:avLst>
              <a:gd name="adj" fmla="val 54857"/>
            </a:avLst>
          </a:prstGeom>
          <a:solidFill>
            <a:srgbClr val="E4F2ED"/>
          </a:solidFill>
          <a:ln w="6350">
            <a:solidFill>
              <a:srgbClr val="E4F2ED">
                <a:alpha val="0"/>
              </a:srgbClr>
            </a:solidFill>
            <a:prstDash val="solid"/>
          </a:ln>
        </p:spPr>
      </p:sp>
      <p:sp>
        <p:nvSpPr>
          <p:cNvPr id="9" name="Text 7"/>
          <p:cNvSpPr txBox="1"/>
          <p:nvPr/>
        </p:nvSpPr>
        <p:spPr>
          <a:xfrm>
            <a:off x="990600" y="2895600"/>
            <a:ext cx="800100" cy="220980"/>
          </a:xfrm>
          <a:prstGeom prst="rect">
            <a:avLst/>
          </a:prstGeom>
          <a:noFill/>
          <a:ln/>
        </p:spPr>
        <p:txBody>
          <a:bodyPr wrap="square" lIns="0" tIns="0" rIns="0" bIns="0" rtlCol="0" anchor="ctr">
            <a:normAutofit/>
          </a:bodyPr>
          <a:lstStyle/>
          <a:p>
            <a:pPr algn="ctr" indent="0" marL="0">
              <a:buNone/>
            </a:pPr>
            <a:r>
              <a:rPr lang="en-US" sz="600" b="1" spc="30" kern="0" dirty="0">
                <a:solidFill>
                  <a:srgbClr val="2F8B72"/>
                </a:solidFill>
                <a:latin typeface="Aptos" pitchFamily="34" charset="0"/>
                <a:ea typeface="Aptos" pitchFamily="34" charset="-122"/>
                <a:cs typeface="Aptos" pitchFamily="34" charset="-120"/>
              </a:rPr>
              <a:t>BULLISH</a:t>
            </a:r>
            <a:endParaRPr lang="en-US" sz="600" dirty="0"/>
          </a:p>
        </p:txBody>
      </p:sp>
      <p:sp>
        <p:nvSpPr>
          <p:cNvPr id="10" name="Text 8"/>
          <p:cNvSpPr txBox="1"/>
          <p:nvPr/>
        </p:nvSpPr>
        <p:spPr>
          <a:xfrm>
            <a:off x="1996440" y="2895600"/>
            <a:ext cx="1143000" cy="213360"/>
          </a:xfrm>
          <a:prstGeom prst="rect">
            <a:avLst/>
          </a:prstGeom>
          <a:noFill/>
          <a:ln/>
        </p:spPr>
        <p:txBody>
          <a:bodyPr wrap="square" lIns="0" tIns="0" rIns="0" bIns="0" rtlCol="0" anchor="ctr">
            <a:normAutofit/>
          </a:bodyPr>
          <a:lstStyle/>
          <a:p>
            <a:pPr algn="l" indent="0" marL="0">
              <a:buNone/>
            </a:pPr>
            <a:r>
              <a:rPr lang="en-US" sz="780" b="1" dirty="0">
                <a:solidFill>
                  <a:srgbClr val="718097"/>
                </a:solidFill>
                <a:latin typeface="Aptos" pitchFamily="34" charset="0"/>
                <a:ea typeface="Aptos" pitchFamily="34" charset="-122"/>
                <a:cs typeface="Aptos" pitchFamily="34" charset="-120"/>
              </a:rPr>
              <a:t>Improving</a:t>
            </a:r>
            <a:endParaRPr lang="en-US" sz="780" dirty="0"/>
          </a:p>
        </p:txBody>
      </p:sp>
      <p:sp>
        <p:nvSpPr>
          <p:cNvPr id="11" name="Shape 9"/>
          <p:cNvSpPr/>
          <p:nvPr/>
        </p:nvSpPr>
        <p:spPr>
          <a:xfrm>
            <a:off x="914400" y="3467100"/>
            <a:ext cx="2933700" cy="60960"/>
          </a:xfrm>
          <a:prstGeom prst="roundRect">
            <a:avLst>
              <a:gd name="adj" fmla="val 75000"/>
            </a:avLst>
          </a:prstGeom>
          <a:solidFill>
            <a:srgbClr val="E4F2ED"/>
          </a:solidFill>
          <a:ln w="6350">
            <a:solidFill>
              <a:srgbClr val="E4F2ED">
                <a:alpha val="0"/>
              </a:srgbClr>
            </a:solidFill>
            <a:prstDash val="solid"/>
          </a:ln>
        </p:spPr>
      </p:sp>
      <p:sp>
        <p:nvSpPr>
          <p:cNvPr id="12" name="Shape 10"/>
          <p:cNvSpPr/>
          <p:nvPr/>
        </p:nvSpPr>
        <p:spPr>
          <a:xfrm>
            <a:off x="914400" y="3467100"/>
            <a:ext cx="2405634" cy="60960"/>
          </a:xfrm>
          <a:prstGeom prst="roundRect">
            <a:avLst>
              <a:gd name="adj" fmla="val 75000"/>
            </a:avLst>
          </a:prstGeom>
          <a:solidFill>
            <a:srgbClr val="2F8B72"/>
          </a:solidFill>
          <a:ln w="6350">
            <a:solidFill>
              <a:srgbClr val="2F8B72">
                <a:alpha val="0"/>
              </a:srgbClr>
            </a:solidFill>
            <a:prstDash val="solid"/>
          </a:ln>
        </p:spPr>
      </p:sp>
      <p:sp>
        <p:nvSpPr>
          <p:cNvPr id="13" name="Text 11"/>
          <p:cNvSpPr txBox="1"/>
          <p:nvPr/>
        </p:nvSpPr>
        <p:spPr>
          <a:xfrm>
            <a:off x="914400" y="3596640"/>
            <a:ext cx="1371600" cy="167640"/>
          </a:xfrm>
          <a:prstGeom prst="rect">
            <a:avLst/>
          </a:prstGeom>
          <a:noFill/>
          <a:ln/>
        </p:spPr>
        <p:txBody>
          <a:bodyPr wrap="square" lIns="0" tIns="0" rIns="0" bIns="0" rtlCol="0" anchor="ctr">
            <a:normAutofit/>
          </a:bodyPr>
          <a:lstStyle/>
          <a:p>
            <a:pPr algn="l" indent="0" marL="0">
              <a:buNone/>
            </a:pPr>
            <a:r>
              <a:rPr lang="en-US" sz="660" b="1" spc="130" kern="0" dirty="0">
                <a:solidFill>
                  <a:srgbClr val="94A3B8"/>
                </a:solidFill>
                <a:latin typeface="Aptos" pitchFamily="34" charset="0"/>
                <a:ea typeface="Aptos" pitchFamily="34" charset="-122"/>
                <a:cs typeface="Aptos" pitchFamily="34" charset="-120"/>
              </a:rPr>
              <a:t>AXIS SCORE</a:t>
            </a:r>
            <a:endParaRPr lang="en-US" sz="660" dirty="0"/>
          </a:p>
        </p:txBody>
      </p:sp>
      <p:sp>
        <p:nvSpPr>
          <p:cNvPr id="14" name="Shape 12"/>
          <p:cNvSpPr/>
          <p:nvPr/>
        </p:nvSpPr>
        <p:spPr>
          <a:xfrm>
            <a:off x="914400" y="4724400"/>
            <a:ext cx="2933700" cy="0"/>
          </a:xfrm>
          <a:prstGeom prst="line">
            <a:avLst/>
          </a:prstGeom>
          <a:noFill/>
          <a:ln w="10160">
            <a:solidFill>
              <a:srgbClr val="DCE5F0"/>
            </a:solidFill>
            <a:prstDash val="dash"/>
            <a:headEnd type="none"/>
            <a:tailEnd type="none"/>
          </a:ln>
        </p:spPr>
      </p:sp>
      <p:sp>
        <p:nvSpPr>
          <p:cNvPr id="15" name="Shape 13"/>
          <p:cNvSpPr/>
          <p:nvPr/>
        </p:nvSpPr>
        <p:spPr>
          <a:xfrm rot="-620921">
            <a:off x="946704" y="4397502"/>
            <a:ext cx="712633" cy="914"/>
          </a:xfrm>
          <a:prstGeom prst="line">
            <a:avLst/>
          </a:prstGeom>
          <a:noFill/>
          <a:ln w="31750">
            <a:solidFill>
              <a:srgbClr val="2F8B72"/>
            </a:solidFill>
            <a:prstDash val="solid"/>
            <a:headEnd type="none"/>
            <a:tailEnd type="none"/>
          </a:ln>
        </p:spPr>
      </p:sp>
      <p:sp>
        <p:nvSpPr>
          <p:cNvPr id="16" name="Shape 14"/>
          <p:cNvSpPr/>
          <p:nvPr/>
        </p:nvSpPr>
        <p:spPr>
          <a:xfrm rot="-390661">
            <a:off x="1651264" y="4293489"/>
            <a:ext cx="705591" cy="914"/>
          </a:xfrm>
          <a:prstGeom prst="line">
            <a:avLst/>
          </a:prstGeom>
          <a:noFill/>
          <a:ln w="31750">
            <a:solidFill>
              <a:srgbClr val="2F8B72"/>
            </a:solidFill>
            <a:prstDash val="solid"/>
            <a:headEnd type="none"/>
            <a:tailEnd type="none"/>
          </a:ln>
        </p:spPr>
      </p:sp>
      <p:sp>
        <p:nvSpPr>
          <p:cNvPr id="17" name="Shape 15"/>
          <p:cNvSpPr/>
          <p:nvPr/>
        </p:nvSpPr>
        <p:spPr>
          <a:xfrm rot="-845691">
            <a:off x="2343700" y="4165473"/>
            <a:ext cx="722801" cy="914"/>
          </a:xfrm>
          <a:prstGeom prst="line">
            <a:avLst/>
          </a:prstGeom>
          <a:noFill/>
          <a:ln w="31750">
            <a:solidFill>
              <a:srgbClr val="2F8B72"/>
            </a:solidFill>
            <a:prstDash val="solid"/>
            <a:headEnd type="none"/>
            <a:tailEnd type="none"/>
          </a:ln>
        </p:spPr>
      </p:sp>
      <p:sp>
        <p:nvSpPr>
          <p:cNvPr id="18" name="Shape 16"/>
          <p:cNvSpPr/>
          <p:nvPr/>
        </p:nvSpPr>
        <p:spPr>
          <a:xfrm rot="-991661">
            <a:off x="3040513" y="3973449"/>
            <a:ext cx="731254" cy="914"/>
          </a:xfrm>
          <a:prstGeom prst="line">
            <a:avLst/>
          </a:prstGeom>
          <a:noFill/>
          <a:ln w="31750">
            <a:solidFill>
              <a:srgbClr val="2F8B72"/>
            </a:solidFill>
            <a:prstDash val="solid"/>
            <a:headEnd type="none"/>
            <a:tailEnd type="none"/>
          </a:ln>
        </p:spPr>
      </p:sp>
      <p:sp>
        <p:nvSpPr>
          <p:cNvPr id="19" name="Shape 17"/>
          <p:cNvSpPr/>
          <p:nvPr/>
        </p:nvSpPr>
        <p:spPr>
          <a:xfrm>
            <a:off x="914400" y="4423410"/>
            <a:ext cx="76200" cy="76200"/>
          </a:xfrm>
          <a:prstGeom prst="ellipse">
            <a:avLst/>
          </a:prstGeom>
          <a:solidFill>
            <a:srgbClr val="2F8B72"/>
          </a:solidFill>
          <a:ln w="12700">
            <a:solidFill>
              <a:srgbClr val="333333">
                <a:alpha val="0"/>
              </a:srgbClr>
            </a:solidFill>
            <a:prstDash val="solid"/>
          </a:ln>
        </p:spPr>
      </p:sp>
      <p:sp>
        <p:nvSpPr>
          <p:cNvPr id="20" name="Shape 18"/>
          <p:cNvSpPr/>
          <p:nvPr/>
        </p:nvSpPr>
        <p:spPr>
          <a:xfrm>
            <a:off x="1615440" y="4295394"/>
            <a:ext cx="76200" cy="76200"/>
          </a:xfrm>
          <a:prstGeom prst="ellipse">
            <a:avLst/>
          </a:prstGeom>
          <a:solidFill>
            <a:srgbClr val="2F8B72"/>
          </a:solidFill>
          <a:ln w="12700">
            <a:solidFill>
              <a:srgbClr val="333333">
                <a:alpha val="0"/>
              </a:srgbClr>
            </a:solidFill>
            <a:prstDash val="solid"/>
          </a:ln>
        </p:spPr>
      </p:sp>
      <p:sp>
        <p:nvSpPr>
          <p:cNvPr id="21" name="Shape 19"/>
          <p:cNvSpPr/>
          <p:nvPr/>
        </p:nvSpPr>
        <p:spPr>
          <a:xfrm>
            <a:off x="2316480" y="4215384"/>
            <a:ext cx="76200" cy="76200"/>
          </a:xfrm>
          <a:prstGeom prst="ellipse">
            <a:avLst/>
          </a:prstGeom>
          <a:solidFill>
            <a:srgbClr val="2F8B72"/>
          </a:solidFill>
          <a:ln w="12700">
            <a:solidFill>
              <a:srgbClr val="333333">
                <a:alpha val="0"/>
              </a:srgbClr>
            </a:solidFill>
            <a:prstDash val="solid"/>
          </a:ln>
        </p:spPr>
      </p:sp>
      <p:sp>
        <p:nvSpPr>
          <p:cNvPr id="22" name="Shape 20"/>
          <p:cNvSpPr/>
          <p:nvPr/>
        </p:nvSpPr>
        <p:spPr>
          <a:xfrm>
            <a:off x="3017520" y="4039362"/>
            <a:ext cx="76200" cy="76200"/>
          </a:xfrm>
          <a:prstGeom prst="ellipse">
            <a:avLst/>
          </a:prstGeom>
          <a:solidFill>
            <a:srgbClr val="2F8B72"/>
          </a:solidFill>
          <a:ln w="12700">
            <a:solidFill>
              <a:srgbClr val="333333">
                <a:alpha val="0"/>
              </a:srgbClr>
            </a:solidFill>
            <a:prstDash val="solid"/>
          </a:ln>
        </p:spPr>
      </p:sp>
      <p:sp>
        <p:nvSpPr>
          <p:cNvPr id="23" name="Shape 21"/>
          <p:cNvSpPr/>
          <p:nvPr/>
        </p:nvSpPr>
        <p:spPr>
          <a:xfrm>
            <a:off x="3718560" y="3831336"/>
            <a:ext cx="76200" cy="76200"/>
          </a:xfrm>
          <a:prstGeom prst="ellipse">
            <a:avLst/>
          </a:prstGeom>
          <a:solidFill>
            <a:srgbClr val="2F8B72"/>
          </a:solidFill>
          <a:ln w="12700">
            <a:solidFill>
              <a:srgbClr val="333333">
                <a:alpha val="0"/>
              </a:srgbClr>
            </a:solidFill>
            <a:prstDash val="solid"/>
          </a:ln>
        </p:spPr>
      </p:sp>
      <p:sp>
        <p:nvSpPr>
          <p:cNvPr id="24" name="Text 22"/>
          <p:cNvSpPr txBox="1"/>
          <p:nvPr/>
        </p:nvSpPr>
        <p:spPr>
          <a:xfrm>
            <a:off x="914400" y="5196840"/>
            <a:ext cx="1981200" cy="167640"/>
          </a:xfrm>
          <a:prstGeom prst="rect">
            <a:avLst/>
          </a:prstGeom>
          <a:noFill/>
          <a:ln/>
        </p:spPr>
        <p:txBody>
          <a:bodyPr wrap="square" lIns="0" tIns="0" rIns="0" bIns="0" rtlCol="0" anchor="ctr">
            <a:normAutofit/>
          </a:bodyPr>
          <a:lstStyle/>
          <a:p>
            <a:pPr algn="l" indent="0" marL="0">
              <a:buNone/>
            </a:pPr>
            <a:r>
              <a:rPr lang="en-US" sz="660" b="1" spc="110" kern="0" dirty="0">
                <a:solidFill>
                  <a:srgbClr val="94A3B8"/>
                </a:solidFill>
                <a:latin typeface="Aptos" pitchFamily="34" charset="0"/>
                <a:ea typeface="Aptos" pitchFamily="34" charset="-122"/>
                <a:cs typeface="Aptos" pitchFamily="34" charset="-120"/>
              </a:rPr>
              <a:t>TREND · LAST 5 UPDATES</a:t>
            </a:r>
            <a:endParaRPr lang="en-US" sz="660" dirty="0"/>
          </a:p>
        </p:txBody>
      </p:sp>
      <p:sp>
        <p:nvSpPr>
          <p:cNvPr id="25" name="Shape 23"/>
          <p:cNvSpPr/>
          <p:nvPr/>
        </p:nvSpPr>
        <p:spPr>
          <a:xfrm>
            <a:off x="4419600" y="2286000"/>
            <a:ext cx="3390900" cy="3352800"/>
          </a:xfrm>
          <a:prstGeom prst="roundRect">
            <a:avLst>
              <a:gd name="adj" fmla="val 4909"/>
            </a:avLst>
          </a:prstGeom>
          <a:solidFill>
            <a:srgbClr val="FFFFFF"/>
          </a:solidFill>
          <a:ln w="6350">
            <a:solidFill>
              <a:srgbClr val="FFFFFF">
                <a:alpha val="0"/>
              </a:srgbClr>
            </a:solidFill>
            <a:prstDash val="solid"/>
          </a:ln>
          <a:effectLst>
            <a:outerShdw sx="100000" sy="100000" kx="0" ky="0" algn="bl" rotWithShape="0" blurRad="2.183067706146787e+41" dist="4.366135412293574e+41" dir="2.72097792e+49">
              <a:srgbClr val="405875">
                <a:alpha val="1.2e+49"/>
              </a:srgbClr>
            </a:outerShdw>
          </a:effectLst>
        </p:spPr>
      </p:sp>
      <p:sp>
        <p:nvSpPr>
          <p:cNvPr id="26" name="Text 24"/>
          <p:cNvSpPr txBox="1"/>
          <p:nvPr/>
        </p:nvSpPr>
        <p:spPr>
          <a:xfrm>
            <a:off x="4648200" y="2438400"/>
            <a:ext cx="1866900" cy="266700"/>
          </a:xfrm>
          <a:prstGeom prst="rect">
            <a:avLst/>
          </a:prstGeom>
          <a:noFill/>
          <a:ln/>
        </p:spPr>
        <p:txBody>
          <a:bodyPr wrap="square" lIns="0" tIns="0" rIns="0" bIns="0" rtlCol="0" anchor="ctr">
            <a:normAutofit/>
          </a:bodyPr>
          <a:lstStyle/>
          <a:p>
            <a:pPr algn="l" indent="0" marL="0">
              <a:buNone/>
            </a:pPr>
            <a:r>
              <a:rPr lang="en-US" sz="1320" b="1" dirty="0">
                <a:solidFill>
                  <a:srgbClr val="172337"/>
                </a:solidFill>
                <a:latin typeface="Aptos Display" pitchFamily="34" charset="0"/>
                <a:ea typeface="Aptos Display" pitchFamily="34" charset="-122"/>
                <a:cs typeface="Aptos Display" pitchFamily="34" charset="-120"/>
              </a:rPr>
              <a:t>Market</a:t>
            </a:r>
            <a:endParaRPr lang="en-US" sz="1320" dirty="0"/>
          </a:p>
        </p:txBody>
      </p:sp>
      <p:sp>
        <p:nvSpPr>
          <p:cNvPr id="27" name="Text 25"/>
          <p:cNvSpPr txBox="1"/>
          <p:nvPr/>
        </p:nvSpPr>
        <p:spPr>
          <a:xfrm>
            <a:off x="6934200" y="2400300"/>
            <a:ext cx="533400" cy="365760"/>
          </a:xfrm>
          <a:prstGeom prst="rect">
            <a:avLst/>
          </a:prstGeom>
          <a:noFill/>
          <a:ln/>
        </p:spPr>
        <p:txBody>
          <a:bodyPr wrap="square" lIns="0" tIns="0" rIns="0" bIns="0" rtlCol="0" anchor="ctr">
            <a:normAutofit/>
          </a:bodyPr>
          <a:lstStyle/>
          <a:p>
            <a:pPr algn="r" indent="0" marL="0">
              <a:buNone/>
            </a:pPr>
            <a:r>
              <a:rPr lang="en-US" sz="2520" b="1" dirty="0">
                <a:solidFill>
                  <a:srgbClr val="B87932"/>
                </a:solidFill>
                <a:latin typeface="Aptos Display" pitchFamily="34" charset="0"/>
                <a:ea typeface="Aptos Display" pitchFamily="34" charset="-122"/>
                <a:cs typeface="Aptos Display" pitchFamily="34" charset="-120"/>
              </a:rPr>
              <a:t>68</a:t>
            </a:r>
            <a:endParaRPr lang="en-US" sz="2520" dirty="0"/>
          </a:p>
        </p:txBody>
      </p:sp>
      <p:sp>
        <p:nvSpPr>
          <p:cNvPr id="28" name="Shape 26"/>
          <p:cNvSpPr/>
          <p:nvPr/>
        </p:nvSpPr>
        <p:spPr>
          <a:xfrm>
            <a:off x="4648200" y="2872740"/>
            <a:ext cx="952500" cy="266700"/>
          </a:xfrm>
          <a:prstGeom prst="roundRect">
            <a:avLst>
              <a:gd name="adj" fmla="val 54857"/>
            </a:avLst>
          </a:prstGeom>
          <a:solidFill>
            <a:srgbClr val="FFF1DF"/>
          </a:solidFill>
          <a:ln w="6350">
            <a:solidFill>
              <a:srgbClr val="FFF1DF">
                <a:alpha val="0"/>
              </a:srgbClr>
            </a:solidFill>
            <a:prstDash val="solid"/>
          </a:ln>
        </p:spPr>
      </p:sp>
      <p:sp>
        <p:nvSpPr>
          <p:cNvPr id="29" name="Text 27"/>
          <p:cNvSpPr txBox="1"/>
          <p:nvPr/>
        </p:nvSpPr>
        <p:spPr>
          <a:xfrm>
            <a:off x="4724400" y="2895600"/>
            <a:ext cx="800100" cy="220980"/>
          </a:xfrm>
          <a:prstGeom prst="rect">
            <a:avLst/>
          </a:prstGeom>
          <a:noFill/>
          <a:ln/>
        </p:spPr>
        <p:txBody>
          <a:bodyPr wrap="square" lIns="0" tIns="0" rIns="0" bIns="0" rtlCol="0" anchor="ctr">
            <a:normAutofit/>
          </a:bodyPr>
          <a:lstStyle/>
          <a:p>
            <a:pPr algn="ctr" indent="0" marL="0">
              <a:buNone/>
            </a:pPr>
            <a:r>
              <a:rPr lang="en-US" sz="600" b="1" spc="30" kern="0" dirty="0">
                <a:solidFill>
                  <a:srgbClr val="B87932"/>
                </a:solidFill>
                <a:latin typeface="Aptos" pitchFamily="34" charset="0"/>
                <a:ea typeface="Aptos" pitchFamily="34" charset="-122"/>
                <a:cs typeface="Aptos" pitchFamily="34" charset="-120"/>
              </a:rPr>
              <a:t>NEUTRAL</a:t>
            </a:r>
            <a:endParaRPr lang="en-US" sz="600" dirty="0"/>
          </a:p>
        </p:txBody>
      </p:sp>
      <p:sp>
        <p:nvSpPr>
          <p:cNvPr id="30" name="Text 28"/>
          <p:cNvSpPr txBox="1"/>
          <p:nvPr/>
        </p:nvSpPr>
        <p:spPr>
          <a:xfrm>
            <a:off x="5730240" y="2895600"/>
            <a:ext cx="1143000" cy="213360"/>
          </a:xfrm>
          <a:prstGeom prst="rect">
            <a:avLst/>
          </a:prstGeom>
          <a:noFill/>
          <a:ln/>
        </p:spPr>
        <p:txBody>
          <a:bodyPr wrap="square" lIns="0" tIns="0" rIns="0" bIns="0" rtlCol="0" anchor="ctr">
            <a:normAutofit/>
          </a:bodyPr>
          <a:lstStyle/>
          <a:p>
            <a:pPr algn="l" indent="0" marL="0">
              <a:buNone/>
            </a:pPr>
            <a:r>
              <a:rPr lang="en-US" sz="780" b="1" dirty="0">
                <a:solidFill>
                  <a:srgbClr val="718097"/>
                </a:solidFill>
                <a:latin typeface="Aptos" pitchFamily="34" charset="0"/>
                <a:ea typeface="Aptos" pitchFamily="34" charset="-122"/>
                <a:cs typeface="Aptos" pitchFamily="34" charset="-120"/>
              </a:rPr>
              <a:t>Stable</a:t>
            </a:r>
            <a:endParaRPr lang="en-US" sz="780" dirty="0"/>
          </a:p>
        </p:txBody>
      </p:sp>
      <p:sp>
        <p:nvSpPr>
          <p:cNvPr id="31" name="Shape 29"/>
          <p:cNvSpPr/>
          <p:nvPr/>
        </p:nvSpPr>
        <p:spPr>
          <a:xfrm>
            <a:off x="4648200" y="3467100"/>
            <a:ext cx="2933700" cy="60960"/>
          </a:xfrm>
          <a:prstGeom prst="roundRect">
            <a:avLst>
              <a:gd name="adj" fmla="val 75000"/>
            </a:avLst>
          </a:prstGeom>
          <a:solidFill>
            <a:srgbClr val="FFF1DF"/>
          </a:solidFill>
          <a:ln w="6350">
            <a:solidFill>
              <a:srgbClr val="FFF1DF">
                <a:alpha val="0"/>
              </a:srgbClr>
            </a:solidFill>
            <a:prstDash val="solid"/>
          </a:ln>
        </p:spPr>
      </p:sp>
      <p:sp>
        <p:nvSpPr>
          <p:cNvPr id="32" name="Shape 30"/>
          <p:cNvSpPr/>
          <p:nvPr/>
        </p:nvSpPr>
        <p:spPr>
          <a:xfrm>
            <a:off x="4648200" y="3467100"/>
            <a:ext cx="1994916" cy="60960"/>
          </a:xfrm>
          <a:prstGeom prst="roundRect">
            <a:avLst>
              <a:gd name="adj" fmla="val 75000"/>
            </a:avLst>
          </a:prstGeom>
          <a:solidFill>
            <a:srgbClr val="B87932"/>
          </a:solidFill>
          <a:ln w="6350">
            <a:solidFill>
              <a:srgbClr val="B87932">
                <a:alpha val="0"/>
              </a:srgbClr>
            </a:solidFill>
            <a:prstDash val="solid"/>
          </a:ln>
        </p:spPr>
      </p:sp>
      <p:sp>
        <p:nvSpPr>
          <p:cNvPr id="33" name="Text 31"/>
          <p:cNvSpPr txBox="1"/>
          <p:nvPr/>
        </p:nvSpPr>
        <p:spPr>
          <a:xfrm>
            <a:off x="4648200" y="3596640"/>
            <a:ext cx="1371600" cy="167640"/>
          </a:xfrm>
          <a:prstGeom prst="rect">
            <a:avLst/>
          </a:prstGeom>
          <a:noFill/>
          <a:ln/>
        </p:spPr>
        <p:txBody>
          <a:bodyPr wrap="square" lIns="0" tIns="0" rIns="0" bIns="0" rtlCol="0" anchor="ctr">
            <a:normAutofit/>
          </a:bodyPr>
          <a:lstStyle/>
          <a:p>
            <a:pPr algn="l" indent="0" marL="0">
              <a:buNone/>
            </a:pPr>
            <a:r>
              <a:rPr lang="en-US" sz="660" b="1" spc="130" kern="0" dirty="0">
                <a:solidFill>
                  <a:srgbClr val="94A3B8"/>
                </a:solidFill>
                <a:latin typeface="Aptos" pitchFamily="34" charset="0"/>
                <a:ea typeface="Aptos" pitchFamily="34" charset="-122"/>
                <a:cs typeface="Aptos" pitchFamily="34" charset="-120"/>
              </a:rPr>
              <a:t>AXIS SCORE</a:t>
            </a:r>
            <a:endParaRPr lang="en-US" sz="660" dirty="0"/>
          </a:p>
        </p:txBody>
      </p:sp>
      <p:sp>
        <p:nvSpPr>
          <p:cNvPr id="34" name="Shape 32"/>
          <p:cNvSpPr/>
          <p:nvPr/>
        </p:nvSpPr>
        <p:spPr>
          <a:xfrm>
            <a:off x="4648200" y="4724400"/>
            <a:ext cx="2933700" cy="0"/>
          </a:xfrm>
          <a:prstGeom prst="line">
            <a:avLst/>
          </a:prstGeom>
          <a:noFill/>
          <a:ln w="10160">
            <a:solidFill>
              <a:srgbClr val="DCE5F0"/>
            </a:solidFill>
            <a:prstDash val="dash"/>
            <a:headEnd type="none"/>
            <a:tailEnd type="none"/>
          </a:ln>
        </p:spPr>
      </p:sp>
      <p:sp>
        <p:nvSpPr>
          <p:cNvPr id="35" name="Shape 33"/>
          <p:cNvSpPr/>
          <p:nvPr/>
        </p:nvSpPr>
        <p:spPr>
          <a:xfrm rot="-313013">
            <a:off x="4684842" y="4173474"/>
            <a:ext cx="703956" cy="914"/>
          </a:xfrm>
          <a:prstGeom prst="line">
            <a:avLst/>
          </a:prstGeom>
          <a:noFill/>
          <a:ln w="31750">
            <a:solidFill>
              <a:srgbClr val="B87932"/>
            </a:solidFill>
            <a:prstDash val="solid"/>
            <a:headEnd type="none"/>
            <a:tailEnd type="none"/>
          </a:ln>
        </p:spPr>
      </p:sp>
      <p:sp>
        <p:nvSpPr>
          <p:cNvPr id="36" name="Shape 34"/>
          <p:cNvSpPr/>
          <p:nvPr/>
        </p:nvSpPr>
        <p:spPr>
          <a:xfrm rot="-156832">
            <a:off x="5386975" y="4125468"/>
            <a:ext cx="701770" cy="914"/>
          </a:xfrm>
          <a:prstGeom prst="line">
            <a:avLst/>
          </a:prstGeom>
          <a:noFill/>
          <a:ln w="31750">
            <a:solidFill>
              <a:srgbClr val="B87932"/>
            </a:solidFill>
            <a:prstDash val="solid"/>
            <a:headEnd type="none"/>
            <a:tailEnd type="none"/>
          </a:ln>
        </p:spPr>
      </p:sp>
      <p:sp>
        <p:nvSpPr>
          <p:cNvPr id="37" name="Shape 35"/>
          <p:cNvSpPr/>
          <p:nvPr/>
        </p:nvSpPr>
        <p:spPr>
          <a:xfrm rot="78457">
            <a:off x="6088289" y="4117467"/>
            <a:ext cx="701223" cy="914"/>
          </a:xfrm>
          <a:prstGeom prst="line">
            <a:avLst/>
          </a:prstGeom>
          <a:noFill/>
          <a:ln w="31750">
            <a:solidFill>
              <a:srgbClr val="B87932"/>
            </a:solidFill>
            <a:prstDash val="solid"/>
            <a:headEnd type="none"/>
            <a:tailEnd type="none"/>
          </a:ln>
        </p:spPr>
      </p:sp>
      <p:sp>
        <p:nvSpPr>
          <p:cNvPr id="38" name="Shape 36"/>
          <p:cNvSpPr/>
          <p:nvPr/>
        </p:nvSpPr>
        <p:spPr>
          <a:xfrm rot="-156832">
            <a:off x="6789055" y="4109466"/>
            <a:ext cx="701770" cy="914"/>
          </a:xfrm>
          <a:prstGeom prst="line">
            <a:avLst/>
          </a:prstGeom>
          <a:noFill/>
          <a:ln w="31750">
            <a:solidFill>
              <a:srgbClr val="B87932"/>
            </a:solidFill>
            <a:prstDash val="solid"/>
            <a:headEnd type="none"/>
            <a:tailEnd type="none"/>
          </a:ln>
        </p:spPr>
      </p:sp>
      <p:sp>
        <p:nvSpPr>
          <p:cNvPr id="39" name="Shape 37"/>
          <p:cNvSpPr/>
          <p:nvPr/>
        </p:nvSpPr>
        <p:spPr>
          <a:xfrm>
            <a:off x="4648200" y="4167378"/>
            <a:ext cx="76200" cy="76200"/>
          </a:xfrm>
          <a:prstGeom prst="ellipse">
            <a:avLst/>
          </a:prstGeom>
          <a:solidFill>
            <a:srgbClr val="B87932"/>
          </a:solidFill>
          <a:ln w="12700">
            <a:solidFill>
              <a:srgbClr val="333333">
                <a:alpha val="0"/>
              </a:srgbClr>
            </a:solidFill>
            <a:prstDash val="solid"/>
          </a:ln>
        </p:spPr>
      </p:sp>
      <p:sp>
        <p:nvSpPr>
          <p:cNvPr id="40" name="Shape 38"/>
          <p:cNvSpPr/>
          <p:nvPr/>
        </p:nvSpPr>
        <p:spPr>
          <a:xfrm>
            <a:off x="5349240" y="4103370"/>
            <a:ext cx="76200" cy="76200"/>
          </a:xfrm>
          <a:prstGeom prst="ellipse">
            <a:avLst/>
          </a:prstGeom>
          <a:solidFill>
            <a:srgbClr val="B87932"/>
          </a:solidFill>
          <a:ln w="12700">
            <a:solidFill>
              <a:srgbClr val="333333">
                <a:alpha val="0"/>
              </a:srgbClr>
            </a:solidFill>
            <a:prstDash val="solid"/>
          </a:ln>
        </p:spPr>
      </p:sp>
      <p:sp>
        <p:nvSpPr>
          <p:cNvPr id="41" name="Shape 39"/>
          <p:cNvSpPr/>
          <p:nvPr/>
        </p:nvSpPr>
        <p:spPr>
          <a:xfrm>
            <a:off x="6050280" y="4071366"/>
            <a:ext cx="76200" cy="76200"/>
          </a:xfrm>
          <a:prstGeom prst="ellipse">
            <a:avLst/>
          </a:prstGeom>
          <a:solidFill>
            <a:srgbClr val="B87932"/>
          </a:solidFill>
          <a:ln w="12700">
            <a:solidFill>
              <a:srgbClr val="333333">
                <a:alpha val="0"/>
              </a:srgbClr>
            </a:solidFill>
            <a:prstDash val="solid"/>
          </a:ln>
        </p:spPr>
      </p:sp>
      <p:sp>
        <p:nvSpPr>
          <p:cNvPr id="42" name="Shape 40"/>
          <p:cNvSpPr/>
          <p:nvPr/>
        </p:nvSpPr>
        <p:spPr>
          <a:xfrm>
            <a:off x="6751320" y="4087368"/>
            <a:ext cx="76200" cy="76200"/>
          </a:xfrm>
          <a:prstGeom prst="ellipse">
            <a:avLst/>
          </a:prstGeom>
          <a:solidFill>
            <a:srgbClr val="B87932"/>
          </a:solidFill>
          <a:ln w="12700">
            <a:solidFill>
              <a:srgbClr val="333333">
                <a:alpha val="0"/>
              </a:srgbClr>
            </a:solidFill>
            <a:prstDash val="solid"/>
          </a:ln>
        </p:spPr>
      </p:sp>
      <p:sp>
        <p:nvSpPr>
          <p:cNvPr id="43" name="Shape 41"/>
          <p:cNvSpPr/>
          <p:nvPr/>
        </p:nvSpPr>
        <p:spPr>
          <a:xfrm>
            <a:off x="7452360" y="4055364"/>
            <a:ext cx="76200" cy="76200"/>
          </a:xfrm>
          <a:prstGeom prst="ellipse">
            <a:avLst/>
          </a:prstGeom>
          <a:solidFill>
            <a:srgbClr val="B87932"/>
          </a:solidFill>
          <a:ln w="12700">
            <a:solidFill>
              <a:srgbClr val="333333">
                <a:alpha val="0"/>
              </a:srgbClr>
            </a:solidFill>
            <a:prstDash val="solid"/>
          </a:ln>
        </p:spPr>
      </p:sp>
      <p:sp>
        <p:nvSpPr>
          <p:cNvPr id="44" name="Text 42"/>
          <p:cNvSpPr txBox="1"/>
          <p:nvPr/>
        </p:nvSpPr>
        <p:spPr>
          <a:xfrm>
            <a:off x="4648200" y="5196840"/>
            <a:ext cx="1981200" cy="167640"/>
          </a:xfrm>
          <a:prstGeom prst="rect">
            <a:avLst/>
          </a:prstGeom>
          <a:noFill/>
          <a:ln/>
        </p:spPr>
        <p:txBody>
          <a:bodyPr wrap="square" lIns="0" tIns="0" rIns="0" bIns="0" rtlCol="0" anchor="ctr">
            <a:normAutofit/>
          </a:bodyPr>
          <a:lstStyle/>
          <a:p>
            <a:pPr algn="l" indent="0" marL="0">
              <a:buNone/>
            </a:pPr>
            <a:r>
              <a:rPr lang="en-US" sz="660" b="1" spc="110" kern="0" dirty="0">
                <a:solidFill>
                  <a:srgbClr val="94A3B8"/>
                </a:solidFill>
                <a:latin typeface="Aptos" pitchFamily="34" charset="0"/>
                <a:ea typeface="Aptos" pitchFamily="34" charset="-122"/>
                <a:cs typeface="Aptos" pitchFamily="34" charset="-120"/>
              </a:rPr>
              <a:t>TREND · LAST 5 UPDATES</a:t>
            </a:r>
            <a:endParaRPr lang="en-US" sz="660" dirty="0"/>
          </a:p>
        </p:txBody>
      </p:sp>
      <p:sp>
        <p:nvSpPr>
          <p:cNvPr id="45" name="Shape 43"/>
          <p:cNvSpPr/>
          <p:nvPr/>
        </p:nvSpPr>
        <p:spPr>
          <a:xfrm>
            <a:off x="8153400" y="2286000"/>
            <a:ext cx="3390900" cy="3352800"/>
          </a:xfrm>
          <a:prstGeom prst="roundRect">
            <a:avLst>
              <a:gd name="adj" fmla="val 4909"/>
            </a:avLst>
          </a:prstGeom>
          <a:solidFill>
            <a:srgbClr val="FFFFFF"/>
          </a:solidFill>
          <a:ln w="6350">
            <a:solidFill>
              <a:srgbClr val="FFFFFF">
                <a:alpha val="0"/>
              </a:srgbClr>
            </a:solidFill>
            <a:prstDash val="solid"/>
          </a:ln>
          <a:effectLst>
            <a:outerShdw sx="100000" sy="100000" kx="0" ky="0" algn="bl" rotWithShape="0" blurRad="2.7724959868064195e+45" dist="5.544991973612839e+45" dir="1.6325867520000003e+54">
              <a:srgbClr val="405875">
                <a:alpha val="1.2e+54"/>
              </a:srgbClr>
            </a:outerShdw>
          </a:effectLst>
        </p:spPr>
      </p:sp>
      <p:sp>
        <p:nvSpPr>
          <p:cNvPr id="46" name="Text 44"/>
          <p:cNvSpPr txBox="1"/>
          <p:nvPr/>
        </p:nvSpPr>
        <p:spPr>
          <a:xfrm>
            <a:off x="8382000" y="2438400"/>
            <a:ext cx="1866900" cy="266700"/>
          </a:xfrm>
          <a:prstGeom prst="rect">
            <a:avLst/>
          </a:prstGeom>
          <a:noFill/>
          <a:ln/>
        </p:spPr>
        <p:txBody>
          <a:bodyPr wrap="square" lIns="0" tIns="0" rIns="0" bIns="0" rtlCol="0" anchor="ctr">
            <a:normAutofit/>
          </a:bodyPr>
          <a:lstStyle/>
          <a:p>
            <a:pPr algn="l" indent="0" marL="0">
              <a:buNone/>
            </a:pPr>
            <a:r>
              <a:rPr lang="en-US" sz="1320" b="1" dirty="0">
                <a:solidFill>
                  <a:srgbClr val="172337"/>
                </a:solidFill>
                <a:latin typeface="Aptos Display" pitchFamily="34" charset="0"/>
                <a:ea typeface="Aptos Display" pitchFamily="34" charset="-122"/>
                <a:cs typeface="Aptos Display" pitchFamily="34" charset="-120"/>
              </a:rPr>
              <a:t>Idea × Market</a:t>
            </a:r>
            <a:endParaRPr lang="en-US" sz="1320" dirty="0"/>
          </a:p>
        </p:txBody>
      </p:sp>
      <p:sp>
        <p:nvSpPr>
          <p:cNvPr id="47" name="Text 45"/>
          <p:cNvSpPr txBox="1"/>
          <p:nvPr/>
        </p:nvSpPr>
        <p:spPr>
          <a:xfrm>
            <a:off x="10668000" y="2400300"/>
            <a:ext cx="533400" cy="365760"/>
          </a:xfrm>
          <a:prstGeom prst="rect">
            <a:avLst/>
          </a:prstGeom>
          <a:noFill/>
          <a:ln/>
        </p:spPr>
        <p:txBody>
          <a:bodyPr wrap="square" lIns="0" tIns="0" rIns="0" bIns="0" rtlCol="0" anchor="ctr">
            <a:normAutofit/>
          </a:bodyPr>
          <a:lstStyle/>
          <a:p>
            <a:pPr algn="r" indent="0" marL="0">
              <a:buNone/>
            </a:pPr>
            <a:r>
              <a:rPr lang="en-US" sz="2520" b="1" dirty="0">
                <a:solidFill>
                  <a:srgbClr val="7656A5"/>
                </a:solidFill>
                <a:latin typeface="Aptos Display" pitchFamily="34" charset="0"/>
                <a:ea typeface="Aptos Display" pitchFamily="34" charset="-122"/>
                <a:cs typeface="Aptos Display" pitchFamily="34" charset="-120"/>
              </a:rPr>
              <a:t>74</a:t>
            </a:r>
            <a:endParaRPr lang="en-US" sz="2520" dirty="0"/>
          </a:p>
        </p:txBody>
      </p:sp>
      <p:sp>
        <p:nvSpPr>
          <p:cNvPr id="48" name="Shape 46"/>
          <p:cNvSpPr/>
          <p:nvPr/>
        </p:nvSpPr>
        <p:spPr>
          <a:xfrm>
            <a:off x="8382000" y="2872740"/>
            <a:ext cx="952500" cy="266700"/>
          </a:xfrm>
          <a:prstGeom prst="roundRect">
            <a:avLst>
              <a:gd name="adj" fmla="val 54857"/>
            </a:avLst>
          </a:prstGeom>
          <a:solidFill>
            <a:srgbClr val="EEE8F8"/>
          </a:solidFill>
          <a:ln w="6350">
            <a:solidFill>
              <a:srgbClr val="EEE8F8">
                <a:alpha val="0"/>
              </a:srgbClr>
            </a:solidFill>
            <a:prstDash val="solid"/>
          </a:ln>
        </p:spPr>
      </p:sp>
      <p:sp>
        <p:nvSpPr>
          <p:cNvPr id="49" name="Text 47"/>
          <p:cNvSpPr txBox="1"/>
          <p:nvPr/>
        </p:nvSpPr>
        <p:spPr>
          <a:xfrm>
            <a:off x="8458200" y="2895600"/>
            <a:ext cx="800100" cy="220980"/>
          </a:xfrm>
          <a:prstGeom prst="rect">
            <a:avLst/>
          </a:prstGeom>
          <a:noFill/>
          <a:ln/>
        </p:spPr>
        <p:txBody>
          <a:bodyPr wrap="square" lIns="0" tIns="0" rIns="0" bIns="0" rtlCol="0" anchor="ctr">
            <a:normAutofit/>
          </a:bodyPr>
          <a:lstStyle/>
          <a:p>
            <a:pPr algn="ctr" indent="0" marL="0">
              <a:buNone/>
            </a:pPr>
            <a:r>
              <a:rPr lang="en-US" sz="600" b="1" spc="30" kern="0" dirty="0">
                <a:solidFill>
                  <a:srgbClr val="7656A5"/>
                </a:solidFill>
                <a:latin typeface="Aptos" pitchFamily="34" charset="0"/>
                <a:ea typeface="Aptos" pitchFamily="34" charset="-122"/>
                <a:cs typeface="Aptos" pitchFamily="34" charset="-120"/>
              </a:rPr>
              <a:t>BULLISH</a:t>
            </a:r>
            <a:endParaRPr lang="en-US" sz="600" dirty="0"/>
          </a:p>
        </p:txBody>
      </p:sp>
      <p:sp>
        <p:nvSpPr>
          <p:cNvPr id="50" name="Text 48"/>
          <p:cNvSpPr txBox="1"/>
          <p:nvPr/>
        </p:nvSpPr>
        <p:spPr>
          <a:xfrm>
            <a:off x="9464040" y="2895600"/>
            <a:ext cx="1143000" cy="213360"/>
          </a:xfrm>
          <a:prstGeom prst="rect">
            <a:avLst/>
          </a:prstGeom>
          <a:noFill/>
          <a:ln/>
        </p:spPr>
        <p:txBody>
          <a:bodyPr wrap="square" lIns="0" tIns="0" rIns="0" bIns="0" rtlCol="0" anchor="ctr">
            <a:normAutofit/>
          </a:bodyPr>
          <a:lstStyle/>
          <a:p>
            <a:pPr algn="l" indent="0" marL="0">
              <a:buNone/>
            </a:pPr>
            <a:r>
              <a:rPr lang="en-US" sz="780" b="1" dirty="0">
                <a:solidFill>
                  <a:srgbClr val="718097"/>
                </a:solidFill>
                <a:latin typeface="Aptos" pitchFamily="34" charset="0"/>
                <a:ea typeface="Aptos" pitchFamily="34" charset="-122"/>
                <a:cs typeface="Aptos" pitchFamily="34" charset="-120"/>
              </a:rPr>
              <a:t>Improving</a:t>
            </a:r>
            <a:endParaRPr lang="en-US" sz="780" dirty="0"/>
          </a:p>
        </p:txBody>
      </p:sp>
      <p:sp>
        <p:nvSpPr>
          <p:cNvPr id="51" name="Shape 49"/>
          <p:cNvSpPr/>
          <p:nvPr/>
        </p:nvSpPr>
        <p:spPr>
          <a:xfrm>
            <a:off x="8382000" y="3467100"/>
            <a:ext cx="2933700" cy="60960"/>
          </a:xfrm>
          <a:prstGeom prst="roundRect">
            <a:avLst>
              <a:gd name="adj" fmla="val 75000"/>
            </a:avLst>
          </a:prstGeom>
          <a:solidFill>
            <a:srgbClr val="EEE8F8"/>
          </a:solidFill>
          <a:ln w="6350">
            <a:solidFill>
              <a:srgbClr val="EEE8F8">
                <a:alpha val="0"/>
              </a:srgbClr>
            </a:solidFill>
            <a:prstDash val="solid"/>
          </a:ln>
        </p:spPr>
      </p:sp>
      <p:sp>
        <p:nvSpPr>
          <p:cNvPr id="52" name="Shape 50"/>
          <p:cNvSpPr/>
          <p:nvPr/>
        </p:nvSpPr>
        <p:spPr>
          <a:xfrm>
            <a:off x="8382000" y="3467100"/>
            <a:ext cx="2170938" cy="60960"/>
          </a:xfrm>
          <a:prstGeom prst="roundRect">
            <a:avLst>
              <a:gd name="adj" fmla="val 75000"/>
            </a:avLst>
          </a:prstGeom>
          <a:solidFill>
            <a:srgbClr val="7656A5"/>
          </a:solidFill>
          <a:ln w="6350">
            <a:solidFill>
              <a:srgbClr val="7656A5">
                <a:alpha val="0"/>
              </a:srgbClr>
            </a:solidFill>
            <a:prstDash val="solid"/>
          </a:ln>
        </p:spPr>
      </p:sp>
      <p:sp>
        <p:nvSpPr>
          <p:cNvPr id="53" name="Text 51"/>
          <p:cNvSpPr txBox="1"/>
          <p:nvPr/>
        </p:nvSpPr>
        <p:spPr>
          <a:xfrm>
            <a:off x="8382000" y="3596640"/>
            <a:ext cx="1371600" cy="167640"/>
          </a:xfrm>
          <a:prstGeom prst="rect">
            <a:avLst/>
          </a:prstGeom>
          <a:noFill/>
          <a:ln/>
        </p:spPr>
        <p:txBody>
          <a:bodyPr wrap="square" lIns="0" tIns="0" rIns="0" bIns="0" rtlCol="0" anchor="ctr">
            <a:normAutofit/>
          </a:bodyPr>
          <a:lstStyle/>
          <a:p>
            <a:pPr algn="l" indent="0" marL="0">
              <a:buNone/>
            </a:pPr>
            <a:r>
              <a:rPr lang="en-US" sz="660" b="1" spc="130" kern="0" dirty="0">
                <a:solidFill>
                  <a:srgbClr val="94A3B8"/>
                </a:solidFill>
                <a:latin typeface="Aptos" pitchFamily="34" charset="0"/>
                <a:ea typeface="Aptos" pitchFamily="34" charset="-122"/>
                <a:cs typeface="Aptos" pitchFamily="34" charset="-120"/>
              </a:rPr>
              <a:t>AXIS SCORE</a:t>
            </a:r>
            <a:endParaRPr lang="en-US" sz="660" dirty="0"/>
          </a:p>
        </p:txBody>
      </p:sp>
      <p:sp>
        <p:nvSpPr>
          <p:cNvPr id="54" name="Shape 52"/>
          <p:cNvSpPr/>
          <p:nvPr/>
        </p:nvSpPr>
        <p:spPr>
          <a:xfrm>
            <a:off x="8382000" y="4724400"/>
            <a:ext cx="2933700" cy="0"/>
          </a:xfrm>
          <a:prstGeom prst="line">
            <a:avLst/>
          </a:prstGeom>
          <a:noFill/>
          <a:ln w="10160">
            <a:solidFill>
              <a:srgbClr val="DCE5F0"/>
            </a:solidFill>
            <a:prstDash val="dash"/>
            <a:headEnd type="none"/>
            <a:tailEnd type="none"/>
          </a:ln>
        </p:spPr>
      </p:sp>
      <p:sp>
        <p:nvSpPr>
          <p:cNvPr id="55" name="Shape 53"/>
          <p:cNvSpPr/>
          <p:nvPr/>
        </p:nvSpPr>
        <p:spPr>
          <a:xfrm rot="-235044">
            <a:off x="8419279" y="4325493"/>
            <a:ext cx="702682" cy="914"/>
          </a:xfrm>
          <a:prstGeom prst="line">
            <a:avLst/>
          </a:prstGeom>
          <a:noFill/>
          <a:ln w="31750">
            <a:solidFill>
              <a:srgbClr val="7656A5"/>
            </a:solidFill>
            <a:prstDash val="solid"/>
            <a:headEnd type="none"/>
            <a:tailEnd type="none"/>
          </a:ln>
        </p:spPr>
      </p:sp>
      <p:sp>
        <p:nvSpPr>
          <p:cNvPr id="56" name="Shape 54"/>
          <p:cNvSpPr/>
          <p:nvPr/>
        </p:nvSpPr>
        <p:spPr>
          <a:xfrm rot="-620921">
            <a:off x="9115344" y="4237482"/>
            <a:ext cx="712633" cy="914"/>
          </a:xfrm>
          <a:prstGeom prst="line">
            <a:avLst/>
          </a:prstGeom>
          <a:noFill/>
          <a:ln w="31750">
            <a:solidFill>
              <a:srgbClr val="7656A5"/>
            </a:solidFill>
            <a:prstDash val="solid"/>
            <a:headEnd type="none"/>
            <a:tailEnd type="none"/>
          </a:ln>
        </p:spPr>
      </p:sp>
      <p:sp>
        <p:nvSpPr>
          <p:cNvPr id="57" name="Shape 55"/>
          <p:cNvSpPr/>
          <p:nvPr/>
        </p:nvSpPr>
        <p:spPr>
          <a:xfrm rot="-544688">
            <a:off x="9817734" y="4117467"/>
            <a:ext cx="709933" cy="914"/>
          </a:xfrm>
          <a:prstGeom prst="line">
            <a:avLst/>
          </a:prstGeom>
          <a:noFill/>
          <a:ln w="31750">
            <a:solidFill>
              <a:srgbClr val="7656A5"/>
            </a:solidFill>
            <a:prstDash val="solid"/>
            <a:headEnd type="none"/>
            <a:tailEnd type="none"/>
          </a:ln>
        </p:spPr>
      </p:sp>
      <p:sp>
        <p:nvSpPr>
          <p:cNvPr id="58" name="Shape 56"/>
          <p:cNvSpPr/>
          <p:nvPr/>
        </p:nvSpPr>
        <p:spPr>
          <a:xfrm rot="-313013">
            <a:off x="10521762" y="4029456"/>
            <a:ext cx="703956" cy="914"/>
          </a:xfrm>
          <a:prstGeom prst="line">
            <a:avLst/>
          </a:prstGeom>
          <a:noFill/>
          <a:ln w="31750">
            <a:solidFill>
              <a:srgbClr val="7656A5"/>
            </a:solidFill>
            <a:prstDash val="solid"/>
            <a:headEnd type="none"/>
            <a:tailEnd type="none"/>
          </a:ln>
        </p:spPr>
      </p:sp>
      <p:sp>
        <p:nvSpPr>
          <p:cNvPr id="59" name="Shape 57"/>
          <p:cNvSpPr/>
          <p:nvPr/>
        </p:nvSpPr>
        <p:spPr>
          <a:xfrm>
            <a:off x="8382000" y="4311396"/>
            <a:ext cx="76200" cy="76200"/>
          </a:xfrm>
          <a:prstGeom prst="ellipse">
            <a:avLst/>
          </a:prstGeom>
          <a:solidFill>
            <a:srgbClr val="7656A5"/>
          </a:solidFill>
          <a:ln w="12700">
            <a:solidFill>
              <a:srgbClr val="333333">
                <a:alpha val="0"/>
              </a:srgbClr>
            </a:solidFill>
            <a:prstDash val="solid"/>
          </a:ln>
        </p:spPr>
      </p:sp>
      <p:sp>
        <p:nvSpPr>
          <p:cNvPr id="60" name="Shape 58"/>
          <p:cNvSpPr/>
          <p:nvPr/>
        </p:nvSpPr>
        <p:spPr>
          <a:xfrm>
            <a:off x="9083040" y="4263390"/>
            <a:ext cx="76200" cy="76200"/>
          </a:xfrm>
          <a:prstGeom prst="ellipse">
            <a:avLst/>
          </a:prstGeom>
          <a:solidFill>
            <a:srgbClr val="7656A5"/>
          </a:solidFill>
          <a:ln w="12700">
            <a:solidFill>
              <a:srgbClr val="333333">
                <a:alpha val="0"/>
              </a:srgbClr>
            </a:solidFill>
            <a:prstDash val="solid"/>
          </a:ln>
        </p:spPr>
      </p:sp>
      <p:sp>
        <p:nvSpPr>
          <p:cNvPr id="61" name="Shape 59"/>
          <p:cNvSpPr/>
          <p:nvPr/>
        </p:nvSpPr>
        <p:spPr>
          <a:xfrm>
            <a:off x="9784080" y="4135374"/>
            <a:ext cx="76200" cy="76200"/>
          </a:xfrm>
          <a:prstGeom prst="ellipse">
            <a:avLst/>
          </a:prstGeom>
          <a:solidFill>
            <a:srgbClr val="7656A5"/>
          </a:solidFill>
          <a:ln w="12700">
            <a:solidFill>
              <a:srgbClr val="333333">
                <a:alpha val="0"/>
              </a:srgbClr>
            </a:solidFill>
            <a:prstDash val="solid"/>
          </a:ln>
        </p:spPr>
      </p:sp>
      <p:sp>
        <p:nvSpPr>
          <p:cNvPr id="62" name="Shape 60"/>
          <p:cNvSpPr/>
          <p:nvPr/>
        </p:nvSpPr>
        <p:spPr>
          <a:xfrm>
            <a:off x="10485120" y="4023360"/>
            <a:ext cx="76200" cy="76200"/>
          </a:xfrm>
          <a:prstGeom prst="ellipse">
            <a:avLst/>
          </a:prstGeom>
          <a:solidFill>
            <a:srgbClr val="7656A5"/>
          </a:solidFill>
          <a:ln w="12700">
            <a:solidFill>
              <a:srgbClr val="333333">
                <a:alpha val="0"/>
              </a:srgbClr>
            </a:solidFill>
            <a:prstDash val="solid"/>
          </a:ln>
        </p:spPr>
      </p:sp>
      <p:sp>
        <p:nvSpPr>
          <p:cNvPr id="63" name="Shape 61"/>
          <p:cNvSpPr/>
          <p:nvPr/>
        </p:nvSpPr>
        <p:spPr>
          <a:xfrm>
            <a:off x="11186160" y="3959352"/>
            <a:ext cx="76200" cy="76200"/>
          </a:xfrm>
          <a:prstGeom prst="ellipse">
            <a:avLst/>
          </a:prstGeom>
          <a:solidFill>
            <a:srgbClr val="7656A5"/>
          </a:solidFill>
          <a:ln w="12700">
            <a:solidFill>
              <a:srgbClr val="333333">
                <a:alpha val="0"/>
              </a:srgbClr>
            </a:solidFill>
            <a:prstDash val="solid"/>
          </a:ln>
        </p:spPr>
      </p:sp>
      <p:sp>
        <p:nvSpPr>
          <p:cNvPr id="64" name="Text 62"/>
          <p:cNvSpPr txBox="1"/>
          <p:nvPr/>
        </p:nvSpPr>
        <p:spPr>
          <a:xfrm>
            <a:off x="8382000" y="5196840"/>
            <a:ext cx="1981200" cy="167640"/>
          </a:xfrm>
          <a:prstGeom prst="rect">
            <a:avLst/>
          </a:prstGeom>
          <a:noFill/>
          <a:ln/>
        </p:spPr>
        <p:txBody>
          <a:bodyPr wrap="square" lIns="0" tIns="0" rIns="0" bIns="0" rtlCol="0" anchor="ctr">
            <a:normAutofit/>
          </a:bodyPr>
          <a:lstStyle/>
          <a:p>
            <a:pPr algn="l" indent="0" marL="0">
              <a:buNone/>
            </a:pPr>
            <a:r>
              <a:rPr lang="en-US" sz="660" b="1" spc="110" kern="0" dirty="0">
                <a:solidFill>
                  <a:srgbClr val="94A3B8"/>
                </a:solidFill>
                <a:latin typeface="Aptos" pitchFamily="34" charset="0"/>
                <a:ea typeface="Aptos" pitchFamily="34" charset="-122"/>
                <a:cs typeface="Aptos" pitchFamily="34" charset="-120"/>
              </a:rPr>
              <a:t>TREND · LAST 5 UPDATES</a:t>
            </a:r>
            <a:endParaRPr lang="en-US" sz="660" dirty="0"/>
          </a:p>
        </p:txBody>
      </p:sp>
      <p:sp>
        <p:nvSpPr>
          <p:cNvPr id="65" name="Text 63"/>
          <p:cNvSpPr txBox="1"/>
          <p:nvPr/>
        </p:nvSpPr>
        <p:spPr>
          <a:xfrm>
            <a:off x="685800" y="5753100"/>
            <a:ext cx="6858000" cy="243840"/>
          </a:xfrm>
          <a:prstGeom prst="rect">
            <a:avLst/>
          </a:prstGeom>
          <a:noFill/>
          <a:ln/>
        </p:spPr>
        <p:txBody>
          <a:bodyPr wrap="square" lIns="0" tIns="0" rIns="0" bIns="0" rtlCol="0" anchor="ctr">
            <a:normAutofit/>
          </a:bodyPr>
          <a:lstStyle/>
          <a:p>
            <a:pPr algn="l" indent="0" marL="0">
              <a:buNone/>
            </a:pPr>
            <a:r>
              <a:rPr lang="en-US" sz="1080" b="1" dirty="0">
                <a:solidFill>
                  <a:srgbClr val="344258"/>
                </a:solidFill>
                <a:latin typeface="Aptos" pitchFamily="34" charset="0"/>
                <a:ea typeface="Aptos" pitchFamily="34" charset="-122"/>
                <a:cs typeface="Aptos" pitchFamily="34" charset="-120"/>
              </a:rPr>
              <a:t>Click any axis → inspect evidence, confidence, contradictions and trend.</a:t>
            </a:r>
            <a:endParaRPr lang="en-US" sz="1080" dirty="0"/>
          </a:p>
        </p:txBody>
      </p:sp>
      <p:sp>
        <p:nvSpPr>
          <p:cNvPr id="66" name="Shape 64"/>
          <p:cNvSpPr/>
          <p:nvPr/>
        </p:nvSpPr>
        <p:spPr>
          <a:xfrm>
            <a:off x="8839200" y="5753100"/>
            <a:ext cx="2667000" cy="266700"/>
          </a:xfrm>
          <a:prstGeom prst="roundRect">
            <a:avLst>
              <a:gd name="adj" fmla="val 54857"/>
            </a:avLst>
          </a:prstGeom>
          <a:solidFill>
            <a:srgbClr val="E7EEF9"/>
          </a:solidFill>
          <a:ln w="6350">
            <a:solidFill>
              <a:srgbClr val="E7EEF9">
                <a:alpha val="0"/>
              </a:srgbClr>
            </a:solidFill>
            <a:prstDash val="solid"/>
          </a:ln>
        </p:spPr>
      </p:sp>
      <p:sp>
        <p:nvSpPr>
          <p:cNvPr id="67" name="Text 65"/>
          <p:cNvSpPr txBox="1"/>
          <p:nvPr/>
        </p:nvSpPr>
        <p:spPr>
          <a:xfrm>
            <a:off x="8915400" y="5775960"/>
            <a:ext cx="2514600" cy="220980"/>
          </a:xfrm>
          <a:prstGeom prst="rect">
            <a:avLst/>
          </a:prstGeom>
          <a:noFill/>
          <a:ln/>
        </p:spPr>
        <p:txBody>
          <a:bodyPr wrap="square" lIns="0" tIns="0" rIns="0" bIns="0" rtlCol="0" anchor="ctr">
            <a:normAutofit/>
          </a:bodyPr>
          <a:lstStyle/>
          <a:p>
            <a:pPr algn="ctr" indent="0" marL="0">
              <a:buNone/>
            </a:pPr>
            <a:r>
              <a:rPr lang="en-US" sz="600" b="1" spc="30" kern="0" dirty="0">
                <a:solidFill>
                  <a:srgbClr val="557DC0"/>
                </a:solidFill>
                <a:latin typeface="Aptos" pitchFamily="34" charset="0"/>
                <a:ea typeface="Aptos" pitchFamily="34" charset="-122"/>
                <a:cs typeface="Aptos" pitchFamily="34" charset="-120"/>
              </a:rPr>
              <a:t>INDEPENDENT · NOT AVERAGED</a:t>
            </a:r>
            <a:endParaRPr lang="en-US" sz="600" dirty="0"/>
          </a:p>
        </p:txBody>
      </p:sp>
      <p:sp>
        <p:nvSpPr>
          <p:cNvPr id="68" name="Text 66"/>
          <p:cNvSpPr/>
          <p:nvPr/>
        </p:nvSpPr>
        <p:spPr>
          <a:xfrm>
            <a:off x="685800" y="6210300"/>
            <a:ext cx="1371600" cy="243840"/>
          </a:xfrm>
          <a:prstGeom prst="rect">
            <a:avLst/>
          </a:prstGeom>
          <a:noFill/>
          <a:ln/>
        </p:spPr>
        <p:txBody>
          <a:bodyPr wrap="square" lIns="0" tIns="0" rIns="0" bIns="0" rtlCol="0" anchor="ctr">
            <a:normAutofit/>
          </a:bodyPr>
          <a:lstStyle/>
          <a:p>
            <a:pPr indent="0" marL="0">
              <a:buNone/>
            </a:pPr>
            <a:r>
              <a:rPr lang="en-US" sz="1400" b="1" dirty="0">
                <a:solidFill>
                  <a:srgbClr val="172337"/>
                </a:solidFill>
                <a:latin typeface="Aptos Display" pitchFamily="34" charset="0"/>
                <a:ea typeface="Aptos Display" pitchFamily="34" charset="-122"/>
                <a:cs typeface="Aptos Display" pitchFamily="34" charset="-120"/>
              </a:rPr>
              <a:t>FirstCheck</a:t>
            </a:r>
            <a:pPr indent="0" marL="0">
              <a:buNone/>
            </a:pPr>
            <a:r>
              <a:rPr lang="en-US" sz="1200" b="1" dirty="0">
                <a:solidFill>
                  <a:srgbClr val="557DC0"/>
                </a:solidFill>
                <a:latin typeface="Aptos Display" pitchFamily="34" charset="0"/>
                <a:ea typeface="Aptos Display" pitchFamily="34" charset="-122"/>
                <a:cs typeface="Aptos Display" pitchFamily="34" charset="-120"/>
              </a:rPr>
              <a:t>24</a:t>
            </a:r>
            <a:endParaRPr lang="en-US" sz="1400" dirty="0"/>
          </a:p>
        </p:txBody>
      </p:sp>
      <p:sp>
        <p:nvSpPr>
          <p:cNvPr id="69" name="Text 67"/>
          <p:cNvSpPr txBox="1"/>
          <p:nvPr/>
        </p:nvSpPr>
        <p:spPr>
          <a:xfrm>
            <a:off x="11125200" y="6248400"/>
            <a:ext cx="381000" cy="152400"/>
          </a:xfrm>
          <a:prstGeom prst="rect">
            <a:avLst/>
          </a:prstGeom>
          <a:noFill/>
          <a:ln/>
        </p:spPr>
        <p:txBody>
          <a:bodyPr wrap="square" lIns="0" tIns="0" rIns="0" bIns="0" rtlCol="0" anchor="ctr">
            <a:normAutofit/>
          </a:bodyPr>
          <a:lstStyle/>
          <a:p>
            <a:pPr algn="r" indent="0" marL="0">
              <a:buNone/>
            </a:pPr>
            <a:r>
              <a:rPr lang="en-US" sz="780" b="1" spc="200" kern="0" dirty="0">
                <a:solidFill>
                  <a:srgbClr val="94A3B8"/>
                </a:solidFill>
                <a:latin typeface="Aptos" pitchFamily="34" charset="0"/>
                <a:ea typeface="Aptos" pitchFamily="34" charset="-122"/>
                <a:cs typeface="Aptos" pitchFamily="34" charset="-120"/>
              </a:rPr>
              <a:t>06</a:t>
            </a:r>
            <a:endParaRPr lang="en-US" sz="7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6FB"/>
        </a:solidFill>
      </p:bgPr>
    </p:bg>
    <p:spTree>
      <p:nvGrpSpPr>
        <p:cNvPr id="1" name=""/>
        <p:cNvGrpSpPr/>
        <p:nvPr/>
      </p:nvGrpSpPr>
      <p:grpSpPr>
        <a:xfrm>
          <a:off x="0" y="0"/>
          <a:ext cx="0" cy="0"/>
          <a:chOff x="0" y="0"/>
          <a:chExt cx="0" cy="0"/>
        </a:xfrm>
      </p:grpSpPr>
      <p:sp>
        <p:nvSpPr>
          <p:cNvPr id="2" name="Text 0"/>
          <p:cNvSpPr txBox="1"/>
          <p:nvPr/>
        </p:nvSpPr>
        <p:spPr>
          <a:xfrm>
            <a:off x="685800" y="548640"/>
            <a:ext cx="3124200" cy="213360"/>
          </a:xfrm>
          <a:prstGeom prst="rect">
            <a:avLst/>
          </a:prstGeom>
          <a:noFill/>
          <a:ln/>
        </p:spPr>
        <p:txBody>
          <a:bodyPr wrap="square" lIns="0" tIns="0" rIns="0" bIns="0" rtlCol="0" anchor="ctr">
            <a:normAutofit/>
          </a:bodyPr>
          <a:lstStyle/>
          <a:p>
            <a:pPr algn="l" indent="0" marL="0">
              <a:buNone/>
            </a:pPr>
            <a:r>
              <a:rPr lang="en-US" sz="900" b="1" spc="240" kern="0" dirty="0">
                <a:solidFill>
                  <a:srgbClr val="557DC0"/>
                </a:solidFill>
                <a:latin typeface="Aptos" pitchFamily="34" charset="0"/>
                <a:ea typeface="Aptos" pitchFamily="34" charset="-122"/>
                <a:cs typeface="Aptos" pitchFamily="34" charset="-120"/>
              </a:rPr>
              <a:t>LIVE DECISION CASE · EOGHAN MCCABE</a:t>
            </a:r>
            <a:endParaRPr lang="en-US" sz="900" dirty="0"/>
          </a:p>
        </p:txBody>
      </p:sp>
      <p:sp>
        <p:nvSpPr>
          <p:cNvPr id="3" name="Text 1"/>
          <p:cNvSpPr txBox="1"/>
          <p:nvPr/>
        </p:nvSpPr>
        <p:spPr>
          <a:xfrm>
            <a:off x="685800" y="800100"/>
            <a:ext cx="3124200" cy="633984"/>
          </a:xfrm>
          <a:prstGeom prst="rect">
            <a:avLst/>
          </a:prstGeom>
          <a:noFill/>
          <a:ln/>
        </p:spPr>
        <p:txBody>
          <a:bodyPr wrap="square" lIns="0" tIns="0" rIns="0" bIns="0" rtlCol="0" anchor="t">
            <a:normAutofit/>
          </a:bodyPr>
          <a:lstStyle/>
          <a:p>
            <a:pPr algn="l" indent="0" marL="0">
              <a:buNone/>
            </a:pPr>
            <a:r>
              <a:rPr lang="en-US" sz="2400" b="1" dirty="0">
                <a:solidFill>
                  <a:srgbClr val="172337"/>
                </a:solidFill>
                <a:latin typeface="Aptos Display" pitchFamily="34" charset="0"/>
                <a:ea typeface="Aptos Display" pitchFamily="34" charset="-122"/>
                <a:cs typeface="Aptos Display" pitchFamily="34" charset="-120"/>
              </a:rPr>
              <a:t>A decision, not</a:t>
            </a:r>
            <a:endParaRPr lang="en-US" sz="2400" dirty="0"/>
          </a:p>
          <a:p>
            <a:pPr algn="l" indent="0" marL="0">
              <a:buNone/>
            </a:pPr>
            <a:r>
              <a:rPr lang="en-US" sz="2400" b="1" dirty="0">
                <a:solidFill>
                  <a:srgbClr val="172337"/>
                </a:solidFill>
                <a:latin typeface="Aptos Display" pitchFamily="34" charset="0"/>
                <a:ea typeface="Aptos Display" pitchFamily="34" charset="-122"/>
                <a:cs typeface="Aptos Display" pitchFamily="34" charset="-120"/>
              </a:rPr>
              <a:t>a dashboard.</a:t>
            </a:r>
            <a:endParaRPr lang="en-US" sz="2400" dirty="0"/>
          </a:p>
        </p:txBody>
      </p:sp>
      <p:sp>
        <p:nvSpPr>
          <p:cNvPr id="4" name="Text 2"/>
          <p:cNvSpPr txBox="1"/>
          <p:nvPr/>
        </p:nvSpPr>
        <p:spPr>
          <a:xfrm>
            <a:off x="685800" y="1563624"/>
            <a:ext cx="3048000" cy="487680"/>
          </a:xfrm>
          <a:prstGeom prst="rect">
            <a:avLst/>
          </a:prstGeom>
          <a:noFill/>
          <a:ln/>
        </p:spPr>
        <p:txBody>
          <a:bodyPr wrap="square" lIns="0" tIns="0" rIns="0" bIns="0" rtlCol="0" anchor="t">
            <a:normAutofit/>
          </a:bodyPr>
          <a:lstStyle/>
          <a:p>
            <a:pPr algn="l" indent="0" marL="0">
              <a:buNone/>
            </a:pPr>
            <a:r>
              <a:rPr lang="en-US" sz="1200" dirty="0">
                <a:solidFill>
                  <a:srgbClr val="718097"/>
                </a:solidFill>
                <a:latin typeface="Aptos" pitchFamily="34" charset="0"/>
                <a:ea typeface="Aptos" pitchFamily="34" charset="-122"/>
                <a:cs typeface="Aptos" pitchFamily="34" charset="-120"/>
              </a:rPr>
              <a:t>AI compresses the evidence.</a:t>
            </a:r>
            <a:endParaRPr lang="en-US" sz="1200" dirty="0"/>
          </a:p>
          <a:p>
            <a:pPr algn="l" indent="0" marL="0">
              <a:buNone/>
            </a:pPr>
            <a:r>
              <a:rPr lang="en-US" sz="1200" dirty="0">
                <a:solidFill>
                  <a:srgbClr val="718097"/>
                </a:solidFill>
                <a:latin typeface="Aptos" pitchFamily="34" charset="0"/>
                <a:ea typeface="Aptos" pitchFamily="34" charset="-122"/>
                <a:cs typeface="Aptos" pitchFamily="34" charset="-120"/>
              </a:rPr>
              <a:t>The investor can challenge every claim.</a:t>
            </a:r>
            <a:endParaRPr lang="en-US" sz="1200" dirty="0"/>
          </a:p>
        </p:txBody>
      </p:sp>
      <p:sp>
        <p:nvSpPr>
          <p:cNvPr id="5" name="Shape 3"/>
          <p:cNvSpPr/>
          <p:nvPr/>
        </p:nvSpPr>
        <p:spPr>
          <a:xfrm>
            <a:off x="4076700" y="685800"/>
            <a:ext cx="7505700" cy="5212080"/>
          </a:xfrm>
          <a:prstGeom prst="roundRect">
            <a:avLst>
              <a:gd name="adj" fmla="val 3158"/>
            </a:avLst>
          </a:prstGeom>
          <a:solidFill>
            <a:srgbClr val="FFFFFF"/>
          </a:solidFill>
          <a:ln w="6350">
            <a:solidFill>
              <a:srgbClr val="FFFFFF">
                <a:alpha val="0"/>
              </a:srgbClr>
            </a:solidFill>
            <a:prstDash val="solid"/>
          </a:ln>
          <a:effectLst>
            <a:outerShdw sx="100000" sy="100000" kx="0" ky="0" algn="bl" rotWithShape="0" blurRad="3.5210699032441527e+49" dist="7.042139806488305e+49" dir="9.795520512000002e+58">
              <a:srgbClr val="405875">
                <a:alpha val="1.2e+59"/>
              </a:srgbClr>
            </a:outerShdw>
          </a:effectLst>
        </p:spPr>
      </p:sp>
      <p:pic>
        <p:nvPicPr>
          <p:cNvPr id="6" name="Image 0" descr="/Users/zeyu/Projects/HACKATHON/The-VC-Brain/docs/pitch-assets/decision-detail.png">    </p:cNvPr>
          <p:cNvPicPr>
            <a:picLocks noChangeAspect="1"/>
          </p:cNvPicPr>
          <p:nvPr/>
        </p:nvPicPr>
        <p:blipFill>
          <a:blip r:embed="rId1"/>
          <a:stretch>
            <a:fillRect/>
          </a:stretch>
        </p:blipFill>
        <p:spPr>
          <a:xfrm>
            <a:off x="4168140" y="777240"/>
            <a:ext cx="7322820" cy="5029200"/>
          </a:xfrm>
          <a:prstGeom prst="rect">
            <a:avLst/>
          </a:prstGeom>
        </p:spPr>
      </p:pic>
      <p:sp>
        <p:nvSpPr>
          <p:cNvPr id="7" name="Shape 4"/>
          <p:cNvSpPr/>
          <p:nvPr/>
        </p:nvSpPr>
        <p:spPr>
          <a:xfrm>
            <a:off x="685800" y="2971800"/>
            <a:ext cx="2781300" cy="655320"/>
          </a:xfrm>
          <a:prstGeom prst="roundRect">
            <a:avLst>
              <a:gd name="adj" fmla="val 16744"/>
            </a:avLst>
          </a:prstGeom>
          <a:solidFill>
            <a:srgbClr val="E7EEF9"/>
          </a:solidFill>
          <a:ln w="6350">
            <a:solidFill>
              <a:srgbClr val="E7EEF9">
                <a:alpha val="0"/>
              </a:srgbClr>
            </a:solidFill>
            <a:prstDash val="solid"/>
          </a:ln>
        </p:spPr>
      </p:sp>
      <p:sp>
        <p:nvSpPr>
          <p:cNvPr id="8" name="Text 5"/>
          <p:cNvSpPr txBox="1"/>
          <p:nvPr/>
        </p:nvSpPr>
        <p:spPr>
          <a:xfrm>
            <a:off x="891540" y="3086100"/>
            <a:ext cx="2209800" cy="182880"/>
          </a:xfrm>
          <a:prstGeom prst="rect">
            <a:avLst/>
          </a:prstGeom>
          <a:noFill/>
          <a:ln/>
        </p:spPr>
        <p:txBody>
          <a:bodyPr wrap="square" lIns="0" tIns="0" rIns="0" bIns="0" rtlCol="0" anchor="ctr">
            <a:normAutofit/>
          </a:bodyPr>
          <a:lstStyle/>
          <a:p>
            <a:pPr algn="l" indent="0" marL="0">
              <a:buNone/>
            </a:pPr>
            <a:r>
              <a:rPr lang="en-US" sz="660" b="1" spc="120" kern="0" dirty="0">
                <a:solidFill>
                  <a:srgbClr val="557DC0"/>
                </a:solidFill>
                <a:latin typeface="Aptos" pitchFamily="34" charset="0"/>
                <a:ea typeface="Aptos" pitchFamily="34" charset="-122"/>
                <a:cs typeface="Aptos" pitchFamily="34" charset="-120"/>
              </a:rPr>
              <a:t>AI SUMMARY + CITATIONS</a:t>
            </a:r>
            <a:endParaRPr lang="en-US" sz="660" dirty="0"/>
          </a:p>
        </p:txBody>
      </p:sp>
      <p:sp>
        <p:nvSpPr>
          <p:cNvPr id="9" name="Text 6"/>
          <p:cNvSpPr txBox="1"/>
          <p:nvPr/>
        </p:nvSpPr>
        <p:spPr>
          <a:xfrm>
            <a:off x="891540" y="3314700"/>
            <a:ext cx="2286000" cy="228600"/>
          </a:xfrm>
          <a:prstGeom prst="rect">
            <a:avLst/>
          </a:prstGeom>
          <a:noFill/>
          <a:ln/>
        </p:spPr>
        <p:txBody>
          <a:bodyPr wrap="square" lIns="0" tIns="0" rIns="0" bIns="0" rtlCol="0" anchor="ctr">
            <a:normAutofit/>
          </a:bodyPr>
          <a:lstStyle/>
          <a:p>
            <a:pPr algn="l" indent="0" marL="0">
              <a:buNone/>
            </a:pPr>
            <a:r>
              <a:rPr lang="en-US" sz="960" b="1" dirty="0">
                <a:solidFill>
                  <a:srgbClr val="172337"/>
                </a:solidFill>
                <a:latin typeface="Aptos" pitchFamily="34" charset="0"/>
                <a:ea typeface="Aptos" pitchFamily="34" charset="-122"/>
                <a:cs typeface="Aptos" pitchFamily="34" charset="-120"/>
              </a:rPr>
              <a:t>Every sentence traces to evidence</a:t>
            </a:r>
            <a:endParaRPr lang="en-US" sz="960" dirty="0"/>
          </a:p>
        </p:txBody>
      </p:sp>
      <p:sp>
        <p:nvSpPr>
          <p:cNvPr id="10" name="Shape 7"/>
          <p:cNvSpPr/>
          <p:nvPr/>
        </p:nvSpPr>
        <p:spPr>
          <a:xfrm>
            <a:off x="685800" y="3771900"/>
            <a:ext cx="2781300" cy="655320"/>
          </a:xfrm>
          <a:prstGeom prst="roundRect">
            <a:avLst>
              <a:gd name="adj" fmla="val 16744"/>
            </a:avLst>
          </a:prstGeom>
          <a:solidFill>
            <a:srgbClr val="EEE8F8"/>
          </a:solidFill>
          <a:ln w="6350">
            <a:solidFill>
              <a:srgbClr val="EEE8F8">
                <a:alpha val="0"/>
              </a:srgbClr>
            </a:solidFill>
            <a:prstDash val="solid"/>
          </a:ln>
        </p:spPr>
      </p:sp>
      <p:sp>
        <p:nvSpPr>
          <p:cNvPr id="11" name="Text 8"/>
          <p:cNvSpPr txBox="1"/>
          <p:nvPr/>
        </p:nvSpPr>
        <p:spPr>
          <a:xfrm>
            <a:off x="891540" y="3886200"/>
            <a:ext cx="2133600" cy="182880"/>
          </a:xfrm>
          <a:prstGeom prst="rect">
            <a:avLst/>
          </a:prstGeom>
          <a:noFill/>
          <a:ln/>
        </p:spPr>
        <p:txBody>
          <a:bodyPr wrap="square" lIns="0" tIns="0" rIns="0" bIns="0" rtlCol="0" anchor="ctr">
            <a:normAutofit/>
          </a:bodyPr>
          <a:lstStyle/>
          <a:p>
            <a:pPr algn="l" indent="0" marL="0">
              <a:buNone/>
            </a:pPr>
            <a:r>
              <a:rPr lang="en-US" sz="660" b="1" spc="130" kern="0" dirty="0">
                <a:solidFill>
                  <a:srgbClr val="7656A5"/>
                </a:solidFill>
                <a:latin typeface="Aptos" pitchFamily="34" charset="0"/>
                <a:ea typeface="Aptos" pitchFamily="34" charset="-122"/>
                <a:cs typeface="Aptos" pitchFamily="34" charset="-120"/>
              </a:rPr>
              <a:t>SCORE EXPLANATION</a:t>
            </a:r>
            <a:endParaRPr lang="en-US" sz="660" dirty="0"/>
          </a:p>
        </p:txBody>
      </p:sp>
      <p:sp>
        <p:nvSpPr>
          <p:cNvPr id="12" name="Text 9"/>
          <p:cNvSpPr txBox="1"/>
          <p:nvPr/>
        </p:nvSpPr>
        <p:spPr>
          <a:xfrm>
            <a:off x="891540" y="4114800"/>
            <a:ext cx="2209800" cy="228600"/>
          </a:xfrm>
          <a:prstGeom prst="rect">
            <a:avLst/>
          </a:prstGeom>
          <a:noFill/>
          <a:ln/>
        </p:spPr>
        <p:txBody>
          <a:bodyPr wrap="square" lIns="0" tIns="0" rIns="0" bIns="0" rtlCol="0" anchor="ctr">
            <a:normAutofit/>
          </a:bodyPr>
          <a:lstStyle/>
          <a:p>
            <a:pPr algn="l" indent="0" marL="0">
              <a:buNone/>
            </a:pPr>
            <a:r>
              <a:rPr lang="en-US" sz="1020" b="1" dirty="0">
                <a:solidFill>
                  <a:srgbClr val="172337"/>
                </a:solidFill>
                <a:latin typeface="Aptos" pitchFamily="34" charset="0"/>
                <a:ea typeface="Aptos" pitchFamily="34" charset="-122"/>
                <a:cs typeface="Aptos" pitchFamily="34" charset="-120"/>
              </a:rPr>
              <a:t>Score → claim → source</a:t>
            </a:r>
            <a:endParaRPr lang="en-US" sz="1020" dirty="0"/>
          </a:p>
        </p:txBody>
      </p:sp>
      <p:sp>
        <p:nvSpPr>
          <p:cNvPr id="13" name="Shape 10"/>
          <p:cNvSpPr/>
          <p:nvPr/>
        </p:nvSpPr>
        <p:spPr>
          <a:xfrm>
            <a:off x="685800" y="4572000"/>
            <a:ext cx="2781300" cy="655320"/>
          </a:xfrm>
          <a:prstGeom prst="roundRect">
            <a:avLst>
              <a:gd name="adj" fmla="val 16744"/>
            </a:avLst>
          </a:prstGeom>
          <a:solidFill>
            <a:srgbClr val="E4F2ED"/>
          </a:solidFill>
          <a:ln w="6350">
            <a:solidFill>
              <a:srgbClr val="E4F2ED">
                <a:alpha val="0"/>
              </a:srgbClr>
            </a:solidFill>
            <a:prstDash val="solid"/>
          </a:ln>
        </p:spPr>
      </p:sp>
      <p:sp>
        <p:nvSpPr>
          <p:cNvPr id="14" name="Text 11"/>
          <p:cNvSpPr txBox="1"/>
          <p:nvPr/>
        </p:nvSpPr>
        <p:spPr>
          <a:xfrm>
            <a:off x="891540" y="4686300"/>
            <a:ext cx="1905000" cy="182880"/>
          </a:xfrm>
          <a:prstGeom prst="rect">
            <a:avLst/>
          </a:prstGeom>
          <a:noFill/>
          <a:ln/>
        </p:spPr>
        <p:txBody>
          <a:bodyPr wrap="square" lIns="0" tIns="0" rIns="0" bIns="0" rtlCol="0" anchor="ctr">
            <a:normAutofit/>
          </a:bodyPr>
          <a:lstStyle/>
          <a:p>
            <a:pPr algn="l" indent="0" marL="0">
              <a:buNone/>
            </a:pPr>
            <a:r>
              <a:rPr lang="en-US" sz="660" b="1" spc="150" kern="0" dirty="0">
                <a:solidFill>
                  <a:srgbClr val="2F8B72"/>
                </a:solidFill>
                <a:latin typeface="Aptos" pitchFamily="34" charset="0"/>
                <a:ea typeface="Aptos" pitchFamily="34" charset="-122"/>
                <a:cs typeface="Aptos" pitchFamily="34" charset="-120"/>
              </a:rPr>
              <a:t>HUMAN CONTROL</a:t>
            </a:r>
            <a:endParaRPr lang="en-US" sz="660" dirty="0"/>
          </a:p>
        </p:txBody>
      </p:sp>
      <p:sp>
        <p:nvSpPr>
          <p:cNvPr id="15" name="Text 12"/>
          <p:cNvSpPr txBox="1"/>
          <p:nvPr/>
        </p:nvSpPr>
        <p:spPr>
          <a:xfrm>
            <a:off x="891540" y="4914900"/>
            <a:ext cx="2286000" cy="228600"/>
          </a:xfrm>
          <a:prstGeom prst="rect">
            <a:avLst/>
          </a:prstGeom>
          <a:noFill/>
          <a:ln/>
        </p:spPr>
        <p:txBody>
          <a:bodyPr wrap="square" lIns="0" tIns="0" rIns="0" bIns="0" rtlCol="0" anchor="ctr">
            <a:normAutofit/>
          </a:bodyPr>
          <a:lstStyle/>
          <a:p>
            <a:pPr algn="l" indent="0" marL="0">
              <a:buNone/>
            </a:pPr>
            <a:r>
              <a:rPr lang="en-US" sz="960" b="1" dirty="0">
                <a:solidFill>
                  <a:srgbClr val="172337"/>
                </a:solidFill>
                <a:latin typeface="Aptos" pitchFamily="34" charset="0"/>
                <a:ea typeface="Aptos" pitchFamily="34" charset="-122"/>
                <a:cs typeface="Aptos" pitchFamily="34" charset="-120"/>
              </a:rPr>
              <a:t>Challenge · override · decide</a:t>
            </a:r>
            <a:endParaRPr lang="en-US" sz="960" dirty="0"/>
          </a:p>
        </p:txBody>
      </p:sp>
      <p:sp>
        <p:nvSpPr>
          <p:cNvPr id="16" name="Shape 13"/>
          <p:cNvSpPr/>
          <p:nvPr/>
        </p:nvSpPr>
        <p:spPr>
          <a:xfrm>
            <a:off x="8839200" y="6057900"/>
            <a:ext cx="2667000" cy="266700"/>
          </a:xfrm>
          <a:prstGeom prst="roundRect">
            <a:avLst>
              <a:gd name="adj" fmla="val 54857"/>
            </a:avLst>
          </a:prstGeom>
          <a:solidFill>
            <a:srgbClr val="E7EEF9"/>
          </a:solidFill>
          <a:ln w="6350">
            <a:solidFill>
              <a:srgbClr val="E7EEF9">
                <a:alpha val="0"/>
              </a:srgbClr>
            </a:solidFill>
            <a:prstDash val="solid"/>
          </a:ln>
        </p:spPr>
      </p:sp>
      <p:sp>
        <p:nvSpPr>
          <p:cNvPr id="17" name="Text 14"/>
          <p:cNvSpPr txBox="1"/>
          <p:nvPr/>
        </p:nvSpPr>
        <p:spPr>
          <a:xfrm>
            <a:off x="8915400" y="6080760"/>
            <a:ext cx="2514600" cy="220980"/>
          </a:xfrm>
          <a:prstGeom prst="rect">
            <a:avLst/>
          </a:prstGeom>
          <a:noFill/>
          <a:ln/>
        </p:spPr>
        <p:txBody>
          <a:bodyPr wrap="square" lIns="0" tIns="0" rIns="0" bIns="0" rtlCol="0" anchor="ctr">
            <a:normAutofit/>
          </a:bodyPr>
          <a:lstStyle/>
          <a:p>
            <a:pPr algn="ctr" indent="0" marL="0">
              <a:buNone/>
            </a:pPr>
            <a:r>
              <a:rPr lang="en-US" sz="600" b="1" spc="30" kern="0" dirty="0">
                <a:solidFill>
                  <a:srgbClr val="557DC0"/>
                </a:solidFill>
                <a:latin typeface="Aptos" pitchFamily="34" charset="0"/>
                <a:ea typeface="Aptos" pitchFamily="34" charset="-122"/>
                <a:cs typeface="Aptos" pitchFamily="34" charset="-120"/>
              </a:rPr>
              <a:t>LIVE PRODUCT · EOGHAN MCCABE</a:t>
            </a:r>
            <a:endParaRPr lang="en-US" sz="600" dirty="0"/>
          </a:p>
        </p:txBody>
      </p:sp>
      <p:sp>
        <p:nvSpPr>
          <p:cNvPr id="18" name="Text 15"/>
          <p:cNvSpPr/>
          <p:nvPr/>
        </p:nvSpPr>
        <p:spPr>
          <a:xfrm>
            <a:off x="685800" y="6210300"/>
            <a:ext cx="1371600" cy="243840"/>
          </a:xfrm>
          <a:prstGeom prst="rect">
            <a:avLst/>
          </a:prstGeom>
          <a:noFill/>
          <a:ln/>
        </p:spPr>
        <p:txBody>
          <a:bodyPr wrap="square" lIns="0" tIns="0" rIns="0" bIns="0" rtlCol="0" anchor="ctr">
            <a:normAutofit/>
          </a:bodyPr>
          <a:lstStyle/>
          <a:p>
            <a:pPr indent="0" marL="0">
              <a:buNone/>
            </a:pPr>
            <a:r>
              <a:rPr lang="en-US" sz="1400" b="1" dirty="0">
                <a:solidFill>
                  <a:srgbClr val="172337"/>
                </a:solidFill>
                <a:latin typeface="Aptos Display" pitchFamily="34" charset="0"/>
                <a:ea typeface="Aptos Display" pitchFamily="34" charset="-122"/>
                <a:cs typeface="Aptos Display" pitchFamily="34" charset="-120"/>
              </a:rPr>
              <a:t>FirstCheck</a:t>
            </a:r>
            <a:pPr indent="0" marL="0">
              <a:buNone/>
            </a:pPr>
            <a:r>
              <a:rPr lang="en-US" sz="1200" b="1" dirty="0">
                <a:solidFill>
                  <a:srgbClr val="557DC0"/>
                </a:solidFill>
                <a:latin typeface="Aptos Display" pitchFamily="34" charset="0"/>
                <a:ea typeface="Aptos Display" pitchFamily="34" charset="-122"/>
                <a:cs typeface="Aptos Display" pitchFamily="34" charset="-120"/>
              </a:rPr>
              <a:t>24</a:t>
            </a:r>
            <a:endParaRPr lang="en-US" sz="1400" dirty="0"/>
          </a:p>
        </p:txBody>
      </p:sp>
      <p:sp>
        <p:nvSpPr>
          <p:cNvPr id="19" name="Text 16"/>
          <p:cNvSpPr txBox="1"/>
          <p:nvPr/>
        </p:nvSpPr>
        <p:spPr>
          <a:xfrm>
            <a:off x="11125200" y="6248400"/>
            <a:ext cx="381000" cy="152400"/>
          </a:xfrm>
          <a:prstGeom prst="rect">
            <a:avLst/>
          </a:prstGeom>
          <a:noFill/>
          <a:ln/>
        </p:spPr>
        <p:txBody>
          <a:bodyPr wrap="square" lIns="0" tIns="0" rIns="0" bIns="0" rtlCol="0" anchor="ctr">
            <a:normAutofit/>
          </a:bodyPr>
          <a:lstStyle/>
          <a:p>
            <a:pPr algn="r" indent="0" marL="0">
              <a:buNone/>
            </a:pPr>
            <a:r>
              <a:rPr lang="en-US" sz="780" b="1" spc="200" kern="0" dirty="0">
                <a:solidFill>
                  <a:srgbClr val="94A3B8"/>
                </a:solidFill>
                <a:latin typeface="Aptos" pitchFamily="34" charset="0"/>
                <a:ea typeface="Aptos" pitchFamily="34" charset="-122"/>
                <a:cs typeface="Aptos" pitchFamily="34" charset="-120"/>
              </a:rPr>
              <a:t>07</a:t>
            </a:r>
            <a:endParaRPr lang="en-US" sz="7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F6FB"/>
        </a:solidFill>
      </p:bgPr>
    </p:bg>
    <p:spTree>
      <p:nvGrpSpPr>
        <p:cNvPr id="1" name=""/>
        <p:cNvGrpSpPr/>
        <p:nvPr/>
      </p:nvGrpSpPr>
      <p:grpSpPr>
        <a:xfrm>
          <a:off x="0" y="0"/>
          <a:ext cx="0" cy="0"/>
          <a:chOff x="0" y="0"/>
          <a:chExt cx="0" cy="0"/>
        </a:xfrm>
      </p:grpSpPr>
      <p:sp>
        <p:nvSpPr>
          <p:cNvPr id="2" name="Text 0"/>
          <p:cNvSpPr txBox="1"/>
          <p:nvPr/>
        </p:nvSpPr>
        <p:spPr>
          <a:xfrm>
            <a:off x="685800" y="548640"/>
            <a:ext cx="9448800" cy="213360"/>
          </a:xfrm>
          <a:prstGeom prst="rect">
            <a:avLst/>
          </a:prstGeom>
          <a:noFill/>
          <a:ln/>
        </p:spPr>
        <p:txBody>
          <a:bodyPr wrap="square" lIns="0" tIns="0" rIns="0" bIns="0" rtlCol="0" anchor="ctr">
            <a:normAutofit/>
          </a:bodyPr>
          <a:lstStyle/>
          <a:p>
            <a:pPr algn="l" indent="0" marL="0">
              <a:buNone/>
            </a:pPr>
            <a:r>
              <a:rPr lang="en-US" sz="900" b="1" spc="240" kern="0" dirty="0">
                <a:solidFill>
                  <a:srgbClr val="557DC0"/>
                </a:solidFill>
                <a:latin typeface="Aptos" pitchFamily="34" charset="0"/>
                <a:ea typeface="Aptos" pitchFamily="34" charset="-122"/>
                <a:cs typeface="Aptos" pitchFamily="34" charset="-120"/>
              </a:rPr>
              <a:t>AGENT ARCHITECTURE</a:t>
            </a:r>
            <a:endParaRPr lang="en-US" sz="900" dirty="0"/>
          </a:p>
        </p:txBody>
      </p:sp>
      <p:sp>
        <p:nvSpPr>
          <p:cNvPr id="3" name="Text 1"/>
          <p:cNvSpPr txBox="1"/>
          <p:nvPr/>
        </p:nvSpPr>
        <p:spPr>
          <a:xfrm>
            <a:off x="685800" y="800100"/>
            <a:ext cx="9448800" cy="348691"/>
          </a:xfrm>
          <a:prstGeom prst="rect">
            <a:avLst/>
          </a:prstGeom>
          <a:noFill/>
          <a:ln/>
        </p:spPr>
        <p:txBody>
          <a:bodyPr wrap="square" lIns="0" tIns="0" rIns="0" bIns="0" rtlCol="0" anchor="t">
            <a:normAutofit/>
          </a:bodyPr>
          <a:lstStyle/>
          <a:p>
            <a:pPr algn="l" indent="0" marL="0">
              <a:buNone/>
            </a:pPr>
            <a:r>
              <a:rPr lang="en-US" sz="2640" b="1" dirty="0">
                <a:solidFill>
                  <a:srgbClr val="172337"/>
                </a:solidFill>
                <a:latin typeface="Aptos Display" pitchFamily="34" charset="0"/>
                <a:ea typeface="Aptos Display" pitchFamily="34" charset="-122"/>
                <a:cs typeface="Aptos Display" pitchFamily="34" charset="-120"/>
              </a:rPr>
              <a:t>Two entry paths. One evidence pipeline.</a:t>
            </a:r>
            <a:endParaRPr lang="en-US" sz="2640" dirty="0"/>
          </a:p>
        </p:txBody>
      </p:sp>
      <p:sp>
        <p:nvSpPr>
          <p:cNvPr id="4" name="Text 2"/>
          <p:cNvSpPr txBox="1"/>
          <p:nvPr/>
        </p:nvSpPr>
        <p:spPr>
          <a:xfrm>
            <a:off x="685800" y="1278331"/>
            <a:ext cx="10058400" cy="243840"/>
          </a:xfrm>
          <a:prstGeom prst="rect">
            <a:avLst/>
          </a:prstGeom>
          <a:noFill/>
          <a:ln/>
        </p:spPr>
        <p:txBody>
          <a:bodyPr wrap="square" lIns="0" tIns="0" rIns="0" bIns="0" rtlCol="0" anchor="t">
            <a:normAutofit/>
          </a:bodyPr>
          <a:lstStyle/>
          <a:p>
            <a:pPr algn="l" indent="0" marL="0">
              <a:buNone/>
            </a:pPr>
            <a:r>
              <a:rPr lang="en-US" sz="1200" dirty="0">
                <a:solidFill>
                  <a:srgbClr val="718097"/>
                </a:solidFill>
                <a:latin typeface="Aptos" pitchFamily="34" charset="0"/>
                <a:ea typeface="Aptos" pitchFamily="34" charset="-122"/>
                <a:cs typeface="Aptos" pitchFamily="34" charset="-120"/>
              </a:rPr>
              <a:t>Outbound discovers hidden founders. Inbound turns applications and decks into structured evidence.</a:t>
            </a:r>
            <a:endParaRPr lang="en-US" sz="1200" dirty="0"/>
          </a:p>
        </p:txBody>
      </p:sp>
      <p:sp>
        <p:nvSpPr>
          <p:cNvPr id="5" name="Shape 3"/>
          <p:cNvSpPr/>
          <p:nvPr/>
        </p:nvSpPr>
        <p:spPr>
          <a:xfrm>
            <a:off x="685800" y="1874520"/>
            <a:ext cx="1866900" cy="266700"/>
          </a:xfrm>
          <a:prstGeom prst="roundRect">
            <a:avLst>
              <a:gd name="adj" fmla="val 54857"/>
            </a:avLst>
          </a:prstGeom>
          <a:solidFill>
            <a:srgbClr val="E7EEF9"/>
          </a:solidFill>
          <a:ln w="6350">
            <a:solidFill>
              <a:srgbClr val="E7EEF9">
                <a:alpha val="0"/>
              </a:srgbClr>
            </a:solidFill>
            <a:prstDash val="solid"/>
          </a:ln>
        </p:spPr>
      </p:sp>
      <p:sp>
        <p:nvSpPr>
          <p:cNvPr id="6" name="Text 4"/>
          <p:cNvSpPr txBox="1"/>
          <p:nvPr/>
        </p:nvSpPr>
        <p:spPr>
          <a:xfrm>
            <a:off x="762000" y="1897380"/>
            <a:ext cx="1714500" cy="220980"/>
          </a:xfrm>
          <a:prstGeom prst="rect">
            <a:avLst/>
          </a:prstGeom>
          <a:noFill/>
          <a:ln/>
        </p:spPr>
        <p:txBody>
          <a:bodyPr wrap="square" lIns="0" tIns="0" rIns="0" bIns="0" rtlCol="0" anchor="ctr">
            <a:normAutofit/>
          </a:bodyPr>
          <a:lstStyle/>
          <a:p>
            <a:pPr algn="ctr" indent="0" marL="0">
              <a:buNone/>
            </a:pPr>
            <a:r>
              <a:rPr lang="en-US" sz="600" b="1" spc="30" kern="0" dirty="0">
                <a:solidFill>
                  <a:srgbClr val="557DC0"/>
                </a:solidFill>
                <a:latin typeface="Aptos" pitchFamily="34" charset="0"/>
                <a:ea typeface="Aptos" pitchFamily="34" charset="-122"/>
                <a:cs typeface="Aptos" pitchFamily="34" charset="-120"/>
              </a:rPr>
              <a:t>OUTBOUND · PROACTIVE</a:t>
            </a:r>
            <a:endParaRPr lang="en-US" sz="600" dirty="0"/>
          </a:p>
        </p:txBody>
      </p:sp>
      <p:sp>
        <p:nvSpPr>
          <p:cNvPr id="7" name="Shape 5"/>
          <p:cNvSpPr/>
          <p:nvPr/>
        </p:nvSpPr>
        <p:spPr>
          <a:xfrm>
            <a:off x="685800" y="2286000"/>
            <a:ext cx="1600200" cy="883920"/>
          </a:xfrm>
          <a:prstGeom prst="roundRect">
            <a:avLst>
              <a:gd name="adj" fmla="val 14483"/>
            </a:avLst>
          </a:prstGeom>
          <a:solidFill>
            <a:srgbClr val="E7EEF9"/>
          </a:solidFill>
          <a:ln w="6350">
            <a:solidFill>
              <a:srgbClr val="E7EEF9">
                <a:alpha val="0"/>
              </a:srgbClr>
            </a:solidFill>
            <a:prstDash val="solid"/>
          </a:ln>
        </p:spPr>
      </p:sp>
      <p:sp>
        <p:nvSpPr>
          <p:cNvPr id="8" name="Shape 6"/>
          <p:cNvSpPr/>
          <p:nvPr/>
        </p:nvSpPr>
        <p:spPr>
          <a:xfrm>
            <a:off x="807720" y="2400300"/>
            <a:ext cx="320040" cy="213360"/>
          </a:xfrm>
          <a:prstGeom prst="roundRect">
            <a:avLst>
              <a:gd name="adj" fmla="val 68571"/>
            </a:avLst>
          </a:prstGeom>
          <a:solidFill>
            <a:srgbClr val="FFFFFF"/>
          </a:solidFill>
          <a:ln w="6350">
            <a:solidFill>
              <a:srgbClr val="FFFFFF">
                <a:alpha val="0"/>
              </a:srgbClr>
            </a:solidFill>
            <a:prstDash val="solid"/>
          </a:ln>
        </p:spPr>
      </p:sp>
      <p:sp>
        <p:nvSpPr>
          <p:cNvPr id="9" name="Text 7"/>
          <p:cNvSpPr txBox="1"/>
          <p:nvPr/>
        </p:nvSpPr>
        <p:spPr>
          <a:xfrm>
            <a:off x="883920" y="2423160"/>
            <a:ext cx="167640" cy="167640"/>
          </a:xfrm>
          <a:prstGeom prst="rect">
            <a:avLst/>
          </a:prstGeom>
          <a:noFill/>
          <a:ln/>
        </p:spPr>
        <p:txBody>
          <a:bodyPr wrap="square" lIns="0" tIns="0" rIns="0" bIns="0" rtlCol="0" anchor="ctr">
            <a:normAutofit/>
          </a:bodyPr>
          <a:lstStyle/>
          <a:p>
            <a:pPr algn="ctr" indent="0" marL="0">
              <a:buNone/>
            </a:pPr>
            <a:r>
              <a:rPr lang="en-US" sz="540" b="1" spc="30" kern="0" dirty="0">
                <a:solidFill>
                  <a:srgbClr val="557DC0"/>
                </a:solidFill>
                <a:latin typeface="Aptos" pitchFamily="34" charset="0"/>
                <a:ea typeface="Aptos" pitchFamily="34" charset="-122"/>
                <a:cs typeface="Aptos" pitchFamily="34" charset="-120"/>
              </a:rPr>
              <a:t>01</a:t>
            </a:r>
            <a:endParaRPr lang="en-US" sz="540" dirty="0"/>
          </a:p>
        </p:txBody>
      </p:sp>
      <p:sp>
        <p:nvSpPr>
          <p:cNvPr id="10" name="Text 8"/>
          <p:cNvSpPr txBox="1"/>
          <p:nvPr/>
        </p:nvSpPr>
        <p:spPr>
          <a:xfrm>
            <a:off x="807720" y="2674620"/>
            <a:ext cx="1356360" cy="175260"/>
          </a:xfrm>
          <a:prstGeom prst="rect">
            <a:avLst/>
          </a:prstGeom>
          <a:noFill/>
          <a:ln/>
        </p:spPr>
        <p:txBody>
          <a:bodyPr wrap="square" lIns="0" tIns="0" rIns="0" bIns="0" rtlCol="0" anchor="ctr">
            <a:normAutofit/>
          </a:bodyPr>
          <a:lstStyle/>
          <a:p>
            <a:pPr algn="l" indent="0" marL="0">
              <a:buNone/>
            </a:pPr>
            <a:r>
              <a:rPr lang="en-US" sz="780" b="1" spc="80" kern="0" dirty="0">
                <a:solidFill>
                  <a:srgbClr val="557DC0"/>
                </a:solidFill>
                <a:latin typeface="Aptos" pitchFamily="34" charset="0"/>
                <a:ea typeface="Aptos" pitchFamily="34" charset="-122"/>
                <a:cs typeface="Aptos" pitchFamily="34" charset="-120"/>
              </a:rPr>
              <a:t>DISCOVER</a:t>
            </a:r>
            <a:endParaRPr lang="en-US" sz="780" dirty="0"/>
          </a:p>
        </p:txBody>
      </p:sp>
      <p:sp>
        <p:nvSpPr>
          <p:cNvPr id="11" name="Text 9"/>
          <p:cNvSpPr txBox="1"/>
          <p:nvPr/>
        </p:nvSpPr>
        <p:spPr>
          <a:xfrm>
            <a:off x="807720" y="2895600"/>
            <a:ext cx="1356360" cy="167640"/>
          </a:xfrm>
          <a:prstGeom prst="rect">
            <a:avLst/>
          </a:prstGeom>
          <a:noFill/>
          <a:ln/>
        </p:spPr>
        <p:txBody>
          <a:bodyPr wrap="square" lIns="0" tIns="0" rIns="0" bIns="0" rtlCol="0" anchor="ctr">
            <a:normAutofit/>
          </a:bodyPr>
          <a:lstStyle/>
          <a:p>
            <a:pPr algn="l" indent="0" marL="0">
              <a:buNone/>
            </a:pPr>
            <a:r>
              <a:rPr lang="en-US" sz="660" b="1" dirty="0">
                <a:solidFill>
                  <a:srgbClr val="344258"/>
                </a:solidFill>
                <a:latin typeface="Aptos" pitchFamily="34" charset="0"/>
                <a:ea typeface="Aptos" pitchFamily="34" charset="-122"/>
                <a:cs typeface="Aptos" pitchFamily="34" charset="-120"/>
              </a:rPr>
              <a:t>Thesis + public signals</a:t>
            </a:r>
            <a:endParaRPr lang="en-US" sz="660" dirty="0"/>
          </a:p>
        </p:txBody>
      </p:sp>
      <p:sp>
        <p:nvSpPr>
          <p:cNvPr id="12" name="Shape 10"/>
          <p:cNvSpPr/>
          <p:nvPr/>
        </p:nvSpPr>
        <p:spPr>
          <a:xfrm>
            <a:off x="2308860" y="2727960"/>
            <a:ext cx="213360" cy="0"/>
          </a:xfrm>
          <a:prstGeom prst="line">
            <a:avLst/>
          </a:prstGeom>
          <a:noFill/>
          <a:ln w="22860">
            <a:solidFill>
              <a:srgbClr val="557DC0"/>
            </a:solidFill>
            <a:prstDash val="solid"/>
            <a:headEnd type="none"/>
            <a:tailEnd type="triangle"/>
          </a:ln>
        </p:spPr>
      </p:sp>
      <p:sp>
        <p:nvSpPr>
          <p:cNvPr id="13" name="Shape 11"/>
          <p:cNvSpPr/>
          <p:nvPr/>
        </p:nvSpPr>
        <p:spPr>
          <a:xfrm>
            <a:off x="2552700" y="2286000"/>
            <a:ext cx="1600200" cy="883920"/>
          </a:xfrm>
          <a:prstGeom prst="roundRect">
            <a:avLst>
              <a:gd name="adj" fmla="val 14483"/>
            </a:avLst>
          </a:prstGeom>
          <a:solidFill>
            <a:srgbClr val="EEE8F8"/>
          </a:solidFill>
          <a:ln w="6350">
            <a:solidFill>
              <a:srgbClr val="EEE8F8">
                <a:alpha val="0"/>
              </a:srgbClr>
            </a:solidFill>
            <a:prstDash val="solid"/>
          </a:ln>
        </p:spPr>
      </p:sp>
      <p:sp>
        <p:nvSpPr>
          <p:cNvPr id="14" name="Shape 12"/>
          <p:cNvSpPr/>
          <p:nvPr/>
        </p:nvSpPr>
        <p:spPr>
          <a:xfrm>
            <a:off x="2674620" y="2400300"/>
            <a:ext cx="320040" cy="213360"/>
          </a:xfrm>
          <a:prstGeom prst="roundRect">
            <a:avLst>
              <a:gd name="adj" fmla="val 68571"/>
            </a:avLst>
          </a:prstGeom>
          <a:solidFill>
            <a:srgbClr val="FFFFFF"/>
          </a:solidFill>
          <a:ln w="6350">
            <a:solidFill>
              <a:srgbClr val="FFFFFF">
                <a:alpha val="0"/>
              </a:srgbClr>
            </a:solidFill>
            <a:prstDash val="solid"/>
          </a:ln>
        </p:spPr>
      </p:sp>
      <p:sp>
        <p:nvSpPr>
          <p:cNvPr id="15" name="Text 13"/>
          <p:cNvSpPr txBox="1"/>
          <p:nvPr/>
        </p:nvSpPr>
        <p:spPr>
          <a:xfrm>
            <a:off x="2750820" y="2423160"/>
            <a:ext cx="167640" cy="167640"/>
          </a:xfrm>
          <a:prstGeom prst="rect">
            <a:avLst/>
          </a:prstGeom>
          <a:noFill/>
          <a:ln/>
        </p:spPr>
        <p:txBody>
          <a:bodyPr wrap="square" lIns="0" tIns="0" rIns="0" bIns="0" rtlCol="0" anchor="ctr">
            <a:normAutofit/>
          </a:bodyPr>
          <a:lstStyle/>
          <a:p>
            <a:pPr algn="ctr" indent="0" marL="0">
              <a:buNone/>
            </a:pPr>
            <a:r>
              <a:rPr lang="en-US" sz="540" b="1" spc="30" kern="0" dirty="0">
                <a:solidFill>
                  <a:srgbClr val="7656A5"/>
                </a:solidFill>
                <a:latin typeface="Aptos" pitchFamily="34" charset="0"/>
                <a:ea typeface="Aptos" pitchFamily="34" charset="-122"/>
                <a:cs typeface="Aptos" pitchFamily="34" charset="-120"/>
              </a:rPr>
              <a:t>02</a:t>
            </a:r>
            <a:endParaRPr lang="en-US" sz="540" dirty="0"/>
          </a:p>
        </p:txBody>
      </p:sp>
      <p:sp>
        <p:nvSpPr>
          <p:cNvPr id="16" name="Text 14"/>
          <p:cNvSpPr txBox="1"/>
          <p:nvPr/>
        </p:nvSpPr>
        <p:spPr>
          <a:xfrm>
            <a:off x="2674620" y="2674620"/>
            <a:ext cx="1356360" cy="175260"/>
          </a:xfrm>
          <a:prstGeom prst="rect">
            <a:avLst/>
          </a:prstGeom>
          <a:noFill/>
          <a:ln/>
        </p:spPr>
        <p:txBody>
          <a:bodyPr wrap="square" lIns="0" tIns="0" rIns="0" bIns="0" rtlCol="0" anchor="ctr">
            <a:normAutofit/>
          </a:bodyPr>
          <a:lstStyle/>
          <a:p>
            <a:pPr algn="l" indent="0" marL="0">
              <a:buNone/>
            </a:pPr>
            <a:r>
              <a:rPr lang="en-US" sz="780" b="1" spc="80" kern="0" dirty="0">
                <a:solidFill>
                  <a:srgbClr val="7656A5"/>
                </a:solidFill>
                <a:latin typeface="Aptos" pitchFamily="34" charset="0"/>
                <a:ea typeface="Aptos" pitchFamily="34" charset="-122"/>
                <a:cs typeface="Aptos" pitchFamily="34" charset="-120"/>
              </a:rPr>
              <a:t>SIGNAL SCORE</a:t>
            </a:r>
            <a:endParaRPr lang="en-US" sz="780" dirty="0"/>
          </a:p>
        </p:txBody>
      </p:sp>
      <p:sp>
        <p:nvSpPr>
          <p:cNvPr id="17" name="Text 15"/>
          <p:cNvSpPr txBox="1"/>
          <p:nvPr/>
        </p:nvSpPr>
        <p:spPr>
          <a:xfrm>
            <a:off x="2674620" y="2895600"/>
            <a:ext cx="1356360" cy="167640"/>
          </a:xfrm>
          <a:prstGeom prst="rect">
            <a:avLst/>
          </a:prstGeom>
          <a:noFill/>
          <a:ln/>
        </p:spPr>
        <p:txBody>
          <a:bodyPr wrap="square" lIns="0" tIns="0" rIns="0" bIns="0" rtlCol="0" anchor="ctr">
            <a:normAutofit/>
          </a:bodyPr>
          <a:lstStyle/>
          <a:p>
            <a:pPr algn="l" indent="0" marL="0">
              <a:buNone/>
            </a:pPr>
            <a:r>
              <a:rPr lang="en-US" sz="660" b="1" dirty="0">
                <a:solidFill>
                  <a:srgbClr val="344258"/>
                </a:solidFill>
                <a:latin typeface="Aptos" pitchFamily="34" charset="0"/>
                <a:ea typeface="Aptos" pitchFamily="34" charset="-122"/>
                <a:cs typeface="Aptos" pitchFamily="34" charset="-120"/>
              </a:rPr>
              <a:t>Fast triage</a:t>
            </a:r>
            <a:endParaRPr lang="en-US" sz="660" dirty="0"/>
          </a:p>
        </p:txBody>
      </p:sp>
      <p:sp>
        <p:nvSpPr>
          <p:cNvPr id="18" name="Shape 16"/>
          <p:cNvSpPr/>
          <p:nvPr/>
        </p:nvSpPr>
        <p:spPr>
          <a:xfrm>
            <a:off x="4175760" y="2727960"/>
            <a:ext cx="213360" cy="0"/>
          </a:xfrm>
          <a:prstGeom prst="line">
            <a:avLst/>
          </a:prstGeom>
          <a:noFill/>
          <a:ln w="22860">
            <a:solidFill>
              <a:srgbClr val="7656A5"/>
            </a:solidFill>
            <a:prstDash val="solid"/>
            <a:headEnd type="none"/>
            <a:tailEnd type="triangle"/>
          </a:ln>
        </p:spPr>
      </p:sp>
      <p:sp>
        <p:nvSpPr>
          <p:cNvPr id="19" name="Shape 17"/>
          <p:cNvSpPr/>
          <p:nvPr/>
        </p:nvSpPr>
        <p:spPr>
          <a:xfrm>
            <a:off x="4419600" y="2286000"/>
            <a:ext cx="1600200" cy="883920"/>
          </a:xfrm>
          <a:prstGeom prst="roundRect">
            <a:avLst>
              <a:gd name="adj" fmla="val 14483"/>
            </a:avLst>
          </a:prstGeom>
          <a:solidFill>
            <a:srgbClr val="E4F2ED"/>
          </a:solidFill>
          <a:ln w="6350">
            <a:solidFill>
              <a:srgbClr val="E4F2ED">
                <a:alpha val="0"/>
              </a:srgbClr>
            </a:solidFill>
            <a:prstDash val="solid"/>
          </a:ln>
        </p:spPr>
      </p:sp>
      <p:sp>
        <p:nvSpPr>
          <p:cNvPr id="20" name="Shape 18"/>
          <p:cNvSpPr/>
          <p:nvPr/>
        </p:nvSpPr>
        <p:spPr>
          <a:xfrm>
            <a:off x="4541520" y="2400300"/>
            <a:ext cx="320040" cy="213360"/>
          </a:xfrm>
          <a:prstGeom prst="roundRect">
            <a:avLst>
              <a:gd name="adj" fmla="val 68571"/>
            </a:avLst>
          </a:prstGeom>
          <a:solidFill>
            <a:srgbClr val="FFFFFF"/>
          </a:solidFill>
          <a:ln w="6350">
            <a:solidFill>
              <a:srgbClr val="FFFFFF">
                <a:alpha val="0"/>
              </a:srgbClr>
            </a:solidFill>
            <a:prstDash val="solid"/>
          </a:ln>
        </p:spPr>
      </p:sp>
      <p:sp>
        <p:nvSpPr>
          <p:cNvPr id="21" name="Text 19"/>
          <p:cNvSpPr txBox="1"/>
          <p:nvPr/>
        </p:nvSpPr>
        <p:spPr>
          <a:xfrm>
            <a:off x="4617720" y="2423160"/>
            <a:ext cx="167640" cy="167640"/>
          </a:xfrm>
          <a:prstGeom prst="rect">
            <a:avLst/>
          </a:prstGeom>
          <a:noFill/>
          <a:ln/>
        </p:spPr>
        <p:txBody>
          <a:bodyPr wrap="square" lIns="0" tIns="0" rIns="0" bIns="0" rtlCol="0" anchor="ctr">
            <a:normAutofit/>
          </a:bodyPr>
          <a:lstStyle/>
          <a:p>
            <a:pPr algn="ctr" indent="0" marL="0">
              <a:buNone/>
            </a:pPr>
            <a:r>
              <a:rPr lang="en-US" sz="540" b="1" spc="30" kern="0" dirty="0">
                <a:solidFill>
                  <a:srgbClr val="2F8B72"/>
                </a:solidFill>
                <a:latin typeface="Aptos" pitchFamily="34" charset="0"/>
                <a:ea typeface="Aptos" pitchFamily="34" charset="-122"/>
                <a:cs typeface="Aptos" pitchFamily="34" charset="-120"/>
              </a:rPr>
              <a:t>03</a:t>
            </a:r>
            <a:endParaRPr lang="en-US" sz="540" dirty="0"/>
          </a:p>
        </p:txBody>
      </p:sp>
      <p:sp>
        <p:nvSpPr>
          <p:cNvPr id="22" name="Text 20"/>
          <p:cNvSpPr txBox="1"/>
          <p:nvPr/>
        </p:nvSpPr>
        <p:spPr>
          <a:xfrm>
            <a:off x="4541520" y="2674620"/>
            <a:ext cx="1356360" cy="175260"/>
          </a:xfrm>
          <a:prstGeom prst="rect">
            <a:avLst/>
          </a:prstGeom>
          <a:noFill/>
          <a:ln/>
        </p:spPr>
        <p:txBody>
          <a:bodyPr wrap="square" lIns="0" tIns="0" rIns="0" bIns="0" rtlCol="0" anchor="ctr">
            <a:normAutofit/>
          </a:bodyPr>
          <a:lstStyle/>
          <a:p>
            <a:pPr algn="l" indent="0" marL="0">
              <a:buNone/>
            </a:pPr>
            <a:r>
              <a:rPr lang="en-US" sz="780" b="1" spc="80" kern="0" dirty="0">
                <a:solidFill>
                  <a:srgbClr val="2F8B72"/>
                </a:solidFill>
                <a:latin typeface="Aptos" pitchFamily="34" charset="0"/>
                <a:ea typeface="Aptos" pitchFamily="34" charset="-122"/>
                <a:cs typeface="Aptos" pitchFamily="34" charset="-120"/>
              </a:rPr>
              <a:t>PROMISING</a:t>
            </a:r>
            <a:endParaRPr lang="en-US" sz="780" dirty="0"/>
          </a:p>
        </p:txBody>
      </p:sp>
      <p:sp>
        <p:nvSpPr>
          <p:cNvPr id="23" name="Text 21"/>
          <p:cNvSpPr txBox="1"/>
          <p:nvPr/>
        </p:nvSpPr>
        <p:spPr>
          <a:xfrm>
            <a:off x="4541520" y="2895600"/>
            <a:ext cx="1356360" cy="167640"/>
          </a:xfrm>
          <a:prstGeom prst="rect">
            <a:avLst/>
          </a:prstGeom>
          <a:noFill/>
          <a:ln/>
        </p:spPr>
        <p:txBody>
          <a:bodyPr wrap="square" lIns="0" tIns="0" rIns="0" bIns="0" rtlCol="0" anchor="ctr">
            <a:normAutofit/>
          </a:bodyPr>
          <a:lstStyle/>
          <a:p>
            <a:pPr algn="l" indent="0" marL="0">
              <a:buNone/>
            </a:pPr>
            <a:r>
              <a:rPr lang="en-US" sz="660" b="1" dirty="0">
                <a:solidFill>
                  <a:srgbClr val="344258"/>
                </a:solidFill>
                <a:latin typeface="Aptos" pitchFamily="34" charset="0"/>
                <a:ea typeface="Aptos" pitchFamily="34" charset="-122"/>
                <a:cs typeface="Aptos" pitchFamily="34" charset="-120"/>
              </a:rPr>
              <a:t>Human gate</a:t>
            </a:r>
            <a:endParaRPr lang="en-US" sz="660" dirty="0"/>
          </a:p>
        </p:txBody>
      </p:sp>
      <p:sp>
        <p:nvSpPr>
          <p:cNvPr id="24" name="Shape 22"/>
          <p:cNvSpPr/>
          <p:nvPr/>
        </p:nvSpPr>
        <p:spPr>
          <a:xfrm>
            <a:off x="6042660" y="2727960"/>
            <a:ext cx="213360" cy="0"/>
          </a:xfrm>
          <a:prstGeom prst="line">
            <a:avLst/>
          </a:prstGeom>
          <a:noFill/>
          <a:ln w="22860">
            <a:solidFill>
              <a:srgbClr val="2F8B72"/>
            </a:solidFill>
            <a:prstDash val="solid"/>
            <a:headEnd type="none"/>
            <a:tailEnd type="triangle"/>
          </a:ln>
        </p:spPr>
      </p:sp>
      <p:sp>
        <p:nvSpPr>
          <p:cNvPr id="25" name="Shape 23"/>
          <p:cNvSpPr/>
          <p:nvPr/>
        </p:nvSpPr>
        <p:spPr>
          <a:xfrm>
            <a:off x="6286500" y="2286000"/>
            <a:ext cx="1600200" cy="883920"/>
          </a:xfrm>
          <a:prstGeom prst="roundRect">
            <a:avLst>
              <a:gd name="adj" fmla="val 14483"/>
            </a:avLst>
          </a:prstGeom>
          <a:solidFill>
            <a:srgbClr val="FFF1DF"/>
          </a:solidFill>
          <a:ln w="6350">
            <a:solidFill>
              <a:srgbClr val="FFF1DF">
                <a:alpha val="0"/>
              </a:srgbClr>
            </a:solidFill>
            <a:prstDash val="solid"/>
          </a:ln>
        </p:spPr>
      </p:sp>
      <p:sp>
        <p:nvSpPr>
          <p:cNvPr id="26" name="Shape 24"/>
          <p:cNvSpPr/>
          <p:nvPr/>
        </p:nvSpPr>
        <p:spPr>
          <a:xfrm>
            <a:off x="6408420" y="2400300"/>
            <a:ext cx="320040" cy="213360"/>
          </a:xfrm>
          <a:prstGeom prst="roundRect">
            <a:avLst>
              <a:gd name="adj" fmla="val 68571"/>
            </a:avLst>
          </a:prstGeom>
          <a:solidFill>
            <a:srgbClr val="FFFFFF"/>
          </a:solidFill>
          <a:ln w="6350">
            <a:solidFill>
              <a:srgbClr val="FFFFFF">
                <a:alpha val="0"/>
              </a:srgbClr>
            </a:solidFill>
            <a:prstDash val="solid"/>
          </a:ln>
        </p:spPr>
      </p:sp>
      <p:sp>
        <p:nvSpPr>
          <p:cNvPr id="27" name="Text 25"/>
          <p:cNvSpPr txBox="1"/>
          <p:nvPr/>
        </p:nvSpPr>
        <p:spPr>
          <a:xfrm>
            <a:off x="6484620" y="2423160"/>
            <a:ext cx="167640" cy="167640"/>
          </a:xfrm>
          <a:prstGeom prst="rect">
            <a:avLst/>
          </a:prstGeom>
          <a:noFill/>
          <a:ln/>
        </p:spPr>
        <p:txBody>
          <a:bodyPr wrap="square" lIns="0" tIns="0" rIns="0" bIns="0" rtlCol="0" anchor="ctr">
            <a:normAutofit/>
          </a:bodyPr>
          <a:lstStyle/>
          <a:p>
            <a:pPr algn="ctr" indent="0" marL="0">
              <a:buNone/>
            </a:pPr>
            <a:r>
              <a:rPr lang="en-US" sz="540" b="1" spc="30" kern="0" dirty="0">
                <a:solidFill>
                  <a:srgbClr val="B87932"/>
                </a:solidFill>
                <a:latin typeface="Aptos" pitchFamily="34" charset="0"/>
                <a:ea typeface="Aptos" pitchFamily="34" charset="-122"/>
                <a:cs typeface="Aptos" pitchFamily="34" charset="-120"/>
              </a:rPr>
              <a:t>04</a:t>
            </a:r>
            <a:endParaRPr lang="en-US" sz="540" dirty="0"/>
          </a:p>
        </p:txBody>
      </p:sp>
      <p:sp>
        <p:nvSpPr>
          <p:cNvPr id="28" name="Text 26"/>
          <p:cNvSpPr txBox="1"/>
          <p:nvPr/>
        </p:nvSpPr>
        <p:spPr>
          <a:xfrm>
            <a:off x="6408420" y="2674620"/>
            <a:ext cx="1356360" cy="175260"/>
          </a:xfrm>
          <a:prstGeom prst="rect">
            <a:avLst/>
          </a:prstGeom>
          <a:noFill/>
          <a:ln/>
        </p:spPr>
        <p:txBody>
          <a:bodyPr wrap="square" lIns="0" tIns="0" rIns="0" bIns="0" rtlCol="0" anchor="ctr">
            <a:normAutofit/>
          </a:bodyPr>
          <a:lstStyle/>
          <a:p>
            <a:pPr algn="l" indent="0" marL="0">
              <a:buNone/>
            </a:pPr>
            <a:r>
              <a:rPr lang="en-US" sz="780" b="1" spc="80" kern="0" dirty="0">
                <a:solidFill>
                  <a:srgbClr val="B87932"/>
                </a:solidFill>
                <a:latin typeface="Aptos" pitchFamily="34" charset="0"/>
                <a:ea typeface="Aptos" pitchFamily="34" charset="-122"/>
                <a:cs typeface="Aptos" pitchFamily="34" charset="-120"/>
              </a:rPr>
              <a:t>FOOTPRINTS</a:t>
            </a:r>
            <a:endParaRPr lang="en-US" sz="780" dirty="0"/>
          </a:p>
        </p:txBody>
      </p:sp>
      <p:sp>
        <p:nvSpPr>
          <p:cNvPr id="29" name="Text 27"/>
          <p:cNvSpPr txBox="1"/>
          <p:nvPr/>
        </p:nvSpPr>
        <p:spPr>
          <a:xfrm>
            <a:off x="6408420" y="2895600"/>
            <a:ext cx="1356360" cy="167640"/>
          </a:xfrm>
          <a:prstGeom prst="rect">
            <a:avLst/>
          </a:prstGeom>
          <a:noFill/>
          <a:ln/>
        </p:spPr>
        <p:txBody>
          <a:bodyPr wrap="square" lIns="0" tIns="0" rIns="0" bIns="0" rtlCol="0" anchor="ctr">
            <a:normAutofit/>
          </a:bodyPr>
          <a:lstStyle/>
          <a:p>
            <a:pPr algn="l" indent="0" marL="0">
              <a:buNone/>
            </a:pPr>
            <a:r>
              <a:rPr lang="en-US" sz="660" b="1" dirty="0">
                <a:solidFill>
                  <a:srgbClr val="344258"/>
                </a:solidFill>
                <a:latin typeface="Aptos" pitchFamily="34" charset="0"/>
                <a:ea typeface="Aptos" pitchFamily="34" charset="-122"/>
                <a:cs typeface="Aptos" pitchFamily="34" charset="-120"/>
              </a:rPr>
              <a:t>Identity + evidence</a:t>
            </a:r>
            <a:endParaRPr lang="en-US" sz="660" dirty="0"/>
          </a:p>
        </p:txBody>
      </p:sp>
      <p:sp>
        <p:nvSpPr>
          <p:cNvPr id="30" name="Shape 28"/>
          <p:cNvSpPr/>
          <p:nvPr/>
        </p:nvSpPr>
        <p:spPr>
          <a:xfrm>
            <a:off x="7909560" y="2727960"/>
            <a:ext cx="213360" cy="0"/>
          </a:xfrm>
          <a:prstGeom prst="line">
            <a:avLst/>
          </a:prstGeom>
          <a:noFill/>
          <a:ln w="22860">
            <a:solidFill>
              <a:srgbClr val="B87932"/>
            </a:solidFill>
            <a:prstDash val="solid"/>
            <a:headEnd type="none"/>
            <a:tailEnd type="triangle"/>
          </a:ln>
        </p:spPr>
      </p:sp>
      <p:sp>
        <p:nvSpPr>
          <p:cNvPr id="31" name="Shape 29"/>
          <p:cNvSpPr/>
          <p:nvPr/>
        </p:nvSpPr>
        <p:spPr>
          <a:xfrm>
            <a:off x="8153400" y="2286000"/>
            <a:ext cx="1600200" cy="883920"/>
          </a:xfrm>
          <a:prstGeom prst="roundRect">
            <a:avLst>
              <a:gd name="adj" fmla="val 14483"/>
            </a:avLst>
          </a:prstGeom>
          <a:solidFill>
            <a:srgbClr val="EEE8F8"/>
          </a:solidFill>
          <a:ln w="6350">
            <a:solidFill>
              <a:srgbClr val="EEE8F8">
                <a:alpha val="0"/>
              </a:srgbClr>
            </a:solidFill>
            <a:prstDash val="solid"/>
          </a:ln>
        </p:spPr>
      </p:sp>
      <p:sp>
        <p:nvSpPr>
          <p:cNvPr id="32" name="Shape 30"/>
          <p:cNvSpPr/>
          <p:nvPr/>
        </p:nvSpPr>
        <p:spPr>
          <a:xfrm>
            <a:off x="8275320" y="2400300"/>
            <a:ext cx="320040" cy="213360"/>
          </a:xfrm>
          <a:prstGeom prst="roundRect">
            <a:avLst>
              <a:gd name="adj" fmla="val 68571"/>
            </a:avLst>
          </a:prstGeom>
          <a:solidFill>
            <a:srgbClr val="FFFFFF"/>
          </a:solidFill>
          <a:ln w="6350">
            <a:solidFill>
              <a:srgbClr val="FFFFFF">
                <a:alpha val="0"/>
              </a:srgbClr>
            </a:solidFill>
            <a:prstDash val="solid"/>
          </a:ln>
        </p:spPr>
      </p:sp>
      <p:sp>
        <p:nvSpPr>
          <p:cNvPr id="33" name="Text 31"/>
          <p:cNvSpPr txBox="1"/>
          <p:nvPr/>
        </p:nvSpPr>
        <p:spPr>
          <a:xfrm>
            <a:off x="8351520" y="2423160"/>
            <a:ext cx="167640" cy="167640"/>
          </a:xfrm>
          <a:prstGeom prst="rect">
            <a:avLst/>
          </a:prstGeom>
          <a:noFill/>
          <a:ln/>
        </p:spPr>
        <p:txBody>
          <a:bodyPr wrap="square" lIns="0" tIns="0" rIns="0" bIns="0" rtlCol="0" anchor="ctr">
            <a:normAutofit/>
          </a:bodyPr>
          <a:lstStyle/>
          <a:p>
            <a:pPr algn="ctr" indent="0" marL="0">
              <a:buNone/>
            </a:pPr>
            <a:r>
              <a:rPr lang="en-US" sz="540" b="1" spc="30" kern="0" dirty="0">
                <a:solidFill>
                  <a:srgbClr val="7656A5"/>
                </a:solidFill>
                <a:latin typeface="Aptos" pitchFamily="34" charset="0"/>
                <a:ea typeface="Aptos" pitchFamily="34" charset="-122"/>
                <a:cs typeface="Aptos" pitchFamily="34" charset="-120"/>
              </a:rPr>
              <a:t>05</a:t>
            </a:r>
            <a:endParaRPr lang="en-US" sz="540" dirty="0"/>
          </a:p>
        </p:txBody>
      </p:sp>
      <p:sp>
        <p:nvSpPr>
          <p:cNvPr id="34" name="Text 32"/>
          <p:cNvSpPr txBox="1"/>
          <p:nvPr/>
        </p:nvSpPr>
        <p:spPr>
          <a:xfrm>
            <a:off x="8275320" y="2674620"/>
            <a:ext cx="1356360" cy="175260"/>
          </a:xfrm>
          <a:prstGeom prst="rect">
            <a:avLst/>
          </a:prstGeom>
          <a:noFill/>
          <a:ln/>
        </p:spPr>
        <p:txBody>
          <a:bodyPr wrap="square" lIns="0" tIns="0" rIns="0" bIns="0" rtlCol="0" anchor="ctr">
            <a:normAutofit/>
          </a:bodyPr>
          <a:lstStyle/>
          <a:p>
            <a:pPr algn="l" indent="0" marL="0">
              <a:buNone/>
            </a:pPr>
            <a:r>
              <a:rPr lang="en-US" sz="780" b="1" spc="80" kern="0" dirty="0">
                <a:solidFill>
                  <a:srgbClr val="7656A5"/>
                </a:solidFill>
                <a:latin typeface="Aptos" pitchFamily="34" charset="0"/>
                <a:ea typeface="Aptos" pitchFamily="34" charset="-122"/>
                <a:cs typeface="Aptos" pitchFamily="34" charset="-120"/>
              </a:rPr>
              <a:t>3-AXIS SCORE</a:t>
            </a:r>
            <a:endParaRPr lang="en-US" sz="780" dirty="0"/>
          </a:p>
        </p:txBody>
      </p:sp>
      <p:sp>
        <p:nvSpPr>
          <p:cNvPr id="35" name="Text 33"/>
          <p:cNvSpPr txBox="1"/>
          <p:nvPr/>
        </p:nvSpPr>
        <p:spPr>
          <a:xfrm>
            <a:off x="8275320" y="2895600"/>
            <a:ext cx="1356360" cy="167640"/>
          </a:xfrm>
          <a:prstGeom prst="rect">
            <a:avLst/>
          </a:prstGeom>
          <a:noFill/>
          <a:ln/>
        </p:spPr>
        <p:txBody>
          <a:bodyPr wrap="square" lIns="0" tIns="0" rIns="0" bIns="0" rtlCol="0" anchor="ctr">
            <a:normAutofit/>
          </a:bodyPr>
          <a:lstStyle/>
          <a:p>
            <a:pPr algn="l" indent="0" marL="0">
              <a:buNone/>
            </a:pPr>
            <a:r>
              <a:rPr lang="en-US" sz="660" b="1" dirty="0">
                <a:solidFill>
                  <a:srgbClr val="344258"/>
                </a:solidFill>
                <a:latin typeface="Aptos" pitchFamily="34" charset="0"/>
                <a:ea typeface="Aptos" pitchFamily="34" charset="-122"/>
                <a:cs typeface="Aptos" pitchFamily="34" charset="-120"/>
              </a:rPr>
              <a:t>Founder · Market · Fit</a:t>
            </a:r>
            <a:endParaRPr lang="en-US" sz="660" dirty="0"/>
          </a:p>
        </p:txBody>
      </p:sp>
      <p:sp>
        <p:nvSpPr>
          <p:cNvPr id="36" name="Shape 34"/>
          <p:cNvSpPr/>
          <p:nvPr/>
        </p:nvSpPr>
        <p:spPr>
          <a:xfrm>
            <a:off x="9776460" y="2727960"/>
            <a:ext cx="213360" cy="0"/>
          </a:xfrm>
          <a:prstGeom prst="line">
            <a:avLst/>
          </a:prstGeom>
          <a:noFill/>
          <a:ln w="22860">
            <a:solidFill>
              <a:srgbClr val="7656A5"/>
            </a:solidFill>
            <a:prstDash val="solid"/>
            <a:headEnd type="none"/>
            <a:tailEnd type="triangle"/>
          </a:ln>
        </p:spPr>
      </p:sp>
      <p:sp>
        <p:nvSpPr>
          <p:cNvPr id="37" name="Shape 35"/>
          <p:cNvSpPr/>
          <p:nvPr/>
        </p:nvSpPr>
        <p:spPr>
          <a:xfrm>
            <a:off x="10020300" y="2286000"/>
            <a:ext cx="1600200" cy="883920"/>
          </a:xfrm>
          <a:prstGeom prst="roundRect">
            <a:avLst>
              <a:gd name="adj" fmla="val 14483"/>
            </a:avLst>
          </a:prstGeom>
          <a:solidFill>
            <a:srgbClr val="E7EEF9"/>
          </a:solidFill>
          <a:ln w="6350">
            <a:solidFill>
              <a:srgbClr val="E7EEF9">
                <a:alpha val="0"/>
              </a:srgbClr>
            </a:solidFill>
            <a:prstDash val="solid"/>
          </a:ln>
          <a:effectLst>
            <a:outerShdw sx="100000" sy="100000" kx="0" ky="0" algn="bl" rotWithShape="0" blurRad="4.471758777120074e+53" dist="8.943517554240149e+53" dir="5.877312307200001e+63">
              <a:srgbClr val="405875">
                <a:alpha val="1.2000000000000001e+64"/>
              </a:srgbClr>
            </a:outerShdw>
          </a:effectLst>
        </p:spPr>
      </p:sp>
      <p:sp>
        <p:nvSpPr>
          <p:cNvPr id="38" name="Shape 36"/>
          <p:cNvSpPr/>
          <p:nvPr/>
        </p:nvSpPr>
        <p:spPr>
          <a:xfrm>
            <a:off x="10142220" y="2400300"/>
            <a:ext cx="320040" cy="213360"/>
          </a:xfrm>
          <a:prstGeom prst="roundRect">
            <a:avLst>
              <a:gd name="adj" fmla="val 68571"/>
            </a:avLst>
          </a:prstGeom>
          <a:solidFill>
            <a:srgbClr val="FFFFFF"/>
          </a:solidFill>
          <a:ln w="6350">
            <a:solidFill>
              <a:srgbClr val="FFFFFF">
                <a:alpha val="0"/>
              </a:srgbClr>
            </a:solidFill>
            <a:prstDash val="solid"/>
          </a:ln>
        </p:spPr>
      </p:sp>
      <p:sp>
        <p:nvSpPr>
          <p:cNvPr id="39" name="Text 37"/>
          <p:cNvSpPr txBox="1"/>
          <p:nvPr/>
        </p:nvSpPr>
        <p:spPr>
          <a:xfrm>
            <a:off x="10218420" y="2423160"/>
            <a:ext cx="167640" cy="167640"/>
          </a:xfrm>
          <a:prstGeom prst="rect">
            <a:avLst/>
          </a:prstGeom>
          <a:noFill/>
          <a:ln/>
        </p:spPr>
        <p:txBody>
          <a:bodyPr wrap="square" lIns="0" tIns="0" rIns="0" bIns="0" rtlCol="0" anchor="ctr">
            <a:normAutofit/>
          </a:bodyPr>
          <a:lstStyle/>
          <a:p>
            <a:pPr algn="ctr" indent="0" marL="0">
              <a:buNone/>
            </a:pPr>
            <a:r>
              <a:rPr lang="en-US" sz="540" b="1" spc="30" kern="0" dirty="0">
                <a:solidFill>
                  <a:srgbClr val="557DC0"/>
                </a:solidFill>
                <a:latin typeface="Aptos" pitchFamily="34" charset="0"/>
                <a:ea typeface="Aptos" pitchFamily="34" charset="-122"/>
                <a:cs typeface="Aptos" pitchFamily="34" charset="-120"/>
              </a:rPr>
              <a:t>06</a:t>
            </a:r>
            <a:endParaRPr lang="en-US" sz="540" dirty="0"/>
          </a:p>
        </p:txBody>
      </p:sp>
      <p:sp>
        <p:nvSpPr>
          <p:cNvPr id="40" name="Text 38"/>
          <p:cNvSpPr txBox="1"/>
          <p:nvPr/>
        </p:nvSpPr>
        <p:spPr>
          <a:xfrm>
            <a:off x="10142220" y="2674620"/>
            <a:ext cx="1356360" cy="175260"/>
          </a:xfrm>
          <a:prstGeom prst="rect">
            <a:avLst/>
          </a:prstGeom>
          <a:noFill/>
          <a:ln/>
        </p:spPr>
        <p:txBody>
          <a:bodyPr wrap="square" lIns="0" tIns="0" rIns="0" bIns="0" rtlCol="0" anchor="ctr">
            <a:normAutofit/>
          </a:bodyPr>
          <a:lstStyle/>
          <a:p>
            <a:pPr algn="l" indent="0" marL="0">
              <a:buNone/>
            </a:pPr>
            <a:r>
              <a:rPr lang="en-US" sz="780" b="1" spc="80" kern="0" dirty="0">
                <a:solidFill>
                  <a:srgbClr val="557DC0"/>
                </a:solidFill>
                <a:latin typeface="Aptos" pitchFamily="34" charset="0"/>
                <a:ea typeface="Aptos" pitchFamily="34" charset="-122"/>
                <a:cs typeface="Aptos" pitchFamily="34" charset="-120"/>
              </a:rPr>
              <a:t>OUTREACH</a:t>
            </a:r>
            <a:endParaRPr lang="en-US" sz="780" dirty="0"/>
          </a:p>
        </p:txBody>
      </p:sp>
      <p:sp>
        <p:nvSpPr>
          <p:cNvPr id="41" name="Text 39"/>
          <p:cNvSpPr txBox="1"/>
          <p:nvPr/>
        </p:nvSpPr>
        <p:spPr>
          <a:xfrm>
            <a:off x="10142220" y="2895600"/>
            <a:ext cx="1356360" cy="167640"/>
          </a:xfrm>
          <a:prstGeom prst="rect">
            <a:avLst/>
          </a:prstGeom>
          <a:noFill/>
          <a:ln/>
        </p:spPr>
        <p:txBody>
          <a:bodyPr wrap="square" lIns="0" tIns="0" rIns="0" bIns="0" rtlCol="0" anchor="ctr">
            <a:normAutofit/>
          </a:bodyPr>
          <a:lstStyle/>
          <a:p>
            <a:pPr algn="l" indent="0" marL="0">
              <a:buNone/>
            </a:pPr>
            <a:r>
              <a:rPr lang="en-US" sz="660" b="1" dirty="0">
                <a:solidFill>
                  <a:srgbClr val="344258"/>
                </a:solidFill>
                <a:latin typeface="Aptos" pitchFamily="34" charset="0"/>
                <a:ea typeface="Aptos" pitchFamily="34" charset="-122"/>
                <a:cs typeface="Aptos" pitchFamily="34" charset="-120"/>
              </a:rPr>
              <a:t>Draft + approve</a:t>
            </a:r>
            <a:endParaRPr lang="en-US" sz="660" dirty="0"/>
          </a:p>
        </p:txBody>
      </p:sp>
      <p:sp>
        <p:nvSpPr>
          <p:cNvPr id="42" name="Shape 40"/>
          <p:cNvSpPr/>
          <p:nvPr/>
        </p:nvSpPr>
        <p:spPr>
          <a:xfrm>
            <a:off x="11620500" y="3185160"/>
            <a:ext cx="0" cy="563880"/>
          </a:xfrm>
          <a:prstGeom prst="line">
            <a:avLst/>
          </a:prstGeom>
          <a:noFill/>
          <a:ln w="27940">
            <a:solidFill>
              <a:srgbClr val="557DC0"/>
            </a:solidFill>
            <a:prstDash val="solid"/>
            <a:headEnd type="none"/>
            <a:tailEnd type="triangle"/>
          </a:ln>
        </p:spPr>
      </p:sp>
      <p:sp>
        <p:nvSpPr>
          <p:cNvPr id="43" name="Shape 41"/>
          <p:cNvSpPr/>
          <p:nvPr/>
        </p:nvSpPr>
        <p:spPr>
          <a:xfrm>
            <a:off x="9715500" y="3467100"/>
            <a:ext cx="1905000" cy="266700"/>
          </a:xfrm>
          <a:prstGeom prst="roundRect">
            <a:avLst>
              <a:gd name="adj" fmla="val 54857"/>
            </a:avLst>
          </a:prstGeom>
          <a:solidFill>
            <a:srgbClr val="E4F2ED"/>
          </a:solidFill>
          <a:ln w="6350">
            <a:solidFill>
              <a:srgbClr val="E4F2ED">
                <a:alpha val="0"/>
              </a:srgbClr>
            </a:solidFill>
            <a:prstDash val="solid"/>
          </a:ln>
        </p:spPr>
      </p:sp>
      <p:sp>
        <p:nvSpPr>
          <p:cNvPr id="44" name="Text 42"/>
          <p:cNvSpPr txBox="1"/>
          <p:nvPr/>
        </p:nvSpPr>
        <p:spPr>
          <a:xfrm>
            <a:off x="9791700" y="3489960"/>
            <a:ext cx="1752600" cy="220980"/>
          </a:xfrm>
          <a:prstGeom prst="rect">
            <a:avLst/>
          </a:prstGeom>
          <a:noFill/>
          <a:ln/>
        </p:spPr>
        <p:txBody>
          <a:bodyPr wrap="square" lIns="0" tIns="0" rIns="0" bIns="0" rtlCol="0" anchor="ctr">
            <a:normAutofit/>
          </a:bodyPr>
          <a:lstStyle/>
          <a:p>
            <a:pPr algn="ctr" indent="0" marL="0">
              <a:buNone/>
            </a:pPr>
            <a:r>
              <a:rPr lang="en-US" sz="600" b="1" spc="30" kern="0" dirty="0">
                <a:solidFill>
                  <a:srgbClr val="2F8B72"/>
                </a:solidFill>
                <a:latin typeface="Aptos" pitchFamily="34" charset="0"/>
                <a:ea typeface="Aptos" pitchFamily="34" charset="-122"/>
                <a:cs typeface="Aptos" pitchFamily="34" charset="-120"/>
              </a:rPr>
              <a:t>INBOUND · RESPONSE</a:t>
            </a:r>
            <a:endParaRPr lang="en-US" sz="600" dirty="0"/>
          </a:p>
        </p:txBody>
      </p:sp>
      <p:sp>
        <p:nvSpPr>
          <p:cNvPr id="45" name="Shape 43"/>
          <p:cNvSpPr/>
          <p:nvPr/>
        </p:nvSpPr>
        <p:spPr>
          <a:xfrm>
            <a:off x="685800" y="3886200"/>
            <a:ext cx="1905000" cy="883920"/>
          </a:xfrm>
          <a:prstGeom prst="roundRect">
            <a:avLst>
              <a:gd name="adj" fmla="val 14483"/>
            </a:avLst>
          </a:prstGeom>
          <a:solidFill>
            <a:srgbClr val="E4F2ED"/>
          </a:solidFill>
          <a:ln w="6350">
            <a:solidFill>
              <a:srgbClr val="E4F2ED">
                <a:alpha val="0"/>
              </a:srgbClr>
            </a:solidFill>
            <a:prstDash val="solid"/>
          </a:ln>
          <a:effectLst>
            <a:outerShdw sx="100000" sy="100000" kx="0" ky="0" algn="bl" rotWithShape="0" blurRad="5.679133646942494e+57" dist="1.1358267293884988e+58" dir="3.526387384320001e+68">
              <a:srgbClr val="405875">
                <a:alpha val="1.2e+69"/>
              </a:srgbClr>
            </a:outerShdw>
          </a:effectLst>
        </p:spPr>
      </p:sp>
      <p:sp>
        <p:nvSpPr>
          <p:cNvPr id="46" name="Shape 44"/>
          <p:cNvSpPr/>
          <p:nvPr/>
        </p:nvSpPr>
        <p:spPr>
          <a:xfrm>
            <a:off x="807720" y="4000500"/>
            <a:ext cx="320040" cy="213360"/>
          </a:xfrm>
          <a:prstGeom prst="roundRect">
            <a:avLst>
              <a:gd name="adj" fmla="val 68571"/>
            </a:avLst>
          </a:prstGeom>
          <a:solidFill>
            <a:srgbClr val="FFFFFF"/>
          </a:solidFill>
          <a:ln w="6350">
            <a:solidFill>
              <a:srgbClr val="FFFFFF">
                <a:alpha val="0"/>
              </a:srgbClr>
            </a:solidFill>
            <a:prstDash val="solid"/>
          </a:ln>
        </p:spPr>
      </p:sp>
      <p:sp>
        <p:nvSpPr>
          <p:cNvPr id="47" name="Text 45"/>
          <p:cNvSpPr txBox="1"/>
          <p:nvPr/>
        </p:nvSpPr>
        <p:spPr>
          <a:xfrm>
            <a:off x="883920" y="4023360"/>
            <a:ext cx="167640" cy="167640"/>
          </a:xfrm>
          <a:prstGeom prst="rect">
            <a:avLst/>
          </a:prstGeom>
          <a:noFill/>
          <a:ln/>
        </p:spPr>
        <p:txBody>
          <a:bodyPr wrap="square" lIns="0" tIns="0" rIns="0" bIns="0" rtlCol="0" anchor="ctr">
            <a:normAutofit/>
          </a:bodyPr>
          <a:lstStyle/>
          <a:p>
            <a:pPr algn="ctr" indent="0" marL="0">
              <a:buNone/>
            </a:pPr>
            <a:r>
              <a:rPr lang="en-US" sz="540" b="1" spc="30" kern="0" dirty="0">
                <a:solidFill>
                  <a:srgbClr val="2F8B72"/>
                </a:solidFill>
                <a:latin typeface="Aptos" pitchFamily="34" charset="0"/>
                <a:ea typeface="Aptos" pitchFamily="34" charset="-122"/>
                <a:cs typeface="Aptos" pitchFamily="34" charset="-120"/>
              </a:rPr>
              <a:t>11</a:t>
            </a:r>
            <a:endParaRPr lang="en-US" sz="540" dirty="0"/>
          </a:p>
        </p:txBody>
      </p:sp>
      <p:sp>
        <p:nvSpPr>
          <p:cNvPr id="48" name="Text 46"/>
          <p:cNvSpPr txBox="1"/>
          <p:nvPr/>
        </p:nvSpPr>
        <p:spPr>
          <a:xfrm>
            <a:off x="807720" y="4274820"/>
            <a:ext cx="1661160" cy="175260"/>
          </a:xfrm>
          <a:prstGeom prst="rect">
            <a:avLst/>
          </a:prstGeom>
          <a:noFill/>
          <a:ln/>
        </p:spPr>
        <p:txBody>
          <a:bodyPr wrap="square" lIns="0" tIns="0" rIns="0" bIns="0" rtlCol="0" anchor="ctr">
            <a:normAutofit/>
          </a:bodyPr>
          <a:lstStyle/>
          <a:p>
            <a:pPr algn="l" indent="0" marL="0">
              <a:buNone/>
            </a:pPr>
            <a:r>
              <a:rPr lang="en-US" sz="780" b="1" spc="70" kern="0" dirty="0">
                <a:solidFill>
                  <a:srgbClr val="2F8B72"/>
                </a:solidFill>
                <a:latin typeface="Aptos" pitchFamily="34" charset="0"/>
                <a:ea typeface="Aptos" pitchFamily="34" charset="-122"/>
                <a:cs typeface="Aptos" pitchFamily="34" charset="-120"/>
              </a:rPr>
              <a:t>RECOMMEND</a:t>
            </a:r>
            <a:endParaRPr lang="en-US" sz="780" dirty="0"/>
          </a:p>
        </p:txBody>
      </p:sp>
      <p:sp>
        <p:nvSpPr>
          <p:cNvPr id="49" name="Text 47"/>
          <p:cNvSpPr txBox="1"/>
          <p:nvPr/>
        </p:nvSpPr>
        <p:spPr>
          <a:xfrm>
            <a:off x="807720" y="4495800"/>
            <a:ext cx="1661160" cy="167640"/>
          </a:xfrm>
          <a:prstGeom prst="rect">
            <a:avLst/>
          </a:prstGeom>
          <a:noFill/>
          <a:ln/>
        </p:spPr>
        <p:txBody>
          <a:bodyPr wrap="square" lIns="0" tIns="0" rIns="0" bIns="0" rtlCol="0" anchor="ctr">
            <a:normAutofit/>
          </a:bodyPr>
          <a:lstStyle/>
          <a:p>
            <a:pPr algn="l" indent="0" marL="0">
              <a:buNone/>
            </a:pPr>
            <a:r>
              <a:rPr lang="en-US" sz="660" b="1" dirty="0">
                <a:solidFill>
                  <a:srgbClr val="344258"/>
                </a:solidFill>
                <a:latin typeface="Aptos" pitchFamily="34" charset="0"/>
                <a:ea typeface="Aptos" pitchFamily="34" charset="-122"/>
                <a:cs typeface="Aptos" pitchFamily="34" charset="-120"/>
              </a:rPr>
              <a:t>Proceed · Hold · Decline</a:t>
            </a:r>
            <a:endParaRPr lang="en-US" sz="660" dirty="0"/>
          </a:p>
        </p:txBody>
      </p:sp>
      <p:sp>
        <p:nvSpPr>
          <p:cNvPr id="50" name="Shape 48"/>
          <p:cNvSpPr/>
          <p:nvPr/>
        </p:nvSpPr>
        <p:spPr>
          <a:xfrm>
            <a:off x="2895600" y="4328160"/>
            <a:ext cx="-274320" cy="0"/>
          </a:xfrm>
          <a:prstGeom prst="line">
            <a:avLst/>
          </a:prstGeom>
          <a:noFill/>
          <a:ln w="22860">
            <a:solidFill>
              <a:srgbClr val="2F8B72"/>
            </a:solidFill>
            <a:prstDash val="solid"/>
            <a:headEnd type="none"/>
            <a:tailEnd type="triangle"/>
          </a:ln>
        </p:spPr>
      </p:sp>
      <p:sp>
        <p:nvSpPr>
          <p:cNvPr id="51" name="Shape 49"/>
          <p:cNvSpPr/>
          <p:nvPr/>
        </p:nvSpPr>
        <p:spPr>
          <a:xfrm>
            <a:off x="2926080" y="3886200"/>
            <a:ext cx="1905000" cy="883920"/>
          </a:xfrm>
          <a:prstGeom prst="roundRect">
            <a:avLst>
              <a:gd name="adj" fmla="val 14483"/>
            </a:avLst>
          </a:prstGeom>
          <a:solidFill>
            <a:srgbClr val="EEE8F8"/>
          </a:solidFill>
          <a:ln w="6350">
            <a:solidFill>
              <a:srgbClr val="EEE8F8">
                <a:alpha val="0"/>
              </a:srgbClr>
            </a:solidFill>
            <a:prstDash val="solid"/>
          </a:ln>
        </p:spPr>
      </p:sp>
      <p:sp>
        <p:nvSpPr>
          <p:cNvPr id="52" name="Shape 50"/>
          <p:cNvSpPr/>
          <p:nvPr/>
        </p:nvSpPr>
        <p:spPr>
          <a:xfrm>
            <a:off x="3048000" y="4000500"/>
            <a:ext cx="320040" cy="213360"/>
          </a:xfrm>
          <a:prstGeom prst="roundRect">
            <a:avLst>
              <a:gd name="adj" fmla="val 68571"/>
            </a:avLst>
          </a:prstGeom>
          <a:solidFill>
            <a:srgbClr val="FFFFFF"/>
          </a:solidFill>
          <a:ln w="6350">
            <a:solidFill>
              <a:srgbClr val="FFFFFF">
                <a:alpha val="0"/>
              </a:srgbClr>
            </a:solidFill>
            <a:prstDash val="solid"/>
          </a:ln>
        </p:spPr>
      </p:sp>
      <p:sp>
        <p:nvSpPr>
          <p:cNvPr id="53" name="Text 51"/>
          <p:cNvSpPr txBox="1"/>
          <p:nvPr/>
        </p:nvSpPr>
        <p:spPr>
          <a:xfrm>
            <a:off x="3124200" y="4023360"/>
            <a:ext cx="167640" cy="167640"/>
          </a:xfrm>
          <a:prstGeom prst="rect">
            <a:avLst/>
          </a:prstGeom>
          <a:noFill/>
          <a:ln/>
        </p:spPr>
        <p:txBody>
          <a:bodyPr wrap="square" lIns="0" tIns="0" rIns="0" bIns="0" rtlCol="0" anchor="ctr">
            <a:normAutofit/>
          </a:bodyPr>
          <a:lstStyle/>
          <a:p>
            <a:pPr algn="ctr" indent="0" marL="0">
              <a:buNone/>
            </a:pPr>
            <a:r>
              <a:rPr lang="en-US" sz="540" b="1" spc="30" kern="0" dirty="0">
                <a:solidFill>
                  <a:srgbClr val="7656A5"/>
                </a:solidFill>
                <a:latin typeface="Aptos" pitchFamily="34" charset="0"/>
                <a:ea typeface="Aptos" pitchFamily="34" charset="-122"/>
                <a:cs typeface="Aptos" pitchFamily="34" charset="-120"/>
              </a:rPr>
              <a:t>10</a:t>
            </a:r>
            <a:endParaRPr lang="en-US" sz="540" dirty="0"/>
          </a:p>
        </p:txBody>
      </p:sp>
      <p:sp>
        <p:nvSpPr>
          <p:cNvPr id="54" name="Text 52"/>
          <p:cNvSpPr txBox="1"/>
          <p:nvPr/>
        </p:nvSpPr>
        <p:spPr>
          <a:xfrm>
            <a:off x="3048000" y="4274820"/>
            <a:ext cx="1661160" cy="175260"/>
          </a:xfrm>
          <a:prstGeom prst="rect">
            <a:avLst/>
          </a:prstGeom>
          <a:noFill/>
          <a:ln/>
        </p:spPr>
        <p:txBody>
          <a:bodyPr wrap="square" lIns="0" tIns="0" rIns="0" bIns="0" rtlCol="0" anchor="ctr">
            <a:normAutofit/>
          </a:bodyPr>
          <a:lstStyle/>
          <a:p>
            <a:pPr algn="l" indent="0" marL="0">
              <a:buNone/>
            </a:pPr>
            <a:r>
              <a:rPr lang="en-US" sz="780" b="1" spc="70" kern="0" dirty="0">
                <a:solidFill>
                  <a:srgbClr val="7656A5"/>
                </a:solidFill>
                <a:latin typeface="Aptos" pitchFamily="34" charset="0"/>
                <a:ea typeface="Aptos" pitchFamily="34" charset="-122"/>
                <a:cs typeface="Aptos" pitchFamily="34" charset="-120"/>
              </a:rPr>
              <a:t>RE-SCORE</a:t>
            </a:r>
            <a:endParaRPr lang="en-US" sz="780" dirty="0"/>
          </a:p>
        </p:txBody>
      </p:sp>
      <p:sp>
        <p:nvSpPr>
          <p:cNvPr id="55" name="Text 53"/>
          <p:cNvSpPr txBox="1"/>
          <p:nvPr/>
        </p:nvSpPr>
        <p:spPr>
          <a:xfrm>
            <a:off x="3048000" y="4495800"/>
            <a:ext cx="1661160" cy="167640"/>
          </a:xfrm>
          <a:prstGeom prst="rect">
            <a:avLst/>
          </a:prstGeom>
          <a:noFill/>
          <a:ln/>
        </p:spPr>
        <p:txBody>
          <a:bodyPr wrap="square" lIns="0" tIns="0" rIns="0" bIns="0" rtlCol="0" anchor="ctr">
            <a:normAutofit/>
          </a:bodyPr>
          <a:lstStyle/>
          <a:p>
            <a:pPr algn="l" indent="0" marL="0">
              <a:buNone/>
            </a:pPr>
            <a:r>
              <a:rPr lang="en-US" sz="660" b="1" dirty="0">
                <a:solidFill>
                  <a:srgbClr val="344258"/>
                </a:solidFill>
                <a:latin typeface="Aptos" pitchFamily="34" charset="0"/>
                <a:ea typeface="Aptos" pitchFamily="34" charset="-122"/>
                <a:cs typeface="Aptos" pitchFamily="34" charset="-120"/>
              </a:rPr>
              <a:t>Axes + SWOT + trend</a:t>
            </a:r>
            <a:endParaRPr lang="en-US" sz="660" dirty="0"/>
          </a:p>
        </p:txBody>
      </p:sp>
      <p:sp>
        <p:nvSpPr>
          <p:cNvPr id="56" name="Shape 54"/>
          <p:cNvSpPr/>
          <p:nvPr/>
        </p:nvSpPr>
        <p:spPr>
          <a:xfrm>
            <a:off x="5135880" y="4328160"/>
            <a:ext cx="-274320" cy="0"/>
          </a:xfrm>
          <a:prstGeom prst="line">
            <a:avLst/>
          </a:prstGeom>
          <a:noFill/>
          <a:ln w="22860">
            <a:solidFill>
              <a:srgbClr val="7656A5"/>
            </a:solidFill>
            <a:prstDash val="solid"/>
            <a:headEnd type="none"/>
            <a:tailEnd type="triangle"/>
          </a:ln>
        </p:spPr>
      </p:sp>
      <p:sp>
        <p:nvSpPr>
          <p:cNvPr id="57" name="Shape 55"/>
          <p:cNvSpPr/>
          <p:nvPr/>
        </p:nvSpPr>
        <p:spPr>
          <a:xfrm>
            <a:off x="5166360" y="3886200"/>
            <a:ext cx="1905000" cy="883920"/>
          </a:xfrm>
          <a:prstGeom prst="roundRect">
            <a:avLst>
              <a:gd name="adj" fmla="val 14483"/>
            </a:avLst>
          </a:prstGeom>
          <a:solidFill>
            <a:srgbClr val="E7EEF9"/>
          </a:solidFill>
          <a:ln w="6350">
            <a:solidFill>
              <a:srgbClr val="E7EEF9">
                <a:alpha val="0"/>
              </a:srgbClr>
            </a:solidFill>
            <a:prstDash val="solid"/>
          </a:ln>
        </p:spPr>
      </p:sp>
      <p:sp>
        <p:nvSpPr>
          <p:cNvPr id="58" name="Shape 56"/>
          <p:cNvSpPr/>
          <p:nvPr/>
        </p:nvSpPr>
        <p:spPr>
          <a:xfrm>
            <a:off x="5288280" y="4000500"/>
            <a:ext cx="320040" cy="213360"/>
          </a:xfrm>
          <a:prstGeom prst="roundRect">
            <a:avLst>
              <a:gd name="adj" fmla="val 68571"/>
            </a:avLst>
          </a:prstGeom>
          <a:solidFill>
            <a:srgbClr val="FFFFFF"/>
          </a:solidFill>
          <a:ln w="6350">
            <a:solidFill>
              <a:srgbClr val="FFFFFF">
                <a:alpha val="0"/>
              </a:srgbClr>
            </a:solidFill>
            <a:prstDash val="solid"/>
          </a:ln>
        </p:spPr>
      </p:sp>
      <p:sp>
        <p:nvSpPr>
          <p:cNvPr id="59" name="Text 57"/>
          <p:cNvSpPr txBox="1"/>
          <p:nvPr/>
        </p:nvSpPr>
        <p:spPr>
          <a:xfrm>
            <a:off x="5364480" y="4023360"/>
            <a:ext cx="167640" cy="167640"/>
          </a:xfrm>
          <a:prstGeom prst="rect">
            <a:avLst/>
          </a:prstGeom>
          <a:noFill/>
          <a:ln/>
        </p:spPr>
        <p:txBody>
          <a:bodyPr wrap="square" lIns="0" tIns="0" rIns="0" bIns="0" rtlCol="0" anchor="ctr">
            <a:normAutofit/>
          </a:bodyPr>
          <a:lstStyle/>
          <a:p>
            <a:pPr algn="ctr" indent="0" marL="0">
              <a:buNone/>
            </a:pPr>
            <a:r>
              <a:rPr lang="en-US" sz="540" b="1" spc="30" kern="0" dirty="0">
                <a:solidFill>
                  <a:srgbClr val="557DC0"/>
                </a:solidFill>
                <a:latin typeface="Aptos" pitchFamily="34" charset="0"/>
                <a:ea typeface="Aptos" pitchFamily="34" charset="-122"/>
                <a:cs typeface="Aptos" pitchFamily="34" charset="-120"/>
              </a:rPr>
              <a:t>09</a:t>
            </a:r>
            <a:endParaRPr lang="en-US" sz="540" dirty="0"/>
          </a:p>
        </p:txBody>
      </p:sp>
      <p:sp>
        <p:nvSpPr>
          <p:cNvPr id="60" name="Text 58"/>
          <p:cNvSpPr txBox="1"/>
          <p:nvPr/>
        </p:nvSpPr>
        <p:spPr>
          <a:xfrm>
            <a:off x="5288280" y="4274820"/>
            <a:ext cx="1661160" cy="175260"/>
          </a:xfrm>
          <a:prstGeom prst="rect">
            <a:avLst/>
          </a:prstGeom>
          <a:noFill/>
          <a:ln/>
        </p:spPr>
        <p:txBody>
          <a:bodyPr wrap="square" lIns="0" tIns="0" rIns="0" bIns="0" rtlCol="0" anchor="ctr">
            <a:normAutofit/>
          </a:bodyPr>
          <a:lstStyle/>
          <a:p>
            <a:pPr algn="l" indent="0" marL="0">
              <a:buNone/>
            </a:pPr>
            <a:r>
              <a:rPr lang="en-US" sz="780" b="1" spc="70" kern="0" dirty="0">
                <a:solidFill>
                  <a:srgbClr val="557DC0"/>
                </a:solidFill>
                <a:latin typeface="Aptos" pitchFamily="34" charset="0"/>
                <a:ea typeface="Aptos" pitchFamily="34" charset="-122"/>
                <a:cs typeface="Aptos" pitchFamily="34" charset="-120"/>
              </a:rPr>
              <a:t>EVIDENCE GRAPH</a:t>
            </a:r>
            <a:endParaRPr lang="en-US" sz="780" dirty="0"/>
          </a:p>
        </p:txBody>
      </p:sp>
      <p:sp>
        <p:nvSpPr>
          <p:cNvPr id="61" name="Text 59"/>
          <p:cNvSpPr txBox="1"/>
          <p:nvPr/>
        </p:nvSpPr>
        <p:spPr>
          <a:xfrm>
            <a:off x="5288280" y="4495800"/>
            <a:ext cx="1661160" cy="167640"/>
          </a:xfrm>
          <a:prstGeom prst="rect">
            <a:avLst/>
          </a:prstGeom>
          <a:noFill/>
          <a:ln/>
        </p:spPr>
        <p:txBody>
          <a:bodyPr wrap="square" lIns="0" tIns="0" rIns="0" bIns="0" rtlCol="0" anchor="ctr">
            <a:normAutofit/>
          </a:bodyPr>
          <a:lstStyle/>
          <a:p>
            <a:pPr algn="l" indent="0" marL="0">
              <a:buNone/>
            </a:pPr>
            <a:r>
              <a:rPr lang="en-US" sz="660" b="1" dirty="0">
                <a:solidFill>
                  <a:srgbClr val="344258"/>
                </a:solidFill>
                <a:latin typeface="Aptos" pitchFamily="34" charset="0"/>
                <a:ea typeface="Aptos" pitchFamily="34" charset="-122"/>
                <a:cs typeface="Aptos" pitchFamily="34" charset="-120"/>
              </a:rPr>
              <a:t>Claims + provenance</a:t>
            </a:r>
            <a:endParaRPr lang="en-US" sz="660" dirty="0"/>
          </a:p>
        </p:txBody>
      </p:sp>
      <p:sp>
        <p:nvSpPr>
          <p:cNvPr id="62" name="Shape 60"/>
          <p:cNvSpPr/>
          <p:nvPr/>
        </p:nvSpPr>
        <p:spPr>
          <a:xfrm>
            <a:off x="7376160" y="4328160"/>
            <a:ext cx="-274320" cy="0"/>
          </a:xfrm>
          <a:prstGeom prst="line">
            <a:avLst/>
          </a:prstGeom>
          <a:noFill/>
          <a:ln w="22860">
            <a:solidFill>
              <a:srgbClr val="557DC0"/>
            </a:solidFill>
            <a:prstDash val="solid"/>
            <a:headEnd type="none"/>
            <a:tailEnd type="triangle"/>
          </a:ln>
        </p:spPr>
      </p:sp>
      <p:sp>
        <p:nvSpPr>
          <p:cNvPr id="63" name="Shape 61"/>
          <p:cNvSpPr/>
          <p:nvPr/>
        </p:nvSpPr>
        <p:spPr>
          <a:xfrm>
            <a:off x="7406640" y="3886200"/>
            <a:ext cx="1905000" cy="883920"/>
          </a:xfrm>
          <a:prstGeom prst="roundRect">
            <a:avLst>
              <a:gd name="adj" fmla="val 14483"/>
            </a:avLst>
          </a:prstGeom>
          <a:solidFill>
            <a:srgbClr val="FFF1DF"/>
          </a:solidFill>
          <a:ln w="6350">
            <a:solidFill>
              <a:srgbClr val="FFF1DF">
                <a:alpha val="0"/>
              </a:srgbClr>
            </a:solidFill>
            <a:prstDash val="solid"/>
          </a:ln>
        </p:spPr>
      </p:sp>
      <p:sp>
        <p:nvSpPr>
          <p:cNvPr id="64" name="Shape 62"/>
          <p:cNvSpPr/>
          <p:nvPr/>
        </p:nvSpPr>
        <p:spPr>
          <a:xfrm>
            <a:off x="7528560" y="4000500"/>
            <a:ext cx="320040" cy="213360"/>
          </a:xfrm>
          <a:prstGeom prst="roundRect">
            <a:avLst>
              <a:gd name="adj" fmla="val 68571"/>
            </a:avLst>
          </a:prstGeom>
          <a:solidFill>
            <a:srgbClr val="FFFFFF"/>
          </a:solidFill>
          <a:ln w="6350">
            <a:solidFill>
              <a:srgbClr val="FFFFFF">
                <a:alpha val="0"/>
              </a:srgbClr>
            </a:solidFill>
            <a:prstDash val="solid"/>
          </a:ln>
        </p:spPr>
      </p:sp>
      <p:sp>
        <p:nvSpPr>
          <p:cNvPr id="65" name="Text 63"/>
          <p:cNvSpPr txBox="1"/>
          <p:nvPr/>
        </p:nvSpPr>
        <p:spPr>
          <a:xfrm>
            <a:off x="7604760" y="4023360"/>
            <a:ext cx="167640" cy="167640"/>
          </a:xfrm>
          <a:prstGeom prst="rect">
            <a:avLst/>
          </a:prstGeom>
          <a:noFill/>
          <a:ln/>
        </p:spPr>
        <p:txBody>
          <a:bodyPr wrap="square" lIns="0" tIns="0" rIns="0" bIns="0" rtlCol="0" anchor="ctr">
            <a:normAutofit/>
          </a:bodyPr>
          <a:lstStyle/>
          <a:p>
            <a:pPr algn="ctr" indent="0" marL="0">
              <a:buNone/>
            </a:pPr>
            <a:r>
              <a:rPr lang="en-US" sz="540" b="1" spc="30" kern="0" dirty="0">
                <a:solidFill>
                  <a:srgbClr val="B87932"/>
                </a:solidFill>
                <a:latin typeface="Aptos" pitchFamily="34" charset="0"/>
                <a:ea typeface="Aptos" pitchFamily="34" charset="-122"/>
                <a:cs typeface="Aptos" pitchFamily="34" charset="-120"/>
              </a:rPr>
              <a:t>08</a:t>
            </a:r>
            <a:endParaRPr lang="en-US" sz="540" dirty="0"/>
          </a:p>
        </p:txBody>
      </p:sp>
      <p:sp>
        <p:nvSpPr>
          <p:cNvPr id="66" name="Text 64"/>
          <p:cNvSpPr txBox="1"/>
          <p:nvPr/>
        </p:nvSpPr>
        <p:spPr>
          <a:xfrm>
            <a:off x="7528560" y="4274820"/>
            <a:ext cx="1661160" cy="175260"/>
          </a:xfrm>
          <a:prstGeom prst="rect">
            <a:avLst/>
          </a:prstGeom>
          <a:noFill/>
          <a:ln/>
        </p:spPr>
        <p:txBody>
          <a:bodyPr wrap="square" lIns="0" tIns="0" rIns="0" bIns="0" rtlCol="0" anchor="ctr">
            <a:normAutofit/>
          </a:bodyPr>
          <a:lstStyle/>
          <a:p>
            <a:pPr algn="l" indent="0" marL="0">
              <a:buNone/>
            </a:pPr>
            <a:r>
              <a:rPr lang="en-US" sz="780" b="1" spc="70" kern="0" dirty="0">
                <a:solidFill>
                  <a:srgbClr val="B87932"/>
                </a:solidFill>
                <a:latin typeface="Aptos" pitchFamily="34" charset="0"/>
                <a:ea typeface="Aptos" pitchFamily="34" charset="-122"/>
                <a:cs typeface="Aptos" pitchFamily="34" charset="-120"/>
              </a:rPr>
              <a:t>DECK AGENT</a:t>
            </a:r>
            <a:endParaRPr lang="en-US" sz="780" dirty="0"/>
          </a:p>
        </p:txBody>
      </p:sp>
      <p:sp>
        <p:nvSpPr>
          <p:cNvPr id="67" name="Text 65"/>
          <p:cNvSpPr txBox="1"/>
          <p:nvPr/>
        </p:nvSpPr>
        <p:spPr>
          <a:xfrm>
            <a:off x="7528560" y="4495800"/>
            <a:ext cx="1661160" cy="167640"/>
          </a:xfrm>
          <a:prstGeom prst="rect">
            <a:avLst/>
          </a:prstGeom>
          <a:noFill/>
          <a:ln/>
        </p:spPr>
        <p:txBody>
          <a:bodyPr wrap="square" lIns="0" tIns="0" rIns="0" bIns="0" rtlCol="0" anchor="ctr">
            <a:normAutofit/>
          </a:bodyPr>
          <a:lstStyle/>
          <a:p>
            <a:pPr algn="l" indent="0" marL="0">
              <a:buNone/>
            </a:pPr>
            <a:r>
              <a:rPr lang="en-US" sz="660" b="1" dirty="0">
                <a:solidFill>
                  <a:srgbClr val="344258"/>
                </a:solidFill>
                <a:latin typeface="Aptos" pitchFamily="34" charset="0"/>
                <a:ea typeface="Aptos" pitchFamily="34" charset="-122"/>
                <a:cs typeface="Aptos" pitchFamily="34" charset="-120"/>
              </a:rPr>
              <a:t>Extract + challenge</a:t>
            </a:r>
            <a:endParaRPr lang="en-US" sz="660" dirty="0"/>
          </a:p>
        </p:txBody>
      </p:sp>
      <p:sp>
        <p:nvSpPr>
          <p:cNvPr id="68" name="Shape 66"/>
          <p:cNvSpPr/>
          <p:nvPr/>
        </p:nvSpPr>
        <p:spPr>
          <a:xfrm>
            <a:off x="9616440" y="4328160"/>
            <a:ext cx="-274320" cy="0"/>
          </a:xfrm>
          <a:prstGeom prst="line">
            <a:avLst/>
          </a:prstGeom>
          <a:noFill/>
          <a:ln w="22860">
            <a:solidFill>
              <a:srgbClr val="B87932"/>
            </a:solidFill>
            <a:prstDash val="solid"/>
            <a:headEnd type="none"/>
            <a:tailEnd type="triangle"/>
          </a:ln>
        </p:spPr>
      </p:sp>
      <p:sp>
        <p:nvSpPr>
          <p:cNvPr id="69" name="Shape 67"/>
          <p:cNvSpPr/>
          <p:nvPr/>
        </p:nvSpPr>
        <p:spPr>
          <a:xfrm>
            <a:off x="9646920" y="3886200"/>
            <a:ext cx="1905000" cy="883920"/>
          </a:xfrm>
          <a:prstGeom prst="roundRect">
            <a:avLst>
              <a:gd name="adj" fmla="val 14483"/>
            </a:avLst>
          </a:prstGeom>
          <a:solidFill>
            <a:srgbClr val="E4F2ED"/>
          </a:solidFill>
          <a:ln w="6350">
            <a:solidFill>
              <a:srgbClr val="E4F2ED">
                <a:alpha val="0"/>
              </a:srgbClr>
            </a:solidFill>
            <a:prstDash val="solid"/>
          </a:ln>
        </p:spPr>
      </p:sp>
      <p:sp>
        <p:nvSpPr>
          <p:cNvPr id="70" name="Shape 68"/>
          <p:cNvSpPr/>
          <p:nvPr/>
        </p:nvSpPr>
        <p:spPr>
          <a:xfrm>
            <a:off x="9768840" y="4000500"/>
            <a:ext cx="320040" cy="213360"/>
          </a:xfrm>
          <a:prstGeom prst="roundRect">
            <a:avLst>
              <a:gd name="adj" fmla="val 68571"/>
            </a:avLst>
          </a:prstGeom>
          <a:solidFill>
            <a:srgbClr val="FFFFFF"/>
          </a:solidFill>
          <a:ln w="6350">
            <a:solidFill>
              <a:srgbClr val="FFFFFF">
                <a:alpha val="0"/>
              </a:srgbClr>
            </a:solidFill>
            <a:prstDash val="solid"/>
          </a:ln>
        </p:spPr>
      </p:sp>
      <p:sp>
        <p:nvSpPr>
          <p:cNvPr id="71" name="Text 69"/>
          <p:cNvSpPr txBox="1"/>
          <p:nvPr/>
        </p:nvSpPr>
        <p:spPr>
          <a:xfrm>
            <a:off x="9845040" y="4023360"/>
            <a:ext cx="167640" cy="167640"/>
          </a:xfrm>
          <a:prstGeom prst="rect">
            <a:avLst/>
          </a:prstGeom>
          <a:noFill/>
          <a:ln/>
        </p:spPr>
        <p:txBody>
          <a:bodyPr wrap="square" lIns="0" tIns="0" rIns="0" bIns="0" rtlCol="0" anchor="ctr">
            <a:normAutofit/>
          </a:bodyPr>
          <a:lstStyle/>
          <a:p>
            <a:pPr algn="ctr" indent="0" marL="0">
              <a:buNone/>
            </a:pPr>
            <a:r>
              <a:rPr lang="en-US" sz="540" b="1" spc="30" kern="0" dirty="0">
                <a:solidFill>
                  <a:srgbClr val="2F8B72"/>
                </a:solidFill>
                <a:latin typeface="Aptos" pitchFamily="34" charset="0"/>
                <a:ea typeface="Aptos" pitchFamily="34" charset="-122"/>
                <a:cs typeface="Aptos" pitchFamily="34" charset="-120"/>
              </a:rPr>
              <a:t>07</a:t>
            </a:r>
            <a:endParaRPr lang="en-US" sz="540" dirty="0"/>
          </a:p>
        </p:txBody>
      </p:sp>
      <p:sp>
        <p:nvSpPr>
          <p:cNvPr id="72" name="Text 70"/>
          <p:cNvSpPr txBox="1"/>
          <p:nvPr/>
        </p:nvSpPr>
        <p:spPr>
          <a:xfrm>
            <a:off x="9768840" y="4274820"/>
            <a:ext cx="1661160" cy="175260"/>
          </a:xfrm>
          <a:prstGeom prst="rect">
            <a:avLst/>
          </a:prstGeom>
          <a:noFill/>
          <a:ln/>
        </p:spPr>
        <p:txBody>
          <a:bodyPr wrap="square" lIns="0" tIns="0" rIns="0" bIns="0" rtlCol="0" anchor="ctr">
            <a:normAutofit/>
          </a:bodyPr>
          <a:lstStyle/>
          <a:p>
            <a:pPr algn="l" indent="0" marL="0">
              <a:buNone/>
            </a:pPr>
            <a:r>
              <a:rPr lang="en-US" sz="780" b="1" spc="70" kern="0" dirty="0">
                <a:solidFill>
                  <a:srgbClr val="2F8B72"/>
                </a:solidFill>
                <a:latin typeface="Aptos" pitchFamily="34" charset="0"/>
                <a:ea typeface="Aptos" pitchFamily="34" charset="-122"/>
                <a:cs typeface="Aptos" pitchFamily="34" charset="-120"/>
              </a:rPr>
              <a:t>INBOUND</a:t>
            </a:r>
            <a:endParaRPr lang="en-US" sz="780" dirty="0"/>
          </a:p>
        </p:txBody>
      </p:sp>
      <p:sp>
        <p:nvSpPr>
          <p:cNvPr id="73" name="Text 71"/>
          <p:cNvSpPr txBox="1"/>
          <p:nvPr/>
        </p:nvSpPr>
        <p:spPr>
          <a:xfrm>
            <a:off x="9768840" y="4495800"/>
            <a:ext cx="1661160" cy="167640"/>
          </a:xfrm>
          <a:prstGeom prst="rect">
            <a:avLst/>
          </a:prstGeom>
          <a:noFill/>
          <a:ln/>
        </p:spPr>
        <p:txBody>
          <a:bodyPr wrap="square" lIns="0" tIns="0" rIns="0" bIns="0" rtlCol="0" anchor="ctr">
            <a:normAutofit/>
          </a:bodyPr>
          <a:lstStyle/>
          <a:p>
            <a:pPr algn="l" indent="0" marL="0">
              <a:buNone/>
            </a:pPr>
            <a:r>
              <a:rPr lang="en-US" sz="660" b="1" dirty="0">
                <a:solidFill>
                  <a:srgbClr val="344258"/>
                </a:solidFill>
                <a:latin typeface="Aptos" pitchFamily="34" charset="0"/>
                <a:ea typeface="Aptos" pitchFamily="34" charset="-122"/>
                <a:cs typeface="Aptos" pitchFamily="34" charset="-120"/>
              </a:rPr>
              <a:t>Application + pitch deck</a:t>
            </a:r>
            <a:endParaRPr lang="en-US" sz="660" dirty="0"/>
          </a:p>
        </p:txBody>
      </p:sp>
      <p:sp>
        <p:nvSpPr>
          <p:cNvPr id="74" name="Shape 72"/>
          <p:cNvSpPr/>
          <p:nvPr/>
        </p:nvSpPr>
        <p:spPr>
          <a:xfrm>
            <a:off x="685800" y="5059680"/>
            <a:ext cx="11201400" cy="441960"/>
          </a:xfrm>
          <a:prstGeom prst="roundRect">
            <a:avLst>
              <a:gd name="adj" fmla="val 24828"/>
            </a:avLst>
          </a:prstGeom>
          <a:solidFill>
            <a:srgbClr val="E9F0F8"/>
          </a:solidFill>
          <a:ln w="6350">
            <a:solidFill>
              <a:srgbClr val="E9F0F8">
                <a:alpha val="0"/>
              </a:srgbClr>
            </a:solidFill>
            <a:prstDash val="solid"/>
          </a:ln>
        </p:spPr>
      </p:sp>
      <p:sp>
        <p:nvSpPr>
          <p:cNvPr id="75" name="Text 73"/>
          <p:cNvSpPr txBox="1"/>
          <p:nvPr/>
        </p:nvSpPr>
        <p:spPr>
          <a:xfrm>
            <a:off x="876300" y="5166360"/>
            <a:ext cx="2590800" cy="190500"/>
          </a:xfrm>
          <a:prstGeom prst="rect">
            <a:avLst/>
          </a:prstGeom>
          <a:noFill/>
          <a:ln/>
        </p:spPr>
        <p:txBody>
          <a:bodyPr wrap="square" lIns="0" tIns="0" rIns="0" bIns="0" rtlCol="0" anchor="ctr">
            <a:normAutofit/>
          </a:bodyPr>
          <a:lstStyle/>
          <a:p>
            <a:pPr algn="l" indent="0" marL="0">
              <a:buNone/>
            </a:pPr>
            <a:r>
              <a:rPr lang="en-US" sz="720" b="1" spc="80" kern="0" dirty="0">
                <a:solidFill>
                  <a:srgbClr val="344258"/>
                </a:solidFill>
                <a:latin typeface="Aptos" pitchFamily="34" charset="0"/>
                <a:ea typeface="Aptos" pitchFamily="34" charset="-122"/>
                <a:cs typeface="Aptos" pitchFamily="34" charset="-120"/>
              </a:rPr>
              <a:t>HUMAN DECISIONS + OUTCOMES</a:t>
            </a:r>
            <a:endParaRPr lang="en-US" sz="720" dirty="0"/>
          </a:p>
        </p:txBody>
      </p:sp>
      <p:sp>
        <p:nvSpPr>
          <p:cNvPr id="76" name="Text 74"/>
          <p:cNvSpPr txBox="1"/>
          <p:nvPr/>
        </p:nvSpPr>
        <p:spPr>
          <a:xfrm>
            <a:off x="3467100" y="5143500"/>
            <a:ext cx="342900" cy="190500"/>
          </a:xfrm>
          <a:prstGeom prst="rect">
            <a:avLst/>
          </a:prstGeom>
          <a:noFill/>
          <a:ln/>
        </p:spPr>
        <p:txBody>
          <a:bodyPr wrap="square" lIns="0" tIns="0" rIns="0" bIns="0" rtlCol="0" anchor="ctr">
            <a:normAutofit/>
          </a:bodyPr>
          <a:lstStyle/>
          <a:p>
            <a:pPr algn="ctr" indent="0" marL="0">
              <a:buNone/>
            </a:pPr>
            <a:r>
              <a:rPr lang="en-US" sz="1080" b="1" dirty="0">
                <a:solidFill>
                  <a:srgbClr val="557DC0"/>
                </a:solidFill>
                <a:latin typeface="Aptos" pitchFamily="34" charset="0"/>
                <a:ea typeface="Aptos" pitchFamily="34" charset="-122"/>
                <a:cs typeface="Aptos" pitchFamily="34" charset="-120"/>
              </a:rPr>
              <a:t>→</a:t>
            </a:r>
            <a:endParaRPr lang="en-US" sz="1080" dirty="0"/>
          </a:p>
        </p:txBody>
      </p:sp>
      <p:sp>
        <p:nvSpPr>
          <p:cNvPr id="77" name="Text 75"/>
          <p:cNvSpPr txBox="1"/>
          <p:nvPr/>
        </p:nvSpPr>
        <p:spPr>
          <a:xfrm>
            <a:off x="3886200" y="5166360"/>
            <a:ext cx="914400" cy="190500"/>
          </a:xfrm>
          <a:prstGeom prst="rect">
            <a:avLst/>
          </a:prstGeom>
          <a:noFill/>
          <a:ln/>
        </p:spPr>
        <p:txBody>
          <a:bodyPr wrap="square" lIns="0" tIns="0" rIns="0" bIns="0" rtlCol="0" anchor="ctr">
            <a:normAutofit/>
          </a:bodyPr>
          <a:lstStyle/>
          <a:p>
            <a:pPr algn="l" indent="0" marL="0">
              <a:buNone/>
            </a:pPr>
            <a:r>
              <a:rPr lang="en-US" sz="720" b="1" spc="120" kern="0" dirty="0">
                <a:solidFill>
                  <a:srgbClr val="557DC0"/>
                </a:solidFill>
                <a:latin typeface="Aptos" pitchFamily="34" charset="0"/>
                <a:ea typeface="Aptos" pitchFamily="34" charset="-122"/>
                <a:cs typeface="Aptos" pitchFamily="34" charset="-120"/>
              </a:rPr>
              <a:t>MEMORY</a:t>
            </a:r>
            <a:endParaRPr lang="en-US" sz="720" dirty="0"/>
          </a:p>
        </p:txBody>
      </p:sp>
      <p:sp>
        <p:nvSpPr>
          <p:cNvPr id="78" name="Text 76"/>
          <p:cNvSpPr txBox="1"/>
          <p:nvPr/>
        </p:nvSpPr>
        <p:spPr>
          <a:xfrm>
            <a:off x="4876800" y="5143500"/>
            <a:ext cx="342900" cy="190500"/>
          </a:xfrm>
          <a:prstGeom prst="rect">
            <a:avLst/>
          </a:prstGeom>
          <a:noFill/>
          <a:ln/>
        </p:spPr>
        <p:txBody>
          <a:bodyPr wrap="square" lIns="0" tIns="0" rIns="0" bIns="0" rtlCol="0" anchor="ctr">
            <a:normAutofit/>
          </a:bodyPr>
          <a:lstStyle/>
          <a:p>
            <a:pPr algn="ctr" indent="0" marL="0">
              <a:buNone/>
            </a:pPr>
            <a:r>
              <a:rPr lang="en-US" sz="1080" b="1" dirty="0">
                <a:solidFill>
                  <a:srgbClr val="557DC0"/>
                </a:solidFill>
                <a:latin typeface="Aptos" pitchFamily="34" charset="0"/>
                <a:ea typeface="Aptos" pitchFamily="34" charset="-122"/>
                <a:cs typeface="Aptos" pitchFamily="34" charset="-120"/>
              </a:rPr>
              <a:t>→</a:t>
            </a:r>
            <a:endParaRPr lang="en-US" sz="1080" dirty="0"/>
          </a:p>
        </p:txBody>
      </p:sp>
      <p:sp>
        <p:nvSpPr>
          <p:cNvPr id="79" name="Text 77"/>
          <p:cNvSpPr txBox="1"/>
          <p:nvPr/>
        </p:nvSpPr>
        <p:spPr>
          <a:xfrm>
            <a:off x="5295900" y="5166360"/>
            <a:ext cx="3276600" cy="190500"/>
          </a:xfrm>
          <a:prstGeom prst="rect">
            <a:avLst/>
          </a:prstGeom>
          <a:noFill/>
          <a:ln/>
        </p:spPr>
        <p:txBody>
          <a:bodyPr wrap="square" lIns="0" tIns="0" rIns="0" bIns="0" rtlCol="0" anchor="ctr">
            <a:normAutofit/>
          </a:bodyPr>
          <a:lstStyle/>
          <a:p>
            <a:pPr algn="l" indent="0" marL="0">
              <a:buNone/>
            </a:pPr>
            <a:r>
              <a:rPr lang="en-US" sz="720" b="1" spc="80" kern="0" dirty="0">
                <a:solidFill>
                  <a:srgbClr val="344258"/>
                </a:solidFill>
                <a:latin typeface="Aptos" pitchFamily="34" charset="0"/>
                <a:ea typeface="Aptos" pitchFamily="34" charset="-122"/>
                <a:cs typeface="Aptos" pitchFamily="34" charset="-120"/>
              </a:rPr>
              <a:t>SHARPER THESIS + FUTURE SCORING</a:t>
            </a:r>
            <a:endParaRPr lang="en-US" sz="720" dirty="0"/>
          </a:p>
        </p:txBody>
      </p:sp>
      <p:sp>
        <p:nvSpPr>
          <p:cNvPr id="80" name="Shape 78"/>
          <p:cNvSpPr/>
          <p:nvPr/>
        </p:nvSpPr>
        <p:spPr>
          <a:xfrm>
            <a:off x="685800" y="5692140"/>
            <a:ext cx="1485900" cy="266700"/>
          </a:xfrm>
          <a:prstGeom prst="roundRect">
            <a:avLst>
              <a:gd name="adj" fmla="val 54857"/>
            </a:avLst>
          </a:prstGeom>
          <a:solidFill>
            <a:srgbClr val="FFFFFF"/>
          </a:solidFill>
          <a:ln w="6350">
            <a:solidFill>
              <a:srgbClr val="FFFFFF">
                <a:alpha val="0"/>
              </a:srgbClr>
            </a:solidFill>
            <a:prstDash val="solid"/>
          </a:ln>
        </p:spPr>
      </p:sp>
      <p:sp>
        <p:nvSpPr>
          <p:cNvPr id="81" name="Text 79"/>
          <p:cNvSpPr txBox="1"/>
          <p:nvPr/>
        </p:nvSpPr>
        <p:spPr>
          <a:xfrm>
            <a:off x="762000" y="5715000"/>
            <a:ext cx="1333500" cy="220980"/>
          </a:xfrm>
          <a:prstGeom prst="rect">
            <a:avLst/>
          </a:prstGeom>
          <a:noFill/>
          <a:ln/>
        </p:spPr>
        <p:txBody>
          <a:bodyPr wrap="square" lIns="0" tIns="0" rIns="0" bIns="0" rtlCol="0" anchor="ctr">
            <a:normAutofit/>
          </a:bodyPr>
          <a:lstStyle/>
          <a:p>
            <a:pPr algn="ctr" indent="0" marL="0">
              <a:buNone/>
            </a:pPr>
            <a:r>
              <a:rPr lang="en-US" sz="540" b="1" spc="30" kern="0" dirty="0">
                <a:solidFill>
                  <a:srgbClr val="557DC0"/>
                </a:solidFill>
                <a:latin typeface="Aptos" pitchFamily="34" charset="0"/>
                <a:ea typeface="Aptos" pitchFamily="34" charset="-122"/>
                <a:cs typeface="Aptos" pitchFamily="34" charset="-120"/>
              </a:rPr>
              <a:t>React + TypeScript</a:t>
            </a:r>
            <a:endParaRPr lang="en-US" sz="540" dirty="0"/>
          </a:p>
        </p:txBody>
      </p:sp>
      <p:sp>
        <p:nvSpPr>
          <p:cNvPr id="82" name="Shape 80"/>
          <p:cNvSpPr/>
          <p:nvPr/>
        </p:nvSpPr>
        <p:spPr>
          <a:xfrm>
            <a:off x="2286000" y="5692140"/>
            <a:ext cx="952500" cy="266700"/>
          </a:xfrm>
          <a:prstGeom prst="roundRect">
            <a:avLst>
              <a:gd name="adj" fmla="val 54857"/>
            </a:avLst>
          </a:prstGeom>
          <a:solidFill>
            <a:srgbClr val="FFFFFF"/>
          </a:solidFill>
          <a:ln w="6350">
            <a:solidFill>
              <a:srgbClr val="FFFFFF">
                <a:alpha val="0"/>
              </a:srgbClr>
            </a:solidFill>
            <a:prstDash val="solid"/>
          </a:ln>
        </p:spPr>
      </p:sp>
      <p:sp>
        <p:nvSpPr>
          <p:cNvPr id="83" name="Text 81"/>
          <p:cNvSpPr txBox="1"/>
          <p:nvPr/>
        </p:nvSpPr>
        <p:spPr>
          <a:xfrm>
            <a:off x="2362200" y="5715000"/>
            <a:ext cx="800100" cy="220980"/>
          </a:xfrm>
          <a:prstGeom prst="rect">
            <a:avLst/>
          </a:prstGeom>
          <a:noFill/>
          <a:ln/>
        </p:spPr>
        <p:txBody>
          <a:bodyPr wrap="square" lIns="0" tIns="0" rIns="0" bIns="0" rtlCol="0" anchor="ctr">
            <a:normAutofit/>
          </a:bodyPr>
          <a:lstStyle/>
          <a:p>
            <a:pPr algn="ctr" indent="0" marL="0">
              <a:buNone/>
            </a:pPr>
            <a:r>
              <a:rPr lang="en-US" sz="540" b="1" spc="30" kern="0" dirty="0">
                <a:solidFill>
                  <a:srgbClr val="7656A5"/>
                </a:solidFill>
                <a:latin typeface="Aptos" pitchFamily="34" charset="0"/>
                <a:ea typeface="Aptos" pitchFamily="34" charset="-122"/>
                <a:cs typeface="Aptos" pitchFamily="34" charset="-120"/>
              </a:rPr>
              <a:t>FastAPI</a:t>
            </a:r>
            <a:endParaRPr lang="en-US" sz="540" dirty="0"/>
          </a:p>
        </p:txBody>
      </p:sp>
      <p:sp>
        <p:nvSpPr>
          <p:cNvPr id="84" name="Shape 82"/>
          <p:cNvSpPr/>
          <p:nvPr/>
        </p:nvSpPr>
        <p:spPr>
          <a:xfrm>
            <a:off x="3352800" y="5692140"/>
            <a:ext cx="1104900" cy="266700"/>
          </a:xfrm>
          <a:prstGeom prst="roundRect">
            <a:avLst>
              <a:gd name="adj" fmla="val 54857"/>
            </a:avLst>
          </a:prstGeom>
          <a:solidFill>
            <a:srgbClr val="FFFFFF"/>
          </a:solidFill>
          <a:ln w="6350">
            <a:solidFill>
              <a:srgbClr val="FFFFFF">
                <a:alpha val="0"/>
              </a:srgbClr>
            </a:solidFill>
            <a:prstDash val="solid"/>
          </a:ln>
        </p:spPr>
      </p:sp>
      <p:sp>
        <p:nvSpPr>
          <p:cNvPr id="85" name="Text 83"/>
          <p:cNvSpPr txBox="1"/>
          <p:nvPr/>
        </p:nvSpPr>
        <p:spPr>
          <a:xfrm>
            <a:off x="3429000" y="5715000"/>
            <a:ext cx="952500" cy="220980"/>
          </a:xfrm>
          <a:prstGeom prst="rect">
            <a:avLst/>
          </a:prstGeom>
          <a:noFill/>
          <a:ln/>
        </p:spPr>
        <p:txBody>
          <a:bodyPr wrap="square" lIns="0" tIns="0" rIns="0" bIns="0" rtlCol="0" anchor="ctr">
            <a:normAutofit/>
          </a:bodyPr>
          <a:lstStyle/>
          <a:p>
            <a:pPr algn="ctr" indent="0" marL="0">
              <a:buNone/>
            </a:pPr>
            <a:r>
              <a:rPr lang="en-US" sz="540" b="1" spc="30" kern="0" dirty="0">
                <a:solidFill>
                  <a:srgbClr val="B87932"/>
                </a:solidFill>
                <a:latin typeface="Aptos" pitchFamily="34" charset="0"/>
                <a:ea typeface="Aptos" pitchFamily="34" charset="-122"/>
                <a:cs typeface="Aptos" pitchFamily="34" charset="-120"/>
              </a:rPr>
              <a:t>ARQ + Redis</a:t>
            </a:r>
            <a:endParaRPr lang="en-US" sz="540" dirty="0"/>
          </a:p>
        </p:txBody>
      </p:sp>
      <p:sp>
        <p:nvSpPr>
          <p:cNvPr id="86" name="Shape 84"/>
          <p:cNvSpPr/>
          <p:nvPr/>
        </p:nvSpPr>
        <p:spPr>
          <a:xfrm>
            <a:off x="4572000" y="5692140"/>
            <a:ext cx="1638300" cy="266700"/>
          </a:xfrm>
          <a:prstGeom prst="roundRect">
            <a:avLst>
              <a:gd name="adj" fmla="val 54857"/>
            </a:avLst>
          </a:prstGeom>
          <a:solidFill>
            <a:srgbClr val="FFFFFF"/>
          </a:solidFill>
          <a:ln w="6350">
            <a:solidFill>
              <a:srgbClr val="FFFFFF">
                <a:alpha val="0"/>
              </a:srgbClr>
            </a:solidFill>
            <a:prstDash val="solid"/>
          </a:ln>
        </p:spPr>
      </p:sp>
      <p:sp>
        <p:nvSpPr>
          <p:cNvPr id="87" name="Text 85"/>
          <p:cNvSpPr txBox="1"/>
          <p:nvPr/>
        </p:nvSpPr>
        <p:spPr>
          <a:xfrm>
            <a:off x="4648200" y="5715000"/>
            <a:ext cx="1485900" cy="220980"/>
          </a:xfrm>
          <a:prstGeom prst="rect">
            <a:avLst/>
          </a:prstGeom>
          <a:noFill/>
          <a:ln/>
        </p:spPr>
        <p:txBody>
          <a:bodyPr wrap="square" lIns="0" tIns="0" rIns="0" bIns="0" rtlCol="0" anchor="ctr">
            <a:normAutofit/>
          </a:bodyPr>
          <a:lstStyle/>
          <a:p>
            <a:pPr algn="ctr" indent="0" marL="0">
              <a:buNone/>
            </a:pPr>
            <a:r>
              <a:rPr lang="en-US" sz="540" b="1" spc="30" kern="0" dirty="0">
                <a:solidFill>
                  <a:srgbClr val="2F8B72"/>
                </a:solidFill>
                <a:latin typeface="Aptos" pitchFamily="34" charset="0"/>
                <a:ea typeface="Aptos" pitchFamily="34" charset="-122"/>
                <a:cs typeface="Aptos" pitchFamily="34" charset="-120"/>
              </a:rPr>
              <a:t>Postgres + pgvector</a:t>
            </a:r>
            <a:endParaRPr lang="en-US" sz="540" dirty="0"/>
          </a:p>
        </p:txBody>
      </p:sp>
      <p:sp>
        <p:nvSpPr>
          <p:cNvPr id="88" name="Shape 86"/>
          <p:cNvSpPr/>
          <p:nvPr/>
        </p:nvSpPr>
        <p:spPr>
          <a:xfrm>
            <a:off x="6324600" y="5692140"/>
            <a:ext cx="1371600" cy="266700"/>
          </a:xfrm>
          <a:prstGeom prst="roundRect">
            <a:avLst>
              <a:gd name="adj" fmla="val 54857"/>
            </a:avLst>
          </a:prstGeom>
          <a:solidFill>
            <a:srgbClr val="FFFFFF"/>
          </a:solidFill>
          <a:ln w="6350">
            <a:solidFill>
              <a:srgbClr val="FFFFFF">
                <a:alpha val="0"/>
              </a:srgbClr>
            </a:solidFill>
            <a:prstDash val="solid"/>
          </a:ln>
        </p:spPr>
      </p:sp>
      <p:sp>
        <p:nvSpPr>
          <p:cNvPr id="89" name="Text 87"/>
          <p:cNvSpPr txBox="1"/>
          <p:nvPr/>
        </p:nvSpPr>
        <p:spPr>
          <a:xfrm>
            <a:off x="6400800" y="5715000"/>
            <a:ext cx="1219200" cy="220980"/>
          </a:xfrm>
          <a:prstGeom prst="rect">
            <a:avLst/>
          </a:prstGeom>
          <a:noFill/>
          <a:ln/>
        </p:spPr>
        <p:txBody>
          <a:bodyPr wrap="square" lIns="0" tIns="0" rIns="0" bIns="0" rtlCol="0" anchor="ctr">
            <a:normAutofit/>
          </a:bodyPr>
          <a:lstStyle/>
          <a:p>
            <a:pPr algn="ctr" indent="0" marL="0">
              <a:buNone/>
            </a:pPr>
            <a:r>
              <a:rPr lang="en-US" sz="540" b="1" spc="30" kern="0" dirty="0">
                <a:solidFill>
                  <a:srgbClr val="344258"/>
                </a:solidFill>
                <a:latin typeface="Aptos" pitchFamily="34" charset="0"/>
                <a:ea typeface="Aptos" pitchFamily="34" charset="-122"/>
                <a:cs typeface="Aptos" pitchFamily="34" charset="-120"/>
              </a:rPr>
              <a:t>MinIO + Docker</a:t>
            </a:r>
            <a:endParaRPr lang="en-US" sz="540" dirty="0"/>
          </a:p>
        </p:txBody>
      </p:sp>
      <p:sp>
        <p:nvSpPr>
          <p:cNvPr id="90" name="Shape 88"/>
          <p:cNvSpPr/>
          <p:nvPr/>
        </p:nvSpPr>
        <p:spPr>
          <a:xfrm>
            <a:off x="8839200" y="5692140"/>
            <a:ext cx="1905000" cy="266700"/>
          </a:xfrm>
          <a:prstGeom prst="roundRect">
            <a:avLst>
              <a:gd name="adj" fmla="val 54857"/>
            </a:avLst>
          </a:prstGeom>
          <a:solidFill>
            <a:srgbClr val="E7EEF9"/>
          </a:solidFill>
          <a:ln w="6350">
            <a:solidFill>
              <a:srgbClr val="E7EEF9">
                <a:alpha val="0"/>
              </a:srgbClr>
            </a:solidFill>
            <a:prstDash val="solid"/>
          </a:ln>
        </p:spPr>
      </p:sp>
      <p:sp>
        <p:nvSpPr>
          <p:cNvPr id="91" name="Text 89"/>
          <p:cNvSpPr txBox="1"/>
          <p:nvPr/>
        </p:nvSpPr>
        <p:spPr>
          <a:xfrm>
            <a:off x="8915400" y="5715000"/>
            <a:ext cx="1752600" cy="220980"/>
          </a:xfrm>
          <a:prstGeom prst="rect">
            <a:avLst/>
          </a:prstGeom>
          <a:noFill/>
          <a:ln/>
        </p:spPr>
        <p:txBody>
          <a:bodyPr wrap="square" lIns="0" tIns="0" rIns="0" bIns="0" rtlCol="0" anchor="ctr">
            <a:normAutofit/>
          </a:bodyPr>
          <a:lstStyle/>
          <a:p>
            <a:pPr algn="ctr" indent="0" marL="0">
              <a:buNone/>
            </a:pPr>
            <a:r>
              <a:rPr lang="en-US" sz="540" b="1" spc="30" kern="0" dirty="0">
                <a:solidFill>
                  <a:srgbClr val="557DC0"/>
                </a:solidFill>
                <a:latin typeface="Aptos" pitchFamily="34" charset="0"/>
                <a:ea typeface="Aptos" pitchFamily="34" charset="-122"/>
                <a:cs typeface="Aptos" pitchFamily="34" charset="-120"/>
              </a:rPr>
              <a:t>VERSIONED EVIDENCE</a:t>
            </a:r>
            <a:endParaRPr lang="en-US" sz="540" dirty="0"/>
          </a:p>
        </p:txBody>
      </p:sp>
      <p:sp>
        <p:nvSpPr>
          <p:cNvPr id="92" name="Text 90"/>
          <p:cNvSpPr/>
          <p:nvPr/>
        </p:nvSpPr>
        <p:spPr>
          <a:xfrm>
            <a:off x="685800" y="6210300"/>
            <a:ext cx="1371600" cy="243840"/>
          </a:xfrm>
          <a:prstGeom prst="rect">
            <a:avLst/>
          </a:prstGeom>
          <a:noFill/>
          <a:ln/>
        </p:spPr>
        <p:txBody>
          <a:bodyPr wrap="square" lIns="0" tIns="0" rIns="0" bIns="0" rtlCol="0" anchor="ctr">
            <a:normAutofit/>
          </a:bodyPr>
          <a:lstStyle/>
          <a:p>
            <a:pPr indent="0" marL="0">
              <a:buNone/>
            </a:pPr>
            <a:r>
              <a:rPr lang="en-US" sz="1400" b="1" dirty="0">
                <a:solidFill>
                  <a:srgbClr val="172337"/>
                </a:solidFill>
                <a:latin typeface="Aptos Display" pitchFamily="34" charset="0"/>
                <a:ea typeface="Aptos Display" pitchFamily="34" charset="-122"/>
                <a:cs typeface="Aptos Display" pitchFamily="34" charset="-120"/>
              </a:rPr>
              <a:t>FirstCheck</a:t>
            </a:r>
            <a:pPr indent="0" marL="0">
              <a:buNone/>
            </a:pPr>
            <a:r>
              <a:rPr lang="en-US" sz="1200" b="1" dirty="0">
                <a:solidFill>
                  <a:srgbClr val="557DC0"/>
                </a:solidFill>
                <a:latin typeface="Aptos Display" pitchFamily="34" charset="0"/>
                <a:ea typeface="Aptos Display" pitchFamily="34" charset="-122"/>
                <a:cs typeface="Aptos Display" pitchFamily="34" charset="-120"/>
              </a:rPr>
              <a:t>24</a:t>
            </a:r>
            <a:endParaRPr lang="en-US" sz="1400" dirty="0"/>
          </a:p>
        </p:txBody>
      </p:sp>
      <p:sp>
        <p:nvSpPr>
          <p:cNvPr id="93" name="Text 91"/>
          <p:cNvSpPr txBox="1"/>
          <p:nvPr/>
        </p:nvSpPr>
        <p:spPr>
          <a:xfrm>
            <a:off x="11125200" y="6248400"/>
            <a:ext cx="381000" cy="152400"/>
          </a:xfrm>
          <a:prstGeom prst="rect">
            <a:avLst/>
          </a:prstGeom>
          <a:noFill/>
          <a:ln/>
        </p:spPr>
        <p:txBody>
          <a:bodyPr wrap="square" lIns="0" tIns="0" rIns="0" bIns="0" rtlCol="0" anchor="ctr">
            <a:normAutofit/>
          </a:bodyPr>
          <a:lstStyle/>
          <a:p>
            <a:pPr algn="r" indent="0" marL="0">
              <a:buNone/>
            </a:pPr>
            <a:r>
              <a:rPr lang="en-US" sz="780" b="1" spc="200" kern="0" dirty="0">
                <a:solidFill>
                  <a:srgbClr val="94A3B8"/>
                </a:solidFill>
                <a:latin typeface="Aptos" pitchFamily="34" charset="0"/>
                <a:ea typeface="Aptos" pitchFamily="34" charset="-122"/>
                <a:cs typeface="Aptos" pitchFamily="34" charset="-120"/>
              </a:rPr>
              <a:t>08</a:t>
            </a:r>
            <a:endParaRPr lang="en-US" sz="78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F6FB"/>
        </a:solidFill>
      </p:bgPr>
    </p:bg>
    <p:spTree>
      <p:nvGrpSpPr>
        <p:cNvPr id="1" name=""/>
        <p:cNvGrpSpPr/>
        <p:nvPr/>
      </p:nvGrpSpPr>
      <p:grpSpPr>
        <a:xfrm>
          <a:off x="0" y="0"/>
          <a:ext cx="0" cy="0"/>
          <a:chOff x="0" y="0"/>
          <a:chExt cx="0" cy="0"/>
        </a:xfrm>
      </p:grpSpPr>
      <p:sp>
        <p:nvSpPr>
          <p:cNvPr id="2" name="Text 0"/>
          <p:cNvSpPr txBox="1"/>
          <p:nvPr/>
        </p:nvSpPr>
        <p:spPr>
          <a:xfrm>
            <a:off x="685800" y="548640"/>
            <a:ext cx="5791200" cy="213360"/>
          </a:xfrm>
          <a:prstGeom prst="rect">
            <a:avLst/>
          </a:prstGeom>
          <a:noFill/>
          <a:ln/>
        </p:spPr>
        <p:txBody>
          <a:bodyPr wrap="square" lIns="0" tIns="0" rIns="0" bIns="0" rtlCol="0" anchor="ctr">
            <a:normAutofit/>
          </a:bodyPr>
          <a:lstStyle/>
          <a:p>
            <a:pPr algn="l" indent="0" marL="0">
              <a:buNone/>
            </a:pPr>
            <a:r>
              <a:rPr lang="en-US" sz="900" b="1" spc="240" kern="0" dirty="0">
                <a:solidFill>
                  <a:srgbClr val="557DC0"/>
                </a:solidFill>
                <a:latin typeface="Aptos" pitchFamily="34" charset="0"/>
                <a:ea typeface="Aptos" pitchFamily="34" charset="-122"/>
                <a:cs typeface="Aptos" pitchFamily="34" charset="-120"/>
              </a:rPr>
              <a:t>PROOF, NOT PROMISE</a:t>
            </a:r>
            <a:endParaRPr lang="en-US" sz="900" dirty="0"/>
          </a:p>
        </p:txBody>
      </p:sp>
      <p:sp>
        <p:nvSpPr>
          <p:cNvPr id="3" name="Text 1"/>
          <p:cNvSpPr txBox="1"/>
          <p:nvPr/>
        </p:nvSpPr>
        <p:spPr>
          <a:xfrm>
            <a:off x="685800" y="800100"/>
            <a:ext cx="5791200" cy="792480"/>
          </a:xfrm>
          <a:prstGeom prst="rect">
            <a:avLst/>
          </a:prstGeom>
          <a:noFill/>
          <a:ln/>
        </p:spPr>
        <p:txBody>
          <a:bodyPr wrap="square" lIns="0" tIns="0" rIns="0" bIns="0" rtlCol="0" anchor="t">
            <a:normAutofit/>
          </a:bodyPr>
          <a:lstStyle/>
          <a:p>
            <a:pPr algn="l" indent="0" marL="0">
              <a:buNone/>
            </a:pPr>
            <a:r>
              <a:rPr lang="en-US" sz="3000" b="1" dirty="0">
                <a:solidFill>
                  <a:srgbClr val="172337"/>
                </a:solidFill>
                <a:latin typeface="Aptos Display" pitchFamily="34" charset="0"/>
                <a:ea typeface="Aptos Display" pitchFamily="34" charset="-122"/>
                <a:cs typeface="Aptos Display" pitchFamily="34" charset="-120"/>
              </a:rPr>
              <a:t>Built, tested,</a:t>
            </a:r>
            <a:endParaRPr lang="en-US" sz="3000" dirty="0"/>
          </a:p>
          <a:p>
            <a:pPr algn="l" indent="0" marL="0">
              <a:buNone/>
            </a:pPr>
            <a:r>
              <a:rPr lang="en-US" sz="3000" b="1" dirty="0">
                <a:solidFill>
                  <a:srgbClr val="172337"/>
                </a:solidFill>
                <a:latin typeface="Aptos Display" pitchFamily="34" charset="0"/>
                <a:ea typeface="Aptos Display" pitchFamily="34" charset="-122"/>
                <a:cs typeface="Aptos Display" pitchFamily="34" charset="-120"/>
              </a:rPr>
              <a:t>and decision-ready.</a:t>
            </a:r>
            <a:endParaRPr lang="en-US" sz="3000" dirty="0"/>
          </a:p>
        </p:txBody>
      </p:sp>
      <p:sp>
        <p:nvSpPr>
          <p:cNvPr id="4" name="Text 2"/>
          <p:cNvSpPr txBox="1"/>
          <p:nvPr/>
        </p:nvSpPr>
        <p:spPr>
          <a:xfrm>
            <a:off x="685800" y="1722120"/>
            <a:ext cx="7010400" cy="243840"/>
          </a:xfrm>
          <a:prstGeom prst="rect">
            <a:avLst/>
          </a:prstGeom>
          <a:noFill/>
          <a:ln/>
        </p:spPr>
        <p:txBody>
          <a:bodyPr wrap="square" lIns="0" tIns="0" rIns="0" bIns="0" rtlCol="0" anchor="t">
            <a:normAutofit/>
          </a:bodyPr>
          <a:lstStyle/>
          <a:p>
            <a:pPr algn="l" indent="0" marL="0">
              <a:buNone/>
            </a:pPr>
            <a:r>
              <a:rPr lang="en-US" sz="1200" dirty="0">
                <a:solidFill>
                  <a:srgbClr val="718097"/>
                </a:solidFill>
                <a:latin typeface="Aptos" pitchFamily="34" charset="0"/>
                <a:ea typeface="Aptos" pitchFamily="34" charset="-122"/>
                <a:cs typeface="Aptos" pitchFamily="34" charset="-120"/>
              </a:rPr>
              <a:t>Real data, live state transitions, reproducible scores and an investor-ready interface.</a:t>
            </a:r>
            <a:endParaRPr lang="en-US" sz="1200" dirty="0"/>
          </a:p>
        </p:txBody>
      </p:sp>
      <p:sp>
        <p:nvSpPr>
          <p:cNvPr id="5" name="Shape 3"/>
          <p:cNvSpPr/>
          <p:nvPr/>
        </p:nvSpPr>
        <p:spPr>
          <a:xfrm>
            <a:off x="685800" y="2286000"/>
            <a:ext cx="2514600" cy="1790700"/>
          </a:xfrm>
          <a:prstGeom prst="roundRect">
            <a:avLst>
              <a:gd name="adj" fmla="val 9191"/>
            </a:avLst>
          </a:prstGeom>
          <a:solidFill>
            <a:srgbClr val="FFFFFF"/>
          </a:solidFill>
          <a:ln w="6350">
            <a:solidFill>
              <a:srgbClr val="FFFFFF">
                <a:alpha val="0"/>
              </a:srgbClr>
            </a:solidFill>
            <a:prstDash val="solid"/>
          </a:ln>
          <a:effectLst>
            <a:outerShdw sx="100000" sy="100000" kx="0" ky="0" algn="bl" rotWithShape="0" blurRad="7.212499731616968e+61" dist="1.4424999463233936e+62" dir="2.1158324305920003e+73">
              <a:srgbClr val="405875">
                <a:alpha val="1.2e+74"/>
              </a:srgbClr>
            </a:outerShdw>
          </a:effectLst>
        </p:spPr>
      </p:sp>
      <p:sp>
        <p:nvSpPr>
          <p:cNvPr id="6" name="Text 4"/>
          <p:cNvSpPr txBox="1"/>
          <p:nvPr/>
        </p:nvSpPr>
        <p:spPr>
          <a:xfrm>
            <a:off x="914400" y="2514600"/>
            <a:ext cx="1676400" cy="502920"/>
          </a:xfrm>
          <a:prstGeom prst="rect">
            <a:avLst/>
          </a:prstGeom>
          <a:noFill/>
          <a:ln/>
        </p:spPr>
        <p:txBody>
          <a:bodyPr wrap="square" lIns="0" tIns="0" rIns="0" bIns="0" rtlCol="0" anchor="ctr">
            <a:normAutofit/>
          </a:bodyPr>
          <a:lstStyle/>
          <a:p>
            <a:pPr algn="l" indent="0" marL="0">
              <a:buNone/>
            </a:pPr>
            <a:r>
              <a:rPr lang="en-US" sz="3840" b="1" dirty="0">
                <a:solidFill>
                  <a:srgbClr val="2F8B72"/>
                </a:solidFill>
                <a:latin typeface="Aptos Display" pitchFamily="34" charset="0"/>
                <a:ea typeface="Aptos Display" pitchFamily="34" charset="-122"/>
                <a:cs typeface="Aptos Display" pitchFamily="34" charset="-120"/>
              </a:rPr>
              <a:t>10</a:t>
            </a:r>
            <a:endParaRPr lang="en-US" sz="3840" dirty="0"/>
          </a:p>
        </p:txBody>
      </p:sp>
      <p:sp>
        <p:nvSpPr>
          <p:cNvPr id="7" name="Text 5"/>
          <p:cNvSpPr txBox="1"/>
          <p:nvPr/>
        </p:nvSpPr>
        <p:spPr>
          <a:xfrm>
            <a:off x="914400" y="3162300"/>
            <a:ext cx="1828800" cy="495300"/>
          </a:xfrm>
          <a:prstGeom prst="rect">
            <a:avLst/>
          </a:prstGeom>
          <a:noFill/>
          <a:ln/>
        </p:spPr>
        <p:txBody>
          <a:bodyPr wrap="square" lIns="0" tIns="0" rIns="0" bIns="0" rtlCol="0" anchor="t">
            <a:normAutofit/>
          </a:bodyPr>
          <a:lstStyle/>
          <a:p>
            <a:pPr algn="l" indent="0" marL="0">
              <a:buNone/>
            </a:pPr>
            <a:r>
              <a:rPr lang="en-US" sz="1200" b="1" dirty="0">
                <a:solidFill>
                  <a:srgbClr val="344258"/>
                </a:solidFill>
                <a:latin typeface="Aptos" pitchFamily="34" charset="0"/>
                <a:ea typeface="Aptos" pitchFamily="34" charset="-122"/>
                <a:cs typeface="Aptos" pitchFamily="34" charset="-120"/>
              </a:rPr>
              <a:t>public-source</a:t>
            </a:r>
            <a:endParaRPr lang="en-US" sz="1200" dirty="0"/>
          </a:p>
          <a:p>
            <a:pPr algn="l" indent="0" marL="0">
              <a:buNone/>
            </a:pPr>
            <a:r>
              <a:rPr lang="en-US" sz="1200" b="1" dirty="0">
                <a:solidFill>
                  <a:srgbClr val="344258"/>
                </a:solidFill>
                <a:latin typeface="Aptos" pitchFamily="34" charset="0"/>
                <a:ea typeface="Aptos" pitchFamily="34" charset="-122"/>
                <a:cs typeface="Aptos" pitchFamily="34" charset="-120"/>
              </a:rPr>
              <a:t>collectors</a:t>
            </a:r>
            <a:endParaRPr lang="en-US" sz="1200" dirty="0"/>
          </a:p>
        </p:txBody>
      </p:sp>
      <p:sp>
        <p:nvSpPr>
          <p:cNvPr id="8" name="Shape 6"/>
          <p:cNvSpPr/>
          <p:nvPr/>
        </p:nvSpPr>
        <p:spPr>
          <a:xfrm>
            <a:off x="3505200" y="2286000"/>
            <a:ext cx="2514600" cy="1790700"/>
          </a:xfrm>
          <a:prstGeom prst="roundRect">
            <a:avLst>
              <a:gd name="adj" fmla="val 9191"/>
            </a:avLst>
          </a:prstGeom>
          <a:solidFill>
            <a:srgbClr val="FFFFFF"/>
          </a:solidFill>
          <a:ln w="6350">
            <a:solidFill>
              <a:srgbClr val="FFFFFF">
                <a:alpha val="0"/>
              </a:srgbClr>
            </a:solidFill>
            <a:prstDash val="solid"/>
          </a:ln>
          <a:effectLst>
            <a:outerShdw sx="100000" sy="100000" kx="0" ky="0" algn="bl" rotWithShape="0" blurRad="9.15987465915355e+65" dist="1.83197493183071e+66" dir="1.2694994583552002e+78">
              <a:srgbClr val="405875">
                <a:alpha val="1.2000000000000001e+79"/>
              </a:srgbClr>
            </a:outerShdw>
          </a:effectLst>
        </p:spPr>
      </p:sp>
      <p:sp>
        <p:nvSpPr>
          <p:cNvPr id="9" name="Text 7"/>
          <p:cNvSpPr txBox="1"/>
          <p:nvPr/>
        </p:nvSpPr>
        <p:spPr>
          <a:xfrm>
            <a:off x="3733800" y="2514600"/>
            <a:ext cx="1676400" cy="502920"/>
          </a:xfrm>
          <a:prstGeom prst="rect">
            <a:avLst/>
          </a:prstGeom>
          <a:noFill/>
          <a:ln/>
        </p:spPr>
        <p:txBody>
          <a:bodyPr wrap="square" lIns="0" tIns="0" rIns="0" bIns="0" rtlCol="0" anchor="ctr">
            <a:normAutofit/>
          </a:bodyPr>
          <a:lstStyle/>
          <a:p>
            <a:pPr algn="l" indent="0" marL="0">
              <a:buNone/>
            </a:pPr>
            <a:r>
              <a:rPr lang="en-US" sz="3840" b="1" dirty="0">
                <a:solidFill>
                  <a:srgbClr val="557DC0"/>
                </a:solidFill>
                <a:latin typeface="Aptos Display" pitchFamily="34" charset="0"/>
                <a:ea typeface="Aptos Display" pitchFamily="34" charset="-122"/>
                <a:cs typeface="Aptos Display" pitchFamily="34" charset="-120"/>
              </a:rPr>
              <a:t>112</a:t>
            </a:r>
            <a:endParaRPr lang="en-US" sz="3840" dirty="0"/>
          </a:p>
        </p:txBody>
      </p:sp>
      <p:sp>
        <p:nvSpPr>
          <p:cNvPr id="10" name="Text 8"/>
          <p:cNvSpPr txBox="1"/>
          <p:nvPr/>
        </p:nvSpPr>
        <p:spPr>
          <a:xfrm>
            <a:off x="3733800" y="3162300"/>
            <a:ext cx="1828800" cy="495300"/>
          </a:xfrm>
          <a:prstGeom prst="rect">
            <a:avLst/>
          </a:prstGeom>
          <a:noFill/>
          <a:ln/>
        </p:spPr>
        <p:txBody>
          <a:bodyPr wrap="square" lIns="0" tIns="0" rIns="0" bIns="0" rtlCol="0" anchor="t">
            <a:normAutofit/>
          </a:bodyPr>
          <a:lstStyle/>
          <a:p>
            <a:pPr algn="l" indent="0" marL="0">
              <a:buNone/>
            </a:pPr>
            <a:r>
              <a:rPr lang="en-US" sz="1200" b="1" dirty="0">
                <a:solidFill>
                  <a:srgbClr val="344258"/>
                </a:solidFill>
                <a:latin typeface="Aptos" pitchFamily="34" charset="0"/>
                <a:ea typeface="Aptos" pitchFamily="34" charset="-122"/>
                <a:cs typeface="Aptos" pitchFamily="34" charset="-120"/>
              </a:rPr>
              <a:t>persistent founder</a:t>
            </a:r>
            <a:endParaRPr lang="en-US" sz="1200" dirty="0"/>
          </a:p>
          <a:p>
            <a:pPr algn="l" indent="0" marL="0">
              <a:buNone/>
            </a:pPr>
            <a:r>
              <a:rPr lang="en-US" sz="1200" b="1" dirty="0">
                <a:solidFill>
                  <a:srgbClr val="344258"/>
                </a:solidFill>
                <a:latin typeface="Aptos" pitchFamily="34" charset="0"/>
                <a:ea typeface="Aptos" pitchFamily="34" charset="-122"/>
                <a:cs typeface="Aptos" pitchFamily="34" charset="-120"/>
              </a:rPr>
              <a:t>identities</a:t>
            </a:r>
            <a:endParaRPr lang="en-US" sz="1200" dirty="0"/>
          </a:p>
        </p:txBody>
      </p:sp>
      <p:sp>
        <p:nvSpPr>
          <p:cNvPr id="11" name="Shape 9"/>
          <p:cNvSpPr/>
          <p:nvPr/>
        </p:nvSpPr>
        <p:spPr>
          <a:xfrm>
            <a:off x="6324600" y="2286000"/>
            <a:ext cx="2514600" cy="1790700"/>
          </a:xfrm>
          <a:prstGeom prst="roundRect">
            <a:avLst>
              <a:gd name="adj" fmla="val 9191"/>
            </a:avLst>
          </a:prstGeom>
          <a:solidFill>
            <a:srgbClr val="FFFFFF"/>
          </a:solidFill>
          <a:ln w="6350">
            <a:solidFill>
              <a:srgbClr val="FFFFFF">
                <a:alpha val="0"/>
              </a:srgbClr>
            </a:solidFill>
            <a:prstDash val="solid"/>
          </a:ln>
          <a:effectLst>
            <a:outerShdw sx="100000" sy="100000" kx="0" ky="0" algn="bl" rotWithShape="0" blurRad="1.1633040817125008e+70" dist="2.3266081634250016e+70" dir="7.616996750131201e+82">
              <a:srgbClr val="405875">
                <a:alpha val="1.2000000000000002e+84"/>
              </a:srgbClr>
            </a:outerShdw>
          </a:effectLst>
        </p:spPr>
      </p:sp>
      <p:sp>
        <p:nvSpPr>
          <p:cNvPr id="12" name="Text 10"/>
          <p:cNvSpPr txBox="1"/>
          <p:nvPr/>
        </p:nvSpPr>
        <p:spPr>
          <a:xfrm>
            <a:off x="6553200" y="2514600"/>
            <a:ext cx="1676400" cy="502920"/>
          </a:xfrm>
          <a:prstGeom prst="rect">
            <a:avLst/>
          </a:prstGeom>
          <a:noFill/>
          <a:ln/>
        </p:spPr>
        <p:txBody>
          <a:bodyPr wrap="square" lIns="0" tIns="0" rIns="0" bIns="0" rtlCol="0" anchor="ctr">
            <a:normAutofit/>
          </a:bodyPr>
          <a:lstStyle/>
          <a:p>
            <a:pPr algn="l" indent="0" marL="0">
              <a:buNone/>
            </a:pPr>
            <a:r>
              <a:rPr lang="en-US" sz="3840" b="1" dirty="0">
                <a:solidFill>
                  <a:srgbClr val="7656A5"/>
                </a:solidFill>
                <a:latin typeface="Aptos Display" pitchFamily="34" charset="0"/>
                <a:ea typeface="Aptos Display" pitchFamily="34" charset="-122"/>
                <a:cs typeface="Aptos Display" pitchFamily="34" charset="-120"/>
              </a:rPr>
              <a:t>106</a:t>
            </a:r>
            <a:endParaRPr lang="en-US" sz="3840" dirty="0"/>
          </a:p>
        </p:txBody>
      </p:sp>
      <p:sp>
        <p:nvSpPr>
          <p:cNvPr id="13" name="Text 11"/>
          <p:cNvSpPr txBox="1"/>
          <p:nvPr/>
        </p:nvSpPr>
        <p:spPr>
          <a:xfrm>
            <a:off x="6553200" y="3162300"/>
            <a:ext cx="1828800" cy="495300"/>
          </a:xfrm>
          <a:prstGeom prst="rect">
            <a:avLst/>
          </a:prstGeom>
          <a:noFill/>
          <a:ln/>
        </p:spPr>
        <p:txBody>
          <a:bodyPr wrap="square" lIns="0" tIns="0" rIns="0" bIns="0" rtlCol="0" anchor="t">
            <a:normAutofit/>
          </a:bodyPr>
          <a:lstStyle/>
          <a:p>
            <a:pPr algn="l" indent="0" marL="0">
              <a:buNone/>
            </a:pPr>
            <a:r>
              <a:rPr lang="en-US" sz="1200" b="1" dirty="0">
                <a:solidFill>
                  <a:srgbClr val="344258"/>
                </a:solidFill>
                <a:latin typeface="Aptos" pitchFamily="34" charset="0"/>
                <a:ea typeface="Aptos" pitchFamily="34" charset="-122"/>
                <a:cs typeface="Aptos" pitchFamily="34" charset="-120"/>
              </a:rPr>
              <a:t>automated</a:t>
            </a:r>
            <a:endParaRPr lang="en-US" sz="1200" dirty="0"/>
          </a:p>
          <a:p>
            <a:pPr algn="l" indent="0" marL="0">
              <a:buNone/>
            </a:pPr>
            <a:r>
              <a:rPr lang="en-US" sz="1200" b="1" dirty="0">
                <a:solidFill>
                  <a:srgbClr val="344258"/>
                </a:solidFill>
                <a:latin typeface="Aptos" pitchFamily="34" charset="0"/>
                <a:ea typeface="Aptos" pitchFamily="34" charset="-122"/>
                <a:cs typeface="Aptos" pitchFamily="34" charset="-120"/>
              </a:rPr>
              <a:t>tests passed</a:t>
            </a:r>
            <a:endParaRPr lang="en-US" sz="1200" dirty="0"/>
          </a:p>
        </p:txBody>
      </p:sp>
      <p:sp>
        <p:nvSpPr>
          <p:cNvPr id="14" name="Shape 12"/>
          <p:cNvSpPr/>
          <p:nvPr/>
        </p:nvSpPr>
        <p:spPr>
          <a:xfrm>
            <a:off x="9144000" y="2286000"/>
            <a:ext cx="2514600" cy="1790700"/>
          </a:xfrm>
          <a:prstGeom prst="roundRect">
            <a:avLst>
              <a:gd name="adj" fmla="val 9191"/>
            </a:avLst>
          </a:prstGeom>
          <a:solidFill>
            <a:srgbClr val="FFFFFF"/>
          </a:solidFill>
          <a:ln w="6350">
            <a:solidFill>
              <a:srgbClr val="FFFFFF">
                <a:alpha val="0"/>
              </a:srgbClr>
            </a:solidFill>
            <a:prstDash val="solid"/>
          </a:ln>
          <a:effectLst>
            <a:outerShdw sx="100000" sy="100000" kx="0" ky="0" algn="bl" rotWithShape="0" blurRad="1.477396183774876e+74" dist="2.954792367549752e+74" dir="4.57019805007872e+87">
              <a:srgbClr val="405875">
                <a:alpha val="1.2000000000000002e+89"/>
              </a:srgbClr>
            </a:outerShdw>
          </a:effectLst>
        </p:spPr>
      </p:sp>
      <p:sp>
        <p:nvSpPr>
          <p:cNvPr id="15" name="Text 13"/>
          <p:cNvSpPr txBox="1"/>
          <p:nvPr/>
        </p:nvSpPr>
        <p:spPr>
          <a:xfrm>
            <a:off x="9372600" y="2514600"/>
            <a:ext cx="1676400" cy="502920"/>
          </a:xfrm>
          <a:prstGeom prst="rect">
            <a:avLst/>
          </a:prstGeom>
          <a:noFill/>
          <a:ln/>
        </p:spPr>
        <p:txBody>
          <a:bodyPr wrap="square" lIns="0" tIns="0" rIns="0" bIns="0" rtlCol="0" anchor="ctr">
            <a:normAutofit/>
          </a:bodyPr>
          <a:lstStyle/>
          <a:p>
            <a:pPr algn="l" indent="0" marL="0">
              <a:buNone/>
            </a:pPr>
            <a:r>
              <a:rPr lang="en-US" sz="3840" b="1" dirty="0">
                <a:solidFill>
                  <a:srgbClr val="B87932"/>
                </a:solidFill>
                <a:latin typeface="Aptos Display" pitchFamily="34" charset="0"/>
                <a:ea typeface="Aptos Display" pitchFamily="34" charset="-122"/>
                <a:cs typeface="Aptos Display" pitchFamily="34" charset="-120"/>
              </a:rPr>
              <a:t>24h</a:t>
            </a:r>
            <a:endParaRPr lang="en-US" sz="3840" dirty="0"/>
          </a:p>
        </p:txBody>
      </p:sp>
      <p:sp>
        <p:nvSpPr>
          <p:cNvPr id="16" name="Text 14"/>
          <p:cNvSpPr txBox="1"/>
          <p:nvPr/>
        </p:nvSpPr>
        <p:spPr>
          <a:xfrm>
            <a:off x="9372600" y="3162300"/>
            <a:ext cx="1828800" cy="495300"/>
          </a:xfrm>
          <a:prstGeom prst="rect">
            <a:avLst/>
          </a:prstGeom>
          <a:noFill/>
          <a:ln/>
        </p:spPr>
        <p:txBody>
          <a:bodyPr wrap="square" lIns="0" tIns="0" rIns="0" bIns="0" rtlCol="0" anchor="t">
            <a:normAutofit/>
          </a:bodyPr>
          <a:lstStyle/>
          <a:p>
            <a:pPr algn="l" indent="0" marL="0">
              <a:buNone/>
            </a:pPr>
            <a:r>
              <a:rPr lang="en-US" sz="1200" b="1" dirty="0">
                <a:solidFill>
                  <a:srgbClr val="344258"/>
                </a:solidFill>
                <a:latin typeface="Aptos" pitchFamily="34" charset="0"/>
                <a:ea typeface="Aptos" pitchFamily="34" charset="-122"/>
                <a:cs typeface="Aptos" pitchFamily="34" charset="-120"/>
              </a:rPr>
              <a:t>decision</a:t>
            </a:r>
            <a:endParaRPr lang="en-US" sz="1200" dirty="0"/>
          </a:p>
          <a:p>
            <a:pPr algn="l" indent="0" marL="0">
              <a:buNone/>
            </a:pPr>
            <a:r>
              <a:rPr lang="en-US" sz="1200" b="1" dirty="0">
                <a:solidFill>
                  <a:srgbClr val="344258"/>
                </a:solidFill>
                <a:latin typeface="Aptos" pitchFamily="34" charset="0"/>
                <a:ea typeface="Aptos" pitchFamily="34" charset="-122"/>
                <a:cs typeface="Aptos" pitchFamily="34" charset="-120"/>
              </a:rPr>
              <a:t>north star</a:t>
            </a:r>
            <a:endParaRPr lang="en-US" sz="1200" dirty="0"/>
          </a:p>
        </p:txBody>
      </p:sp>
      <p:sp>
        <p:nvSpPr>
          <p:cNvPr id="17" name="Shape 15"/>
          <p:cNvSpPr/>
          <p:nvPr/>
        </p:nvSpPr>
        <p:spPr>
          <a:xfrm>
            <a:off x="701040" y="4907280"/>
            <a:ext cx="91440" cy="91440"/>
          </a:xfrm>
          <a:prstGeom prst="ellipse">
            <a:avLst/>
          </a:prstGeom>
          <a:solidFill>
            <a:srgbClr val="2F8B72"/>
          </a:solidFill>
          <a:ln w="12700">
            <a:solidFill>
              <a:srgbClr val="333333">
                <a:alpha val="0"/>
              </a:srgbClr>
            </a:solidFill>
            <a:prstDash val="solid"/>
          </a:ln>
        </p:spPr>
      </p:sp>
      <p:sp>
        <p:nvSpPr>
          <p:cNvPr id="18" name="Text 16"/>
          <p:cNvSpPr txBox="1"/>
          <p:nvPr/>
        </p:nvSpPr>
        <p:spPr>
          <a:xfrm>
            <a:off x="891540" y="4815840"/>
            <a:ext cx="2133600" cy="228600"/>
          </a:xfrm>
          <a:prstGeom prst="rect">
            <a:avLst/>
          </a:prstGeom>
          <a:noFill/>
          <a:ln/>
        </p:spPr>
        <p:txBody>
          <a:bodyPr wrap="square" lIns="0" tIns="0" rIns="0" bIns="0" rtlCol="0" anchor="ctr">
            <a:normAutofit/>
          </a:bodyPr>
          <a:lstStyle/>
          <a:p>
            <a:pPr algn="l" indent="0" marL="0">
              <a:buNone/>
            </a:pPr>
            <a:r>
              <a:rPr lang="en-US" sz="960" b="1" dirty="0">
                <a:solidFill>
                  <a:srgbClr val="172337"/>
                </a:solidFill>
                <a:latin typeface="Aptos" pitchFamily="34" charset="0"/>
                <a:ea typeface="Aptos" pitchFamily="34" charset="-122"/>
                <a:cs typeface="Aptos" pitchFamily="34" charset="-120"/>
              </a:rPr>
              <a:t>Autonomous discovery</a:t>
            </a:r>
            <a:endParaRPr lang="en-US" sz="960" dirty="0"/>
          </a:p>
        </p:txBody>
      </p:sp>
      <p:sp>
        <p:nvSpPr>
          <p:cNvPr id="19" name="Text 17"/>
          <p:cNvSpPr txBox="1"/>
          <p:nvPr/>
        </p:nvSpPr>
        <p:spPr>
          <a:xfrm>
            <a:off x="891540" y="5090160"/>
            <a:ext cx="2286000" cy="228600"/>
          </a:xfrm>
          <a:prstGeom prst="rect">
            <a:avLst/>
          </a:prstGeom>
          <a:noFill/>
          <a:ln/>
        </p:spPr>
        <p:txBody>
          <a:bodyPr wrap="square" lIns="0" tIns="0" rIns="0" bIns="0" rtlCol="0" anchor="ctr">
            <a:normAutofit/>
          </a:bodyPr>
          <a:lstStyle/>
          <a:p>
            <a:pPr algn="l" indent="0" marL="0">
              <a:buNone/>
            </a:pPr>
            <a:r>
              <a:rPr lang="en-US" sz="780" dirty="0">
                <a:solidFill>
                  <a:srgbClr val="718097"/>
                </a:solidFill>
                <a:latin typeface="Aptos" pitchFamily="34" charset="0"/>
                <a:ea typeface="Aptos" pitchFamily="34" charset="-122"/>
                <a:cs typeface="Aptos" pitchFamily="34" charset="-120"/>
              </a:rPr>
              <a:t>Signals before fundraising</a:t>
            </a:r>
            <a:endParaRPr lang="en-US" sz="780" dirty="0"/>
          </a:p>
        </p:txBody>
      </p:sp>
      <p:sp>
        <p:nvSpPr>
          <p:cNvPr id="20" name="Shape 18"/>
          <p:cNvSpPr/>
          <p:nvPr/>
        </p:nvSpPr>
        <p:spPr>
          <a:xfrm>
            <a:off x="3520440" y="4907280"/>
            <a:ext cx="91440" cy="91440"/>
          </a:xfrm>
          <a:prstGeom prst="ellipse">
            <a:avLst/>
          </a:prstGeom>
          <a:solidFill>
            <a:srgbClr val="2F8B72"/>
          </a:solidFill>
          <a:ln w="12700">
            <a:solidFill>
              <a:srgbClr val="333333">
                <a:alpha val="0"/>
              </a:srgbClr>
            </a:solidFill>
            <a:prstDash val="solid"/>
          </a:ln>
        </p:spPr>
      </p:sp>
      <p:sp>
        <p:nvSpPr>
          <p:cNvPr id="21" name="Text 19"/>
          <p:cNvSpPr txBox="1"/>
          <p:nvPr/>
        </p:nvSpPr>
        <p:spPr>
          <a:xfrm>
            <a:off x="3710940" y="4815840"/>
            <a:ext cx="2133600" cy="228600"/>
          </a:xfrm>
          <a:prstGeom prst="rect">
            <a:avLst/>
          </a:prstGeom>
          <a:noFill/>
          <a:ln/>
        </p:spPr>
        <p:txBody>
          <a:bodyPr wrap="square" lIns="0" tIns="0" rIns="0" bIns="0" rtlCol="0" anchor="ctr">
            <a:normAutofit/>
          </a:bodyPr>
          <a:lstStyle/>
          <a:p>
            <a:pPr algn="l" indent="0" marL="0">
              <a:buNone/>
            </a:pPr>
            <a:r>
              <a:rPr lang="en-US" sz="960" b="1" dirty="0">
                <a:solidFill>
                  <a:srgbClr val="172337"/>
                </a:solidFill>
                <a:latin typeface="Aptos" pitchFamily="34" charset="0"/>
                <a:ea typeface="Aptos" pitchFamily="34" charset="-122"/>
                <a:cs typeface="Aptos" pitchFamily="34" charset="-120"/>
              </a:rPr>
              <a:t>Explainable scoring</a:t>
            </a:r>
            <a:endParaRPr lang="en-US" sz="960" dirty="0"/>
          </a:p>
        </p:txBody>
      </p:sp>
      <p:sp>
        <p:nvSpPr>
          <p:cNvPr id="22" name="Text 20"/>
          <p:cNvSpPr txBox="1"/>
          <p:nvPr/>
        </p:nvSpPr>
        <p:spPr>
          <a:xfrm>
            <a:off x="3710940" y="5090160"/>
            <a:ext cx="2286000" cy="228600"/>
          </a:xfrm>
          <a:prstGeom prst="rect">
            <a:avLst/>
          </a:prstGeom>
          <a:noFill/>
          <a:ln/>
        </p:spPr>
        <p:txBody>
          <a:bodyPr wrap="square" lIns="0" tIns="0" rIns="0" bIns="0" rtlCol="0" anchor="ctr">
            <a:normAutofit/>
          </a:bodyPr>
          <a:lstStyle/>
          <a:p>
            <a:pPr algn="l" indent="0" marL="0">
              <a:buNone/>
            </a:pPr>
            <a:r>
              <a:rPr lang="en-US" sz="780" dirty="0">
                <a:solidFill>
                  <a:srgbClr val="718097"/>
                </a:solidFill>
                <a:latin typeface="Aptos" pitchFamily="34" charset="0"/>
                <a:ea typeface="Aptos" pitchFamily="34" charset="-122"/>
                <a:cs typeface="Aptos" pitchFamily="34" charset="-120"/>
              </a:rPr>
              <a:t>Per-claim provenance + confidence</a:t>
            </a:r>
            <a:endParaRPr lang="en-US" sz="780" dirty="0"/>
          </a:p>
        </p:txBody>
      </p:sp>
      <p:sp>
        <p:nvSpPr>
          <p:cNvPr id="23" name="Shape 21"/>
          <p:cNvSpPr/>
          <p:nvPr/>
        </p:nvSpPr>
        <p:spPr>
          <a:xfrm>
            <a:off x="6339840" y="4907280"/>
            <a:ext cx="91440" cy="91440"/>
          </a:xfrm>
          <a:prstGeom prst="ellipse">
            <a:avLst/>
          </a:prstGeom>
          <a:solidFill>
            <a:srgbClr val="2F8B72"/>
          </a:solidFill>
          <a:ln w="12700">
            <a:solidFill>
              <a:srgbClr val="333333">
                <a:alpha val="0"/>
              </a:srgbClr>
            </a:solidFill>
            <a:prstDash val="solid"/>
          </a:ln>
        </p:spPr>
      </p:sp>
      <p:sp>
        <p:nvSpPr>
          <p:cNvPr id="24" name="Text 22"/>
          <p:cNvSpPr txBox="1"/>
          <p:nvPr/>
        </p:nvSpPr>
        <p:spPr>
          <a:xfrm>
            <a:off x="6530340" y="4815840"/>
            <a:ext cx="2133600" cy="228600"/>
          </a:xfrm>
          <a:prstGeom prst="rect">
            <a:avLst/>
          </a:prstGeom>
          <a:noFill/>
          <a:ln/>
        </p:spPr>
        <p:txBody>
          <a:bodyPr wrap="square" lIns="0" tIns="0" rIns="0" bIns="0" rtlCol="0" anchor="ctr">
            <a:normAutofit/>
          </a:bodyPr>
          <a:lstStyle/>
          <a:p>
            <a:pPr algn="l" indent="0" marL="0">
              <a:buNone/>
            </a:pPr>
            <a:r>
              <a:rPr lang="en-US" sz="960" b="1" dirty="0">
                <a:solidFill>
                  <a:srgbClr val="172337"/>
                </a:solidFill>
                <a:latin typeface="Aptos" pitchFamily="34" charset="0"/>
                <a:ea typeface="Aptos" pitchFamily="34" charset="-122"/>
                <a:cs typeface="Aptos" pitchFamily="34" charset="-120"/>
              </a:rPr>
              <a:t>Actionable output</a:t>
            </a:r>
            <a:endParaRPr lang="en-US" sz="960" dirty="0"/>
          </a:p>
        </p:txBody>
      </p:sp>
      <p:sp>
        <p:nvSpPr>
          <p:cNvPr id="25" name="Text 23"/>
          <p:cNvSpPr txBox="1"/>
          <p:nvPr/>
        </p:nvSpPr>
        <p:spPr>
          <a:xfrm>
            <a:off x="6530340" y="5090160"/>
            <a:ext cx="2286000" cy="228600"/>
          </a:xfrm>
          <a:prstGeom prst="rect">
            <a:avLst/>
          </a:prstGeom>
          <a:noFill/>
          <a:ln/>
        </p:spPr>
        <p:txBody>
          <a:bodyPr wrap="square" lIns="0" tIns="0" rIns="0" bIns="0" rtlCol="0" anchor="ctr">
            <a:normAutofit/>
          </a:bodyPr>
          <a:lstStyle/>
          <a:p>
            <a:pPr algn="l" indent="0" marL="0">
              <a:buNone/>
            </a:pPr>
            <a:r>
              <a:rPr lang="en-US" sz="780" dirty="0">
                <a:solidFill>
                  <a:srgbClr val="718097"/>
                </a:solidFill>
                <a:latin typeface="Aptos" pitchFamily="34" charset="0"/>
                <a:ea typeface="Aptos" pitchFamily="34" charset="-122"/>
                <a:cs typeface="Aptos" pitchFamily="34" charset="-120"/>
              </a:rPr>
              <a:t>Memo + next step + human approval</a:t>
            </a:r>
            <a:endParaRPr lang="en-US" sz="780" dirty="0"/>
          </a:p>
        </p:txBody>
      </p:sp>
      <p:sp>
        <p:nvSpPr>
          <p:cNvPr id="26" name="Shape 24"/>
          <p:cNvSpPr/>
          <p:nvPr/>
        </p:nvSpPr>
        <p:spPr>
          <a:xfrm>
            <a:off x="9159240" y="4907280"/>
            <a:ext cx="91440" cy="91440"/>
          </a:xfrm>
          <a:prstGeom prst="ellipse">
            <a:avLst/>
          </a:prstGeom>
          <a:solidFill>
            <a:srgbClr val="2F8B72"/>
          </a:solidFill>
          <a:ln w="12700">
            <a:solidFill>
              <a:srgbClr val="333333">
                <a:alpha val="0"/>
              </a:srgbClr>
            </a:solidFill>
            <a:prstDash val="solid"/>
          </a:ln>
        </p:spPr>
      </p:sp>
      <p:sp>
        <p:nvSpPr>
          <p:cNvPr id="27" name="Text 25"/>
          <p:cNvSpPr txBox="1"/>
          <p:nvPr/>
        </p:nvSpPr>
        <p:spPr>
          <a:xfrm>
            <a:off x="9349740" y="4815840"/>
            <a:ext cx="2133600" cy="228600"/>
          </a:xfrm>
          <a:prstGeom prst="rect">
            <a:avLst/>
          </a:prstGeom>
          <a:noFill/>
          <a:ln/>
        </p:spPr>
        <p:txBody>
          <a:bodyPr wrap="square" lIns="0" tIns="0" rIns="0" bIns="0" rtlCol="0" anchor="ctr">
            <a:normAutofit/>
          </a:bodyPr>
          <a:lstStyle/>
          <a:p>
            <a:pPr algn="l" indent="0" marL="0">
              <a:buNone/>
            </a:pPr>
            <a:r>
              <a:rPr lang="en-US" sz="960" b="1" dirty="0">
                <a:solidFill>
                  <a:srgbClr val="172337"/>
                </a:solidFill>
                <a:latin typeface="Aptos" pitchFamily="34" charset="0"/>
                <a:ea typeface="Aptos" pitchFamily="34" charset="-122"/>
                <a:cs typeface="Aptos" pitchFamily="34" charset="-120"/>
              </a:rPr>
              <a:t>Learning memory</a:t>
            </a:r>
            <a:endParaRPr lang="en-US" sz="960" dirty="0"/>
          </a:p>
        </p:txBody>
      </p:sp>
      <p:sp>
        <p:nvSpPr>
          <p:cNvPr id="28" name="Text 26"/>
          <p:cNvSpPr txBox="1"/>
          <p:nvPr/>
        </p:nvSpPr>
        <p:spPr>
          <a:xfrm>
            <a:off x="9349740" y="5090160"/>
            <a:ext cx="2286000" cy="228600"/>
          </a:xfrm>
          <a:prstGeom prst="rect">
            <a:avLst/>
          </a:prstGeom>
          <a:noFill/>
          <a:ln/>
        </p:spPr>
        <p:txBody>
          <a:bodyPr wrap="square" lIns="0" tIns="0" rIns="0" bIns="0" rtlCol="0" anchor="ctr">
            <a:normAutofit/>
          </a:bodyPr>
          <a:lstStyle/>
          <a:p>
            <a:pPr algn="l" indent="0" marL="0">
              <a:buNone/>
            </a:pPr>
            <a:r>
              <a:rPr lang="en-US" sz="780" dirty="0">
                <a:solidFill>
                  <a:srgbClr val="718097"/>
                </a:solidFill>
                <a:latin typeface="Aptos" pitchFamily="34" charset="0"/>
                <a:ea typeface="Aptos" pitchFamily="34" charset="-122"/>
                <a:cs typeface="Aptos" pitchFamily="34" charset="-120"/>
              </a:rPr>
              <a:t>Every outcome sharpens future scoring</a:t>
            </a:r>
            <a:endParaRPr lang="en-US" sz="780" dirty="0"/>
          </a:p>
        </p:txBody>
      </p:sp>
      <p:sp>
        <p:nvSpPr>
          <p:cNvPr id="29" name="Shape 27"/>
          <p:cNvSpPr/>
          <p:nvPr/>
        </p:nvSpPr>
        <p:spPr>
          <a:xfrm>
            <a:off x="3695700" y="5791200"/>
            <a:ext cx="4800600" cy="266700"/>
          </a:xfrm>
          <a:prstGeom prst="roundRect">
            <a:avLst>
              <a:gd name="adj" fmla="val 54857"/>
            </a:avLst>
          </a:prstGeom>
          <a:solidFill>
            <a:srgbClr val="E7EEF9"/>
          </a:solidFill>
          <a:ln w="6350">
            <a:solidFill>
              <a:srgbClr val="E7EEF9">
                <a:alpha val="0"/>
              </a:srgbClr>
            </a:solidFill>
            <a:prstDash val="solid"/>
          </a:ln>
        </p:spPr>
      </p:sp>
      <p:sp>
        <p:nvSpPr>
          <p:cNvPr id="30" name="Text 28"/>
          <p:cNvSpPr txBox="1"/>
          <p:nvPr/>
        </p:nvSpPr>
        <p:spPr>
          <a:xfrm>
            <a:off x="3771900" y="5814060"/>
            <a:ext cx="4648200" cy="220980"/>
          </a:xfrm>
          <a:prstGeom prst="rect">
            <a:avLst/>
          </a:prstGeom>
          <a:noFill/>
          <a:ln/>
        </p:spPr>
        <p:txBody>
          <a:bodyPr wrap="square" lIns="0" tIns="0" rIns="0" bIns="0" rtlCol="0" anchor="ctr">
            <a:normAutofit/>
          </a:bodyPr>
          <a:lstStyle/>
          <a:p>
            <a:pPr algn="ctr" indent="0" marL="0">
              <a:buNone/>
            </a:pPr>
            <a:r>
              <a:rPr lang="en-US" sz="660" b="1" spc="30" kern="0" dirty="0">
                <a:solidFill>
                  <a:srgbClr val="557DC0"/>
                </a:solidFill>
                <a:latin typeface="Aptos" pitchFamily="34" charset="0"/>
                <a:ea typeface="Aptos" pitchFamily="34" charset="-122"/>
                <a:cs typeface="Aptos" pitchFamily="34" charset="-120"/>
              </a:rPr>
              <a:t>SOURCING → SCREENING → DILIGENCE → DECISION</a:t>
            </a:r>
            <a:endParaRPr lang="en-US" sz="660" dirty="0"/>
          </a:p>
        </p:txBody>
      </p:sp>
      <p:sp>
        <p:nvSpPr>
          <p:cNvPr id="31" name="Text 29"/>
          <p:cNvSpPr/>
          <p:nvPr/>
        </p:nvSpPr>
        <p:spPr>
          <a:xfrm>
            <a:off x="685800" y="6210300"/>
            <a:ext cx="1371600" cy="243840"/>
          </a:xfrm>
          <a:prstGeom prst="rect">
            <a:avLst/>
          </a:prstGeom>
          <a:noFill/>
          <a:ln/>
        </p:spPr>
        <p:txBody>
          <a:bodyPr wrap="square" lIns="0" tIns="0" rIns="0" bIns="0" rtlCol="0" anchor="ctr">
            <a:normAutofit/>
          </a:bodyPr>
          <a:lstStyle/>
          <a:p>
            <a:pPr indent="0" marL="0">
              <a:buNone/>
            </a:pPr>
            <a:r>
              <a:rPr lang="en-US" sz="1400" b="1" dirty="0">
                <a:solidFill>
                  <a:srgbClr val="172337"/>
                </a:solidFill>
                <a:latin typeface="Aptos Display" pitchFamily="34" charset="0"/>
                <a:ea typeface="Aptos Display" pitchFamily="34" charset="-122"/>
                <a:cs typeface="Aptos Display" pitchFamily="34" charset="-120"/>
              </a:rPr>
              <a:t>FirstCheck</a:t>
            </a:r>
            <a:pPr indent="0" marL="0">
              <a:buNone/>
            </a:pPr>
            <a:r>
              <a:rPr lang="en-US" sz="1200" b="1" dirty="0">
                <a:solidFill>
                  <a:srgbClr val="557DC0"/>
                </a:solidFill>
                <a:latin typeface="Aptos Display" pitchFamily="34" charset="0"/>
                <a:ea typeface="Aptos Display" pitchFamily="34" charset="-122"/>
                <a:cs typeface="Aptos Display" pitchFamily="34" charset="-120"/>
              </a:rPr>
              <a:t>24</a:t>
            </a:r>
            <a:endParaRPr lang="en-US" sz="1400" dirty="0"/>
          </a:p>
        </p:txBody>
      </p:sp>
      <p:sp>
        <p:nvSpPr>
          <p:cNvPr id="32" name="Text 30"/>
          <p:cNvSpPr txBox="1"/>
          <p:nvPr/>
        </p:nvSpPr>
        <p:spPr>
          <a:xfrm>
            <a:off x="11125200" y="6248400"/>
            <a:ext cx="381000" cy="152400"/>
          </a:xfrm>
          <a:prstGeom prst="rect">
            <a:avLst/>
          </a:prstGeom>
          <a:noFill/>
          <a:ln/>
        </p:spPr>
        <p:txBody>
          <a:bodyPr wrap="square" lIns="0" tIns="0" rIns="0" bIns="0" rtlCol="0" anchor="ctr">
            <a:normAutofit/>
          </a:bodyPr>
          <a:lstStyle/>
          <a:p>
            <a:pPr algn="r" indent="0" marL="0">
              <a:buNone/>
            </a:pPr>
            <a:r>
              <a:rPr lang="en-US" sz="780" b="1" spc="200" kern="0" dirty="0">
                <a:solidFill>
                  <a:srgbClr val="94A3B8"/>
                </a:solidFill>
                <a:latin typeface="Aptos" pitchFamily="34" charset="0"/>
                <a:ea typeface="Aptos" pitchFamily="34" charset="-122"/>
                <a:cs typeface="Aptos" pitchFamily="34" charset="-120"/>
              </a:rPr>
              <a:t>09</a:t>
            </a:r>
            <a:endParaRPr lang="en-US" sz="78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72337"/>
        </a:solidFill>
      </p:bgPr>
    </p:bg>
    <p:spTree>
      <p:nvGrpSpPr>
        <p:cNvPr id="1" name=""/>
        <p:cNvGrpSpPr/>
        <p:nvPr/>
      </p:nvGrpSpPr>
      <p:grpSpPr>
        <a:xfrm>
          <a:off x="0" y="0"/>
          <a:ext cx="0" cy="0"/>
          <a:chOff x="0" y="0"/>
          <a:chExt cx="0" cy="0"/>
        </a:xfrm>
      </p:grpSpPr>
      <p:sp>
        <p:nvSpPr>
          <p:cNvPr id="2" name="Shape 0"/>
          <p:cNvSpPr/>
          <p:nvPr/>
        </p:nvSpPr>
        <p:spPr>
          <a:xfrm>
            <a:off x="6781800" y="-1752600"/>
            <a:ext cx="5791200" cy="5791200"/>
          </a:xfrm>
          <a:prstGeom prst="ellipse">
            <a:avLst/>
          </a:prstGeom>
          <a:solidFill>
            <a:srgbClr val="557DC0">
              <a:alpha val="14000"/>
            </a:srgbClr>
          </a:solidFill>
          <a:ln w="12700">
            <a:solidFill>
              <a:srgbClr val="333333">
                <a:alpha val="0"/>
              </a:srgbClr>
            </a:solidFill>
            <a:prstDash val="solid"/>
          </a:ln>
        </p:spPr>
      </p:sp>
      <p:sp>
        <p:nvSpPr>
          <p:cNvPr id="3" name="Shape 1"/>
          <p:cNvSpPr/>
          <p:nvPr/>
        </p:nvSpPr>
        <p:spPr>
          <a:xfrm>
            <a:off x="-533400" y="4038600"/>
            <a:ext cx="4724400" cy="4724400"/>
          </a:xfrm>
          <a:prstGeom prst="ellipse">
            <a:avLst/>
          </a:prstGeom>
          <a:solidFill>
            <a:srgbClr val="2F8B72">
              <a:alpha val="14000"/>
            </a:srgbClr>
          </a:solidFill>
          <a:ln w="12700">
            <a:solidFill>
              <a:srgbClr val="333333">
                <a:alpha val="0"/>
              </a:srgbClr>
            </a:solidFill>
            <a:prstDash val="solid"/>
          </a:ln>
        </p:spPr>
      </p:sp>
      <p:sp>
        <p:nvSpPr>
          <p:cNvPr id="4" name="Text 2"/>
          <p:cNvSpPr/>
          <p:nvPr/>
        </p:nvSpPr>
        <p:spPr>
          <a:xfrm>
            <a:off x="685800" y="472440"/>
            <a:ext cx="1371600" cy="243840"/>
          </a:xfrm>
          <a:prstGeom prst="rect">
            <a:avLst/>
          </a:prstGeom>
          <a:noFill/>
          <a:ln/>
        </p:spPr>
        <p:txBody>
          <a:bodyPr wrap="square" lIns="0" tIns="0" rIns="0" bIns="0" rtlCol="0" anchor="ctr">
            <a:normAutofit/>
          </a:bodyPr>
          <a:lstStyle/>
          <a:p>
            <a:pPr indent="0" marL="0">
              <a:buNone/>
            </a:pPr>
            <a:r>
              <a:rPr lang="en-US" sz="1400" b="1" dirty="0">
                <a:solidFill>
                  <a:srgbClr val="FFFFFF"/>
                </a:solidFill>
                <a:latin typeface="Aptos Display" pitchFamily="34" charset="0"/>
                <a:ea typeface="Aptos Display" pitchFamily="34" charset="-122"/>
                <a:cs typeface="Aptos Display" pitchFamily="34" charset="-120"/>
              </a:rPr>
              <a:t>FirstCheck</a:t>
            </a:r>
            <a:pPr indent="0" marL="0">
              <a:buNone/>
            </a:pPr>
            <a:r>
              <a:rPr lang="en-US" sz="1200" b="1" dirty="0">
                <a:solidFill>
                  <a:srgbClr val="AFC8F6"/>
                </a:solidFill>
                <a:latin typeface="Aptos Display" pitchFamily="34" charset="0"/>
                <a:ea typeface="Aptos Display" pitchFamily="34" charset="-122"/>
                <a:cs typeface="Aptos Display" pitchFamily="34" charset="-120"/>
              </a:rPr>
              <a:t>24</a:t>
            </a:r>
            <a:endParaRPr lang="en-US" sz="1400" dirty="0"/>
          </a:p>
        </p:txBody>
      </p:sp>
      <p:sp>
        <p:nvSpPr>
          <p:cNvPr id="5" name="Text 3"/>
          <p:cNvSpPr txBox="1"/>
          <p:nvPr/>
        </p:nvSpPr>
        <p:spPr>
          <a:xfrm>
            <a:off x="685800" y="1562100"/>
            <a:ext cx="2514600" cy="228600"/>
          </a:xfrm>
          <a:prstGeom prst="rect">
            <a:avLst/>
          </a:prstGeom>
          <a:noFill/>
          <a:ln/>
        </p:spPr>
        <p:txBody>
          <a:bodyPr wrap="square" lIns="0" tIns="0" rIns="0" bIns="0" rtlCol="0" anchor="ctr">
            <a:normAutofit/>
          </a:bodyPr>
          <a:lstStyle/>
          <a:p>
            <a:pPr algn="l" indent="0" marL="0">
              <a:buNone/>
            </a:pPr>
            <a:r>
              <a:rPr lang="en-US" sz="900" b="1" spc="300" kern="0" dirty="0">
                <a:solidFill>
                  <a:srgbClr val="AFC8F6"/>
                </a:solidFill>
                <a:latin typeface="Aptos" pitchFamily="34" charset="0"/>
                <a:ea typeface="Aptos" pitchFamily="34" charset="-122"/>
                <a:cs typeface="Aptos" pitchFamily="34" charset="-120"/>
              </a:rPr>
              <a:t>THE OUTCOME</a:t>
            </a:r>
            <a:endParaRPr lang="en-US" sz="900" dirty="0"/>
          </a:p>
        </p:txBody>
      </p:sp>
      <p:sp>
        <p:nvSpPr>
          <p:cNvPr id="6" name="Text 4"/>
          <p:cNvSpPr txBox="1"/>
          <p:nvPr/>
        </p:nvSpPr>
        <p:spPr>
          <a:xfrm>
            <a:off x="685800" y="1981200"/>
            <a:ext cx="6858000" cy="1752600"/>
          </a:xfrm>
          <a:prstGeom prst="rect">
            <a:avLst/>
          </a:prstGeom>
          <a:noFill/>
          <a:ln/>
        </p:spPr>
        <p:txBody>
          <a:bodyPr wrap="square" lIns="0" tIns="0" rIns="0" bIns="0" rtlCol="0" anchor="t">
            <a:normAutofit/>
          </a:bodyPr>
          <a:lstStyle/>
          <a:p>
            <a:pPr algn="l" indent="0" marL="0">
              <a:buNone/>
            </a:pPr>
            <a:r>
              <a:rPr lang="en-US" sz="3840" b="1" dirty="0">
                <a:solidFill>
                  <a:srgbClr val="FFFFFF"/>
                </a:solidFill>
                <a:latin typeface="Aptos Display" pitchFamily="34" charset="0"/>
                <a:ea typeface="Aptos Display" pitchFamily="34" charset="-122"/>
                <a:cs typeface="Aptos Display" pitchFamily="34" charset="-120"/>
              </a:rPr>
              <a:t>Find first.</a:t>
            </a:r>
            <a:endParaRPr lang="en-US" sz="3840" dirty="0"/>
          </a:p>
          <a:p>
            <a:pPr algn="l" indent="0" marL="0">
              <a:buNone/>
            </a:pPr>
            <a:r>
              <a:rPr lang="en-US" sz="3840" b="1" dirty="0">
                <a:solidFill>
                  <a:srgbClr val="FFFFFF"/>
                </a:solidFill>
                <a:latin typeface="Aptos Display" pitchFamily="34" charset="0"/>
                <a:ea typeface="Aptos Display" pitchFamily="34" charset="-122"/>
                <a:cs typeface="Aptos Display" pitchFamily="34" charset="-120"/>
              </a:rPr>
              <a:t>Explain everything.</a:t>
            </a:r>
            <a:endParaRPr lang="en-US" sz="3840" dirty="0"/>
          </a:p>
          <a:p>
            <a:pPr algn="l" indent="0" marL="0">
              <a:buNone/>
            </a:pPr>
            <a:r>
              <a:rPr lang="en-US" sz="3840" b="1" dirty="0">
                <a:solidFill>
                  <a:srgbClr val="FFFFFF"/>
                </a:solidFill>
                <a:latin typeface="Aptos Display" pitchFamily="34" charset="0"/>
                <a:ea typeface="Aptos Display" pitchFamily="34" charset="-122"/>
                <a:cs typeface="Aptos Display" pitchFamily="34" charset="-120"/>
              </a:rPr>
              <a:t>Decide in 24h.</a:t>
            </a:r>
            <a:endParaRPr lang="en-US" sz="3840" dirty="0"/>
          </a:p>
        </p:txBody>
      </p:sp>
      <p:sp>
        <p:nvSpPr>
          <p:cNvPr id="7" name="Text 5"/>
          <p:cNvSpPr txBox="1"/>
          <p:nvPr/>
        </p:nvSpPr>
        <p:spPr>
          <a:xfrm>
            <a:off x="723900" y="4457700"/>
            <a:ext cx="5791200" cy="609600"/>
          </a:xfrm>
          <a:prstGeom prst="rect">
            <a:avLst/>
          </a:prstGeom>
          <a:noFill/>
          <a:ln/>
        </p:spPr>
        <p:txBody>
          <a:bodyPr wrap="square" lIns="0" tIns="0" rIns="0" bIns="0" rtlCol="0" anchor="t">
            <a:normAutofit/>
          </a:bodyPr>
          <a:lstStyle/>
          <a:p>
            <a:pPr algn="l" indent="0" marL="0">
              <a:buNone/>
            </a:pPr>
            <a:r>
              <a:rPr lang="en-US" sz="1380" dirty="0">
                <a:solidFill>
                  <a:srgbClr val="CFDAEA"/>
                </a:solidFill>
                <a:latin typeface="Aptos" pitchFamily="34" charset="0"/>
                <a:ea typeface="Aptos" pitchFamily="34" charset="-122"/>
                <a:cs typeface="Aptos" pitchFamily="34" charset="-120"/>
              </a:rPr>
              <a:t>From a fragmented public signal to an evidence-backed</a:t>
            </a:r>
            <a:endParaRPr lang="en-US" sz="1380" dirty="0"/>
          </a:p>
          <a:p>
            <a:pPr algn="l" indent="0" marL="0">
              <a:buNone/>
            </a:pPr>
            <a:r>
              <a:rPr lang="en-US" sz="1380" dirty="0">
                <a:solidFill>
                  <a:srgbClr val="CFDAEA"/>
                </a:solidFill>
                <a:latin typeface="Aptos" pitchFamily="34" charset="0"/>
                <a:ea typeface="Aptos" pitchFamily="34" charset="-122"/>
                <a:cs typeface="Aptos" pitchFamily="34" charset="-120"/>
              </a:rPr>
              <a:t>$100K decision — with one human in control.</a:t>
            </a:r>
            <a:endParaRPr lang="en-US" sz="1380" dirty="0"/>
          </a:p>
        </p:txBody>
      </p:sp>
      <p:sp>
        <p:nvSpPr>
          <p:cNvPr id="8" name="Shape 6"/>
          <p:cNvSpPr/>
          <p:nvPr/>
        </p:nvSpPr>
        <p:spPr>
          <a:xfrm>
            <a:off x="723900" y="5486400"/>
            <a:ext cx="1981200" cy="266700"/>
          </a:xfrm>
          <a:prstGeom prst="roundRect">
            <a:avLst>
              <a:gd name="adj" fmla="val 54857"/>
            </a:avLst>
          </a:prstGeom>
          <a:solidFill>
            <a:srgbClr val="263A55"/>
          </a:solidFill>
          <a:ln w="6350">
            <a:solidFill>
              <a:srgbClr val="263A55">
                <a:alpha val="0"/>
              </a:srgbClr>
            </a:solidFill>
            <a:prstDash val="solid"/>
          </a:ln>
        </p:spPr>
      </p:sp>
      <p:sp>
        <p:nvSpPr>
          <p:cNvPr id="9" name="Text 7"/>
          <p:cNvSpPr txBox="1"/>
          <p:nvPr/>
        </p:nvSpPr>
        <p:spPr>
          <a:xfrm>
            <a:off x="800100" y="5509260"/>
            <a:ext cx="1828800" cy="220980"/>
          </a:xfrm>
          <a:prstGeom prst="rect">
            <a:avLst/>
          </a:prstGeom>
          <a:noFill/>
          <a:ln/>
        </p:spPr>
        <p:txBody>
          <a:bodyPr wrap="square" lIns="0" tIns="0" rIns="0" bIns="0" rtlCol="0" anchor="ctr">
            <a:normAutofit/>
          </a:bodyPr>
          <a:lstStyle/>
          <a:p>
            <a:pPr algn="ctr" indent="0" marL="0">
              <a:buNone/>
            </a:pPr>
            <a:r>
              <a:rPr lang="en-US" sz="660" b="1" spc="30" kern="0" dirty="0">
                <a:solidFill>
                  <a:srgbClr val="DCE8F8"/>
                </a:solidFill>
                <a:latin typeface="Aptos" pitchFamily="34" charset="0"/>
                <a:ea typeface="Aptos" pitchFamily="34" charset="-122"/>
                <a:cs typeface="Aptos" pitchFamily="34" charset="-120"/>
              </a:rPr>
              <a:t>FIRSTCHECK24</a:t>
            </a:r>
            <a:endParaRPr lang="en-US" sz="660" dirty="0"/>
          </a:p>
        </p:txBody>
      </p:sp>
      <p:sp>
        <p:nvSpPr>
          <p:cNvPr id="10" name="Text 8"/>
          <p:cNvSpPr txBox="1"/>
          <p:nvPr/>
        </p:nvSpPr>
        <p:spPr>
          <a:xfrm>
            <a:off x="6705600" y="5753100"/>
            <a:ext cx="4724400" cy="259080"/>
          </a:xfrm>
          <a:prstGeom prst="rect">
            <a:avLst/>
          </a:prstGeom>
          <a:noFill/>
          <a:ln/>
        </p:spPr>
        <p:txBody>
          <a:bodyPr wrap="square" lIns="0" tIns="0" rIns="0" bIns="0" rtlCol="0" anchor="ctr">
            <a:normAutofit/>
          </a:bodyPr>
          <a:lstStyle/>
          <a:p>
            <a:pPr algn="r" indent="0" marL="0">
              <a:buNone/>
            </a:pPr>
            <a:r>
              <a:rPr lang="en-US" sz="1080" b="1" dirty="0">
                <a:solidFill>
                  <a:srgbClr val="AFC0D8"/>
                </a:solidFill>
                <a:latin typeface="Aptos" pitchFamily="34" charset="0"/>
                <a:ea typeface="Aptos" pitchFamily="34" charset="-122"/>
                <a:cs typeface="Aptos" pitchFamily="34" charset="-120"/>
              </a:rPr>
              <a:t>Autonomous discovery. Explainable decisions.</a:t>
            </a:r>
            <a:endParaRPr lang="en-US" sz="10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FirstCheck24</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FirstCheck24 Hackathon Pitch — Editable</dc:title>
  <dc:subject>Evidence-backed founder intelligence</dc:subject>
  <dc:creator>FirstCheck24</dc:creator>
  <cp:lastModifiedBy>FirstCheck24</cp:lastModifiedBy>
  <cp:revision>1</cp:revision>
  <dcterms:created xsi:type="dcterms:W3CDTF">2026-07-19T12:18:55Z</dcterms:created>
  <dcterms:modified xsi:type="dcterms:W3CDTF">2026-07-19T12:18:55Z</dcterms:modified>
</cp:coreProperties>
</file>