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founders often leave meaningful signals long before they raise a round, but traditional VC teams usually find them only after fundraising begins. FirstCheck24 finds these founders earlier and makes every investment judgment evidence-backed, explainable, and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VC workflow is reactive. Valuable information is scattered across GitHub, product launches, research, company websites, and social networks. Teams discover opportunities too late, repeat the same research, and often receive an AI score that behaves like a black box rather than a decision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FirstCheck24 is built around two ideas: autonomous discovery and explainable intelligence. The system proactively identifies promising founders and turns public signals into verifiable evidence. Investors see not only the score, but exactly why the score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capability is autonomous discovery. Based on the fund's investment thesis, the system continuously scans sources such as GitHub, Product Hunt, Hacker News, research papers, and hackathons. It collects signals, resolves identities, scores opportunities, and leaves outreach approval with the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capability is explainability. Every conclusion follows a transparent chain: source, observation, claim, score, and decision. An investor can open any score to see its origin, discovery date, confidence level, and any conflicting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average everything into one misleading number. Founder, Market, and Idea–Market Fit remain independent dimensions. Each has its own score, trend, evidence, and confidence. For an investor, disagreement between the dimensions is often the most important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example for Eoghan McCabe. The system summarizes his track record and the evidence around Intercom, then separates Thesis Match, Founder Signal, and Evidence Quality. Investors can trace every claim, challenge or override the analysis, and choose to proceed, hold, or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frontend is built with React and TypeScript, while FastAPI runs the core workflow. Redis and ARQ handle asynchronous collection, Postgres and pgvector store identities, evidence graphs, and scores, and MinIO preserves source artifacts. The full system runs in Docker with versioned evidence and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more than a polished interface. The system already integrates ten types of public data sources, stores 112 persistent founder identities, and passes 106 automated tests. Our north star is to compress the journey from first signal to an investment decision into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FirstCheck24 can be summarized in one line: find first, explain everything, and decide in 24 hours. We help exceptional founders get discovered earlier and help investors make every decision on transparent, verifiable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RSTCHECK_LIGHT">
    <p:bg>
      <p:bgPr>
        <a:solidFill>
          <a:srgbClr val="F2F6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7"/>
        </a:solidFill>
      </p:bgPr>
    </p:bg>
    <p:spTree>
      <p:nvGrpSpPr>
        <p:cNvPr id="1" name=""/>
        <p:cNvGrpSpPr/>
        <p:nvPr/>
      </p:nvGrpSpPr>
      <p:grpSpPr>
        <a:xfrm>
          <a:off x="0" y="0"/>
          <a:ext cx="0" cy="0"/>
          <a:chOff x="0" y="0"/>
          <a:chExt cx="0" cy="0"/>
        </a:xfrm>
      </p:grpSpPr>
      <p:sp>
        <p:nvSpPr>
          <p:cNvPr id="2" name="Shape 0"/>
          <p:cNvSpPr/>
          <p:nvPr/>
        </p:nvSpPr>
        <p:spPr>
          <a:xfrm>
            <a:off x="7543800" y="-1828800"/>
            <a:ext cx="5486400" cy="5486400"/>
          </a:xfrm>
          <a:prstGeom prst="ellipse">
            <a:avLst/>
          </a:prstGeom>
          <a:solidFill>
            <a:srgbClr val="557DC0">
              <a:alpha val="14000"/>
            </a:srgbClr>
          </a:solidFill>
          <a:ln w="12700">
            <a:solidFill>
              <a:srgbClr val="333333">
                <a:alpha val="0"/>
              </a:srgbClr>
            </a:solidFill>
            <a:prstDash val="solid"/>
          </a:ln>
        </p:spPr>
      </p:sp>
      <p:sp>
        <p:nvSpPr>
          <p:cNvPr id="3" name="Shape 1"/>
          <p:cNvSpPr/>
          <p:nvPr/>
        </p:nvSpPr>
        <p:spPr>
          <a:xfrm>
            <a:off x="7620000" y="2971800"/>
            <a:ext cx="4724400" cy="4724400"/>
          </a:xfrm>
          <a:prstGeom prst="ellipse">
            <a:avLst/>
          </a:prstGeom>
          <a:solidFill>
            <a:srgbClr val="2F8B72">
              <a:alpha val="13000"/>
            </a:srgbClr>
          </a:solidFill>
          <a:ln w="12700">
            <a:solidFill>
              <a:srgbClr val="333333">
                <a:alpha val="0"/>
              </a:srgbClr>
            </a:solidFill>
            <a:prstDash val="solid"/>
          </a:ln>
        </p:spPr>
      </p:sp>
      <p:sp>
        <p:nvSpPr>
          <p:cNvPr id="4" name="Text 2"/>
          <p:cNvSpPr/>
          <p:nvPr/>
        </p:nvSpPr>
        <p:spPr>
          <a:xfrm>
            <a:off x="685800" y="472440"/>
            <a:ext cx="1371600" cy="24384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FirstCheck</a:t>
            </a:r>
            <a:pPr indent="0" marL="0">
              <a:buNone/>
            </a:pPr>
            <a:r>
              <a:rPr lang="en-US" sz="1200" b="1" dirty="0">
                <a:solidFill>
                  <a:srgbClr val="AFC8F6"/>
                </a:solidFill>
                <a:latin typeface="Aptos Display" pitchFamily="34" charset="0"/>
                <a:ea typeface="Aptos Display" pitchFamily="34" charset="-122"/>
                <a:cs typeface="Aptos Display" pitchFamily="34" charset="-120"/>
              </a:rPr>
              <a:t>24</a:t>
            </a:r>
            <a:endParaRPr lang="en-US" sz="1400" dirty="0"/>
          </a:p>
        </p:txBody>
      </p:sp>
      <p:sp>
        <p:nvSpPr>
          <p:cNvPr id="5" name="Text 3"/>
          <p:cNvSpPr txBox="1"/>
          <p:nvPr/>
        </p:nvSpPr>
        <p:spPr>
          <a:xfrm>
            <a:off x="685800" y="1333500"/>
            <a:ext cx="4267200" cy="228600"/>
          </a:xfrm>
          <a:prstGeom prst="rect">
            <a:avLst/>
          </a:prstGeom>
          <a:noFill/>
          <a:ln/>
        </p:spPr>
        <p:txBody>
          <a:bodyPr wrap="square" lIns="0" tIns="0" rIns="0" bIns="0" rtlCol="0" anchor="ctr">
            <a:normAutofit/>
          </a:bodyPr>
          <a:lstStyle/>
          <a:p>
            <a:pPr algn="l" indent="0" marL="0">
              <a:buNone/>
            </a:pPr>
            <a:r>
              <a:rPr lang="en-US" sz="900" b="1" spc="300" kern="0" dirty="0">
                <a:solidFill>
                  <a:srgbClr val="AFC8F6"/>
                </a:solidFill>
                <a:latin typeface="Aptos" pitchFamily="34" charset="0"/>
                <a:ea typeface="Aptos" pitchFamily="34" charset="-122"/>
                <a:cs typeface="Aptos" pitchFamily="34" charset="-120"/>
              </a:rPr>
              <a:t>THE VC OPERATING SYSTEM</a:t>
            </a:r>
            <a:endParaRPr lang="en-US" sz="900" dirty="0"/>
          </a:p>
        </p:txBody>
      </p:sp>
      <p:sp>
        <p:nvSpPr>
          <p:cNvPr id="6" name="Text 4"/>
          <p:cNvSpPr txBox="1"/>
          <p:nvPr/>
        </p:nvSpPr>
        <p:spPr>
          <a:xfrm>
            <a:off x="685800" y="1790700"/>
            <a:ext cx="6477000" cy="1371600"/>
          </a:xfrm>
          <a:prstGeom prst="rect">
            <a:avLst/>
          </a:prstGeom>
          <a:noFill/>
          <a:ln/>
        </p:spPr>
        <p:txBody>
          <a:bodyPr wrap="square" lIns="0" tIns="0" rIns="0" bIns="0" rtlCol="0" anchor="t">
            <a:normAutofit/>
          </a:bodyPr>
          <a:lstStyle/>
          <a:p>
            <a:pPr algn="l" indent="0" marL="0">
              <a:buNone/>
            </a:pPr>
            <a:r>
              <a:rPr lang="en-US" sz="4320" b="1" dirty="0">
                <a:solidFill>
                  <a:srgbClr val="FFFFFF"/>
                </a:solidFill>
                <a:latin typeface="Aptos Display" pitchFamily="34" charset="0"/>
                <a:ea typeface="Aptos Display" pitchFamily="34" charset="-122"/>
                <a:cs typeface="Aptos Display" pitchFamily="34" charset="-120"/>
              </a:rPr>
              <a:t>Find the founder</a:t>
            </a:r>
            <a:endParaRPr lang="en-US" sz="4320" dirty="0"/>
          </a:p>
          <a:p>
            <a:pPr algn="l" indent="0" marL="0">
              <a:buNone/>
            </a:pPr>
            <a:r>
              <a:rPr lang="en-US" sz="4320" b="1" dirty="0">
                <a:solidFill>
                  <a:srgbClr val="FFFFFF"/>
                </a:solidFill>
                <a:latin typeface="Aptos Display" pitchFamily="34" charset="0"/>
                <a:ea typeface="Aptos Display" pitchFamily="34" charset="-122"/>
                <a:cs typeface="Aptos Display" pitchFamily="34" charset="-120"/>
              </a:rPr>
              <a:t>before the round.</a:t>
            </a:r>
            <a:endParaRPr lang="en-US" sz="4320" dirty="0"/>
          </a:p>
        </p:txBody>
      </p:sp>
      <p:sp>
        <p:nvSpPr>
          <p:cNvPr id="7" name="Text 5"/>
          <p:cNvSpPr txBox="1"/>
          <p:nvPr/>
        </p:nvSpPr>
        <p:spPr>
          <a:xfrm>
            <a:off x="723900" y="3695700"/>
            <a:ext cx="6324600" cy="685800"/>
          </a:xfrm>
          <a:prstGeom prst="rect">
            <a:avLst/>
          </a:prstGeom>
          <a:noFill/>
          <a:ln/>
        </p:spPr>
        <p:txBody>
          <a:bodyPr wrap="square" lIns="0" tIns="0" rIns="0" bIns="0" rtlCol="0" anchor="t">
            <a:normAutofit/>
          </a:bodyPr>
          <a:lstStyle/>
          <a:p>
            <a:pPr algn="l" indent="0" marL="0">
              <a:buNone/>
            </a:pPr>
            <a:r>
              <a:rPr lang="en-US" sz="1380" dirty="0">
                <a:solidFill>
                  <a:srgbClr val="CFDAEA"/>
                </a:solidFill>
                <a:latin typeface="Aptos" pitchFamily="34" charset="0"/>
                <a:ea typeface="Aptos" pitchFamily="34" charset="-122"/>
                <a:cs typeface="Aptos" pitchFamily="34" charset="-120"/>
              </a:rPr>
              <a:t>Autonomous discovery surfaces hidden builders early.</a:t>
            </a:r>
            <a:endParaRPr lang="en-US" sz="1380" dirty="0"/>
          </a:p>
          <a:p>
            <a:pPr algn="l" indent="0" marL="0">
              <a:buNone/>
            </a:pPr>
            <a:r>
              <a:rPr lang="en-US" sz="1380" dirty="0">
                <a:solidFill>
                  <a:srgbClr val="CFDAEA"/>
                </a:solidFill>
                <a:latin typeface="Aptos" pitchFamily="34" charset="0"/>
                <a:ea typeface="Aptos" pitchFamily="34" charset="-122"/>
                <a:cs typeface="Aptos" pitchFamily="34" charset="-120"/>
              </a:rPr>
              <a:t>Explainable intelligence shows exactly why they matter.</a:t>
            </a:r>
            <a:endParaRPr lang="en-US" sz="1380" dirty="0"/>
          </a:p>
        </p:txBody>
      </p:sp>
      <p:sp>
        <p:nvSpPr>
          <p:cNvPr id="8" name="Shape 6"/>
          <p:cNvSpPr/>
          <p:nvPr/>
        </p:nvSpPr>
        <p:spPr>
          <a:xfrm>
            <a:off x="723900" y="4762500"/>
            <a:ext cx="3810000" cy="266700"/>
          </a:xfrm>
          <a:prstGeom prst="roundRect">
            <a:avLst>
              <a:gd name="adj" fmla="val 54857"/>
            </a:avLst>
          </a:prstGeom>
          <a:solidFill>
            <a:srgbClr val="263A55"/>
          </a:solidFill>
          <a:ln w="6350">
            <a:solidFill>
              <a:srgbClr val="263A55">
                <a:alpha val="0"/>
              </a:srgbClr>
            </a:solidFill>
            <a:prstDash val="solid"/>
          </a:ln>
        </p:spPr>
      </p:sp>
      <p:sp>
        <p:nvSpPr>
          <p:cNvPr id="9" name="Text 7"/>
          <p:cNvSpPr txBox="1"/>
          <p:nvPr/>
        </p:nvSpPr>
        <p:spPr>
          <a:xfrm>
            <a:off x="800100" y="4785360"/>
            <a:ext cx="36576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DCE8F8"/>
                </a:solidFill>
                <a:latin typeface="Aptos" pitchFamily="34" charset="0"/>
                <a:ea typeface="Aptos" pitchFamily="34" charset="-122"/>
                <a:cs typeface="Aptos" pitchFamily="34" charset="-120"/>
              </a:rPr>
              <a:t>FIRST SIGNAL → EVIDENCE → $100K DECISION</a:t>
            </a:r>
            <a:endParaRPr lang="en-US" sz="660" dirty="0"/>
          </a:p>
        </p:txBody>
      </p:sp>
      <p:sp>
        <p:nvSpPr>
          <p:cNvPr id="10" name="Text 8"/>
          <p:cNvSpPr txBox="1"/>
          <p:nvPr/>
        </p:nvSpPr>
        <p:spPr>
          <a:xfrm>
            <a:off x="8534400" y="2590800"/>
            <a:ext cx="3048000" cy="876300"/>
          </a:xfrm>
          <a:prstGeom prst="rect">
            <a:avLst/>
          </a:prstGeom>
          <a:noFill/>
          <a:ln/>
        </p:spPr>
        <p:txBody>
          <a:bodyPr wrap="square" lIns="0" tIns="0" rIns="0" bIns="0" rtlCol="0" anchor="ctr">
            <a:normAutofit/>
          </a:bodyPr>
          <a:lstStyle/>
          <a:p>
            <a:pPr algn="ctr" indent="0" marL="0">
              <a:buNone/>
            </a:pPr>
            <a:r>
              <a:rPr lang="en-US" sz="7080" b="1" dirty="0">
                <a:solidFill>
                  <a:srgbClr val="BFD0EA"/>
                </a:solidFill>
                <a:latin typeface="Aptos Display" pitchFamily="34" charset="0"/>
                <a:ea typeface="Aptos Display" pitchFamily="34" charset="-122"/>
                <a:cs typeface="Aptos Display" pitchFamily="34" charset="-120"/>
              </a:rPr>
              <a:t>24:00</a:t>
            </a:r>
            <a:endParaRPr lang="en-US" sz="7080" dirty="0"/>
          </a:p>
        </p:txBody>
      </p:sp>
      <p:sp>
        <p:nvSpPr>
          <p:cNvPr id="11" name="Text 9"/>
          <p:cNvSpPr txBox="1"/>
          <p:nvPr/>
        </p:nvSpPr>
        <p:spPr>
          <a:xfrm>
            <a:off x="8534400" y="3619500"/>
            <a:ext cx="3048000" cy="472440"/>
          </a:xfrm>
          <a:prstGeom prst="rect">
            <a:avLst/>
          </a:prstGeom>
          <a:noFill/>
          <a:ln/>
        </p:spPr>
        <p:txBody>
          <a:bodyPr wrap="square" lIns="0" tIns="0" rIns="0" bIns="0" rtlCol="0" anchor="t">
            <a:normAutofit/>
          </a:bodyPr>
          <a:lstStyle/>
          <a:p>
            <a:pPr algn="ctr" indent="0" marL="0">
              <a:buNone/>
            </a:pPr>
            <a:r>
              <a:rPr lang="en-US" sz="1200" b="1" dirty="0">
                <a:solidFill>
                  <a:srgbClr val="DDE7F5"/>
                </a:solidFill>
                <a:latin typeface="Aptos" pitchFamily="34" charset="0"/>
                <a:ea typeface="Aptos" pitchFamily="34" charset="-122"/>
                <a:cs typeface="Aptos" pitchFamily="34" charset="-120"/>
              </a:rPr>
              <a:t>One investor.</a:t>
            </a:r>
            <a:endParaRPr lang="en-US" sz="1200" dirty="0"/>
          </a:p>
          <a:p>
            <a:pPr algn="ctr" indent="0" marL="0">
              <a:buNone/>
            </a:pPr>
            <a:r>
              <a:rPr lang="en-US" sz="1200" b="1" dirty="0">
                <a:solidFill>
                  <a:srgbClr val="DDE7F5"/>
                </a:solidFill>
                <a:latin typeface="Aptos" pitchFamily="34" charset="0"/>
                <a:ea typeface="Aptos" pitchFamily="34" charset="-122"/>
                <a:cs typeface="Aptos" pitchFamily="34" charset="-120"/>
              </a:rPr>
              <a:t>An entire organisation's reach.</a:t>
            </a:r>
            <a:endParaRPr lang="en-US" sz="1200" dirty="0"/>
          </a:p>
        </p:txBody>
      </p:sp>
      <p:sp>
        <p:nvSpPr>
          <p:cNvPr id="12" name="Text 10"/>
          <p:cNvSpPr txBox="1"/>
          <p:nvPr/>
        </p:nvSpPr>
        <p:spPr>
          <a:xfrm>
            <a:off x="723900" y="5791200"/>
            <a:ext cx="4572000" cy="228600"/>
          </a:xfrm>
          <a:prstGeom prst="rect">
            <a:avLst/>
          </a:prstGeom>
          <a:noFill/>
          <a:ln/>
        </p:spPr>
        <p:txBody>
          <a:bodyPr wrap="square" lIns="0" tIns="0" rIns="0" bIns="0" rtlCol="0" anchor="ctr">
            <a:normAutofit/>
          </a:bodyPr>
          <a:lstStyle/>
          <a:p>
            <a:pPr algn="l" indent="0" marL="0">
              <a:buNone/>
            </a:pPr>
            <a:r>
              <a:rPr lang="en-US" sz="900" dirty="0">
                <a:solidFill>
                  <a:srgbClr val="91A7C5"/>
                </a:solidFill>
                <a:latin typeface="Aptos" pitchFamily="34" charset="0"/>
                <a:ea typeface="Aptos" pitchFamily="34" charset="-122"/>
                <a:cs typeface="Aptos" pitchFamily="34" charset="-120"/>
              </a:rPr>
              <a:t>Hack-Nation × MIT Clubs × Maschmeyer Group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THE PROBLEM</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VC discovers founders</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after the signal is obvious.</a:t>
            </a:r>
            <a:endParaRPr lang="en-US" sz="3120" dirty="0"/>
          </a:p>
        </p:txBody>
      </p:sp>
      <p:sp>
        <p:nvSpPr>
          <p:cNvPr id="4" name="Text 2"/>
          <p:cNvSpPr txBox="1"/>
          <p:nvPr/>
        </p:nvSpPr>
        <p:spPr>
          <a:xfrm>
            <a:off x="685800" y="1753819"/>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Discovery starts too late. Diligence restarts from zero. Scores hide their reasoning.</a:t>
            </a:r>
            <a:endParaRPr lang="en-US" sz="1200" dirty="0"/>
          </a:p>
        </p:txBody>
      </p:sp>
      <p:sp>
        <p:nvSpPr>
          <p:cNvPr id="5" name="Shape 3"/>
          <p:cNvSpPr/>
          <p:nvPr/>
        </p:nvSpPr>
        <p:spPr>
          <a:xfrm>
            <a:off x="685800" y="2933700"/>
            <a:ext cx="1600200" cy="883920"/>
          </a:xfrm>
          <a:prstGeom prst="roundRect">
            <a:avLst>
              <a:gd name="adj" fmla="val 12414"/>
            </a:avLst>
          </a:prstGeom>
          <a:solidFill>
            <a:srgbClr val="EEE8F8"/>
          </a:solidFill>
          <a:ln w="6350">
            <a:solidFill>
              <a:srgbClr val="EEE8F8">
                <a:alpha val="0"/>
              </a:srgbClr>
            </a:solidFill>
            <a:prstDash val="solid"/>
          </a:ln>
        </p:spPr>
      </p:sp>
      <p:sp>
        <p:nvSpPr>
          <p:cNvPr id="6" name="Shape 4"/>
          <p:cNvSpPr/>
          <p:nvPr/>
        </p:nvSpPr>
        <p:spPr>
          <a:xfrm>
            <a:off x="830580" y="3093720"/>
            <a:ext cx="91440" cy="91440"/>
          </a:xfrm>
          <a:prstGeom prst="ellipse">
            <a:avLst/>
          </a:prstGeom>
          <a:solidFill>
            <a:srgbClr val="7656A5"/>
          </a:solidFill>
          <a:ln w="12700">
            <a:solidFill>
              <a:srgbClr val="333333">
                <a:alpha val="0"/>
              </a:srgbClr>
            </a:solidFill>
            <a:prstDash val="solid"/>
          </a:ln>
        </p:spPr>
      </p:sp>
      <p:sp>
        <p:nvSpPr>
          <p:cNvPr id="7" name="Text 5"/>
          <p:cNvSpPr txBox="1"/>
          <p:nvPr/>
        </p:nvSpPr>
        <p:spPr>
          <a:xfrm>
            <a:off x="1021080" y="304038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Pitch deck</a:t>
            </a:r>
            <a:endParaRPr lang="en-US" sz="1020" dirty="0"/>
          </a:p>
        </p:txBody>
      </p:sp>
      <p:sp>
        <p:nvSpPr>
          <p:cNvPr id="8" name="Text 6"/>
          <p:cNvSpPr txBox="1"/>
          <p:nvPr/>
        </p:nvSpPr>
        <p:spPr>
          <a:xfrm>
            <a:off x="868680" y="340614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private context</a:t>
            </a:r>
            <a:endParaRPr lang="en-US" sz="780" dirty="0"/>
          </a:p>
        </p:txBody>
      </p:sp>
      <p:sp>
        <p:nvSpPr>
          <p:cNvPr id="9" name="Shape 7"/>
          <p:cNvSpPr/>
          <p:nvPr/>
        </p:nvSpPr>
        <p:spPr>
          <a:xfrm>
            <a:off x="2476500" y="2933700"/>
            <a:ext cx="1600200" cy="883920"/>
          </a:xfrm>
          <a:prstGeom prst="roundRect">
            <a:avLst>
              <a:gd name="adj" fmla="val 12414"/>
            </a:avLst>
          </a:prstGeom>
          <a:solidFill>
            <a:srgbClr val="E4F2ED"/>
          </a:solidFill>
          <a:ln w="6350">
            <a:solidFill>
              <a:srgbClr val="E4F2ED">
                <a:alpha val="0"/>
              </a:srgbClr>
            </a:solidFill>
            <a:prstDash val="solid"/>
          </a:ln>
        </p:spPr>
      </p:sp>
      <p:sp>
        <p:nvSpPr>
          <p:cNvPr id="10" name="Shape 8"/>
          <p:cNvSpPr/>
          <p:nvPr/>
        </p:nvSpPr>
        <p:spPr>
          <a:xfrm>
            <a:off x="2621280" y="3093720"/>
            <a:ext cx="91440" cy="91440"/>
          </a:xfrm>
          <a:prstGeom prst="ellipse">
            <a:avLst/>
          </a:prstGeom>
          <a:solidFill>
            <a:srgbClr val="2F8B72"/>
          </a:solidFill>
          <a:ln w="12700">
            <a:solidFill>
              <a:srgbClr val="333333">
                <a:alpha val="0"/>
              </a:srgbClr>
            </a:solidFill>
            <a:prstDash val="solid"/>
          </a:ln>
        </p:spPr>
      </p:sp>
      <p:sp>
        <p:nvSpPr>
          <p:cNvPr id="11" name="Text 9"/>
          <p:cNvSpPr txBox="1"/>
          <p:nvPr/>
        </p:nvSpPr>
        <p:spPr>
          <a:xfrm>
            <a:off x="2811780" y="304038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GitHub</a:t>
            </a:r>
            <a:endParaRPr lang="en-US" sz="1020" dirty="0"/>
          </a:p>
        </p:txBody>
      </p:sp>
      <p:sp>
        <p:nvSpPr>
          <p:cNvPr id="12" name="Text 10"/>
          <p:cNvSpPr txBox="1"/>
          <p:nvPr/>
        </p:nvSpPr>
        <p:spPr>
          <a:xfrm>
            <a:off x="2659380" y="340614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execution trail</a:t>
            </a:r>
            <a:endParaRPr lang="en-US" sz="780" dirty="0"/>
          </a:p>
        </p:txBody>
      </p:sp>
      <p:sp>
        <p:nvSpPr>
          <p:cNvPr id="13" name="Shape 11"/>
          <p:cNvSpPr/>
          <p:nvPr/>
        </p:nvSpPr>
        <p:spPr>
          <a:xfrm>
            <a:off x="685800" y="4015740"/>
            <a:ext cx="1600200" cy="883920"/>
          </a:xfrm>
          <a:prstGeom prst="roundRect">
            <a:avLst>
              <a:gd name="adj" fmla="val 12414"/>
            </a:avLst>
          </a:prstGeom>
          <a:solidFill>
            <a:srgbClr val="E7EEF9"/>
          </a:solidFill>
          <a:ln w="6350">
            <a:solidFill>
              <a:srgbClr val="E7EEF9">
                <a:alpha val="0"/>
              </a:srgbClr>
            </a:solidFill>
            <a:prstDash val="solid"/>
          </a:ln>
        </p:spPr>
      </p:sp>
      <p:sp>
        <p:nvSpPr>
          <p:cNvPr id="14" name="Shape 12"/>
          <p:cNvSpPr/>
          <p:nvPr/>
        </p:nvSpPr>
        <p:spPr>
          <a:xfrm>
            <a:off x="830580" y="4175760"/>
            <a:ext cx="91440" cy="91440"/>
          </a:xfrm>
          <a:prstGeom prst="ellipse">
            <a:avLst/>
          </a:prstGeom>
          <a:solidFill>
            <a:srgbClr val="557DC0"/>
          </a:solidFill>
          <a:ln w="12700">
            <a:solidFill>
              <a:srgbClr val="333333">
                <a:alpha val="0"/>
              </a:srgbClr>
            </a:solidFill>
            <a:prstDash val="solid"/>
          </a:ln>
        </p:spPr>
      </p:sp>
      <p:sp>
        <p:nvSpPr>
          <p:cNvPr id="15" name="Text 13"/>
          <p:cNvSpPr txBox="1"/>
          <p:nvPr/>
        </p:nvSpPr>
        <p:spPr>
          <a:xfrm>
            <a:off x="1021080" y="412242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Website</a:t>
            </a:r>
            <a:endParaRPr lang="en-US" sz="1020" dirty="0"/>
          </a:p>
        </p:txBody>
      </p:sp>
      <p:sp>
        <p:nvSpPr>
          <p:cNvPr id="16" name="Text 14"/>
          <p:cNvSpPr txBox="1"/>
          <p:nvPr/>
        </p:nvSpPr>
        <p:spPr>
          <a:xfrm>
            <a:off x="868680" y="448818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product claim</a:t>
            </a:r>
            <a:endParaRPr lang="en-US" sz="780" dirty="0"/>
          </a:p>
        </p:txBody>
      </p:sp>
      <p:sp>
        <p:nvSpPr>
          <p:cNvPr id="17" name="Shape 15"/>
          <p:cNvSpPr/>
          <p:nvPr/>
        </p:nvSpPr>
        <p:spPr>
          <a:xfrm>
            <a:off x="2476500" y="4015740"/>
            <a:ext cx="1600200" cy="883920"/>
          </a:xfrm>
          <a:prstGeom prst="roundRect">
            <a:avLst>
              <a:gd name="adj" fmla="val 12414"/>
            </a:avLst>
          </a:prstGeom>
          <a:solidFill>
            <a:srgbClr val="FFF1DF"/>
          </a:solidFill>
          <a:ln w="6350">
            <a:solidFill>
              <a:srgbClr val="FFF1DF">
                <a:alpha val="0"/>
              </a:srgbClr>
            </a:solidFill>
            <a:prstDash val="solid"/>
          </a:ln>
        </p:spPr>
      </p:sp>
      <p:sp>
        <p:nvSpPr>
          <p:cNvPr id="18" name="Shape 16"/>
          <p:cNvSpPr/>
          <p:nvPr/>
        </p:nvSpPr>
        <p:spPr>
          <a:xfrm>
            <a:off x="2621280" y="4175760"/>
            <a:ext cx="91440" cy="91440"/>
          </a:xfrm>
          <a:prstGeom prst="ellipse">
            <a:avLst/>
          </a:prstGeom>
          <a:solidFill>
            <a:srgbClr val="B87932"/>
          </a:solidFill>
          <a:ln w="12700">
            <a:solidFill>
              <a:srgbClr val="333333">
                <a:alpha val="0"/>
              </a:srgbClr>
            </a:solidFill>
            <a:prstDash val="solid"/>
          </a:ln>
        </p:spPr>
      </p:sp>
      <p:sp>
        <p:nvSpPr>
          <p:cNvPr id="19" name="Text 17"/>
          <p:cNvSpPr txBox="1"/>
          <p:nvPr/>
        </p:nvSpPr>
        <p:spPr>
          <a:xfrm>
            <a:off x="2811780" y="412242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Social</a:t>
            </a:r>
            <a:endParaRPr lang="en-US" sz="1020" dirty="0"/>
          </a:p>
        </p:txBody>
      </p:sp>
      <p:sp>
        <p:nvSpPr>
          <p:cNvPr id="20" name="Text 18"/>
          <p:cNvSpPr txBox="1"/>
          <p:nvPr/>
        </p:nvSpPr>
        <p:spPr>
          <a:xfrm>
            <a:off x="2659380" y="448818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weak signal</a:t>
            </a:r>
            <a:endParaRPr lang="en-US" sz="780" dirty="0"/>
          </a:p>
        </p:txBody>
      </p:sp>
      <p:sp>
        <p:nvSpPr>
          <p:cNvPr id="21" name="Shape 19"/>
          <p:cNvSpPr/>
          <p:nvPr/>
        </p:nvSpPr>
        <p:spPr>
          <a:xfrm>
            <a:off x="4191000" y="3352800"/>
            <a:ext cx="990600" cy="0"/>
          </a:xfrm>
          <a:prstGeom prst="line">
            <a:avLst/>
          </a:prstGeom>
          <a:noFill/>
          <a:ln w="25400">
            <a:solidFill>
              <a:srgbClr val="B9C8DA"/>
            </a:solidFill>
            <a:prstDash val="solid"/>
            <a:headEnd type="none"/>
            <a:tailEnd type="none"/>
          </a:ln>
        </p:spPr>
      </p:sp>
      <p:sp>
        <p:nvSpPr>
          <p:cNvPr id="22" name="Shape 20"/>
          <p:cNvSpPr/>
          <p:nvPr/>
        </p:nvSpPr>
        <p:spPr>
          <a:xfrm>
            <a:off x="4191000" y="4892040"/>
            <a:ext cx="990600" cy="0"/>
          </a:xfrm>
          <a:prstGeom prst="line">
            <a:avLst/>
          </a:prstGeom>
          <a:noFill/>
          <a:ln w="25400">
            <a:solidFill>
              <a:srgbClr val="B9C8DA"/>
            </a:solidFill>
            <a:prstDash val="solid"/>
            <a:headEnd type="none"/>
            <a:tailEnd type="none"/>
          </a:ln>
        </p:spPr>
      </p:sp>
      <p:sp>
        <p:nvSpPr>
          <p:cNvPr id="23" name="Shape 21"/>
          <p:cNvSpPr/>
          <p:nvPr/>
        </p:nvSpPr>
        <p:spPr>
          <a:xfrm>
            <a:off x="5181600" y="2514600"/>
            <a:ext cx="2971800" cy="2971800"/>
          </a:xfrm>
          <a:prstGeom prst="roundRect">
            <a:avLst>
              <a:gd name="adj" fmla="val 5538"/>
            </a:avLst>
          </a:prstGeom>
          <a:solidFill>
            <a:srgbClr val="FFFFFF"/>
          </a:solidFill>
          <a:ln w="6350">
            <a:solidFill>
              <a:srgbClr val="FFFFFF">
                <a:alpha val="0"/>
              </a:srgbClr>
            </a:solidFill>
            <a:prstDash val="solid"/>
          </a:ln>
          <a:effectLst>
            <a:outerShdw sx="100000" sy="100000" kx="0" ky="0" algn="bl" rotWithShape="0" blurRad="25400" dist="50800" dir="2700000">
              <a:srgbClr val="405875">
                <a:alpha val="12000"/>
              </a:srgbClr>
            </a:outerShdw>
          </a:effectLst>
        </p:spPr>
      </p:sp>
      <p:sp>
        <p:nvSpPr>
          <p:cNvPr id="24" name="Text 22"/>
          <p:cNvSpPr txBox="1"/>
          <p:nvPr/>
        </p:nvSpPr>
        <p:spPr>
          <a:xfrm>
            <a:off x="5486400" y="2705100"/>
            <a:ext cx="1676400" cy="213360"/>
          </a:xfrm>
          <a:prstGeom prst="rect">
            <a:avLst/>
          </a:prstGeom>
          <a:noFill/>
          <a:ln/>
        </p:spPr>
        <p:txBody>
          <a:bodyPr wrap="square" lIns="0" tIns="0" rIns="0" bIns="0" rtlCol="0" anchor="ctr">
            <a:normAutofit/>
          </a:bodyPr>
          <a:lstStyle/>
          <a:p>
            <a:pPr algn="l" indent="0" marL="0">
              <a:buNone/>
            </a:pPr>
            <a:r>
              <a:rPr lang="en-US" sz="780" b="1" spc="200" kern="0" dirty="0">
                <a:solidFill>
                  <a:srgbClr val="B9575F"/>
                </a:solidFill>
                <a:latin typeface="Aptos" pitchFamily="34" charset="0"/>
                <a:ea typeface="Aptos" pitchFamily="34" charset="-122"/>
                <a:cs typeface="Aptos" pitchFamily="34" charset="-120"/>
              </a:rPr>
              <a:t>TODAY</a:t>
            </a:r>
            <a:endParaRPr lang="en-US" sz="780" dirty="0"/>
          </a:p>
        </p:txBody>
      </p:sp>
      <p:sp>
        <p:nvSpPr>
          <p:cNvPr id="25" name="Text 23"/>
          <p:cNvSpPr txBox="1"/>
          <p:nvPr/>
        </p:nvSpPr>
        <p:spPr>
          <a:xfrm>
            <a:off x="5486400" y="3086100"/>
            <a:ext cx="2133600" cy="609600"/>
          </a:xfrm>
          <a:prstGeom prst="rect">
            <a:avLst/>
          </a:prstGeom>
          <a:noFill/>
          <a:ln/>
        </p:spPr>
        <p:txBody>
          <a:bodyPr wrap="square" lIns="0" tIns="0" rIns="0" bIns="0" rtlCol="0" anchor="ctr">
            <a:normAutofit/>
          </a:bodyPr>
          <a:lstStyle/>
          <a:p>
            <a:pPr algn="l" indent="0" marL="0">
              <a:buNone/>
            </a:pPr>
            <a:r>
              <a:rPr lang="en-US" sz="4080" b="1" dirty="0">
                <a:solidFill>
                  <a:srgbClr val="172337"/>
                </a:solidFill>
                <a:latin typeface="Aptos Display" pitchFamily="34" charset="0"/>
                <a:ea typeface="Aptos Display" pitchFamily="34" charset="-122"/>
                <a:cs typeface="Aptos Display" pitchFamily="34" charset="-120"/>
              </a:rPr>
              <a:t>Weeks</a:t>
            </a:r>
            <a:endParaRPr lang="en-US" sz="4080" dirty="0"/>
          </a:p>
        </p:txBody>
      </p:sp>
      <p:sp>
        <p:nvSpPr>
          <p:cNvPr id="26" name="Text 24"/>
          <p:cNvSpPr txBox="1"/>
          <p:nvPr/>
        </p:nvSpPr>
        <p:spPr>
          <a:xfrm>
            <a:off x="5486400" y="3771900"/>
            <a:ext cx="2286000" cy="533400"/>
          </a:xfrm>
          <a:prstGeom prst="rect">
            <a:avLst/>
          </a:prstGeom>
          <a:noFill/>
          <a:ln/>
        </p:spPr>
        <p:txBody>
          <a:bodyPr wrap="square" lIns="0" tIns="0" rIns="0" bIns="0" rtlCol="0" anchor="t">
            <a:normAutofit/>
          </a:bodyPr>
          <a:lstStyle/>
          <a:p>
            <a:pPr algn="l" indent="0" marL="0">
              <a:buNone/>
            </a:pPr>
            <a:r>
              <a:rPr lang="en-US" sz="1080" dirty="0">
                <a:solidFill>
                  <a:srgbClr val="718097"/>
                </a:solidFill>
                <a:latin typeface="Aptos" pitchFamily="34" charset="0"/>
                <a:ea typeface="Aptos" pitchFamily="34" charset="-122"/>
                <a:cs typeface="Aptos" pitchFamily="34" charset="-120"/>
              </a:rPr>
              <a:t>to collect, reconcile and</a:t>
            </a:r>
            <a:endParaRPr lang="en-US" sz="1080" dirty="0"/>
          </a:p>
          <a:p>
            <a:pPr algn="l" indent="0" marL="0">
              <a:buNone/>
            </a:pPr>
            <a:r>
              <a:rPr lang="en-US" sz="1080" dirty="0">
                <a:solidFill>
                  <a:srgbClr val="718097"/>
                </a:solidFill>
                <a:latin typeface="Aptos" pitchFamily="34" charset="0"/>
                <a:ea typeface="Aptos" pitchFamily="34" charset="-122"/>
                <a:cs typeface="Aptos" pitchFamily="34" charset="-120"/>
              </a:rPr>
              <a:t>understand one opportunity</a:t>
            </a:r>
            <a:endParaRPr lang="en-US" sz="1080" dirty="0"/>
          </a:p>
        </p:txBody>
      </p:sp>
      <p:sp>
        <p:nvSpPr>
          <p:cNvPr id="27" name="Shape 25"/>
          <p:cNvSpPr/>
          <p:nvPr/>
        </p:nvSpPr>
        <p:spPr>
          <a:xfrm>
            <a:off x="5486400" y="4572000"/>
            <a:ext cx="2324100" cy="0"/>
          </a:xfrm>
          <a:prstGeom prst="line">
            <a:avLst/>
          </a:prstGeom>
          <a:noFill/>
          <a:ln w="15240">
            <a:solidFill>
              <a:srgbClr val="DCE5F0"/>
            </a:solidFill>
            <a:prstDash val="solid"/>
            <a:headEnd type="none"/>
            <a:tailEnd type="none"/>
          </a:ln>
        </p:spPr>
      </p:sp>
      <p:sp>
        <p:nvSpPr>
          <p:cNvPr id="28" name="Text 26"/>
          <p:cNvSpPr txBox="1"/>
          <p:nvPr/>
        </p:nvSpPr>
        <p:spPr>
          <a:xfrm>
            <a:off x="5486400" y="4724400"/>
            <a:ext cx="2286000" cy="533400"/>
          </a:xfrm>
          <a:prstGeom prst="rect">
            <a:avLst/>
          </a:prstGeom>
          <a:noFill/>
          <a:ln/>
        </p:spPr>
        <p:txBody>
          <a:bodyPr wrap="square" lIns="0" tIns="0" rIns="0" bIns="0" rtlCol="0" anchor="t">
            <a:normAutofit/>
          </a:bodyPr>
          <a:lstStyle/>
          <a:p>
            <a:pPr algn="l" indent="0" marL="0">
              <a:buNone/>
            </a:pPr>
            <a:r>
              <a:rPr lang="en-US" sz="1320" b="1" dirty="0">
                <a:solidFill>
                  <a:srgbClr val="B9575F"/>
                </a:solidFill>
                <a:latin typeface="Aptos" pitchFamily="34" charset="0"/>
                <a:ea typeface="Aptos" pitchFamily="34" charset="-122"/>
                <a:cs typeface="Aptos" pitchFamily="34" charset="-120"/>
              </a:rPr>
              <a:t>Capital flows through networks,</a:t>
            </a:r>
            <a:endParaRPr lang="en-US" sz="1320" dirty="0"/>
          </a:p>
          <a:p>
            <a:pPr algn="l" indent="0" marL="0">
              <a:buNone/>
            </a:pPr>
            <a:r>
              <a:rPr lang="en-US" sz="1320" b="1" dirty="0">
                <a:solidFill>
                  <a:srgbClr val="B9575F"/>
                </a:solidFill>
                <a:latin typeface="Aptos" pitchFamily="34" charset="0"/>
                <a:ea typeface="Aptos" pitchFamily="34" charset="-122"/>
                <a:cs typeface="Aptos" pitchFamily="34" charset="-120"/>
              </a:rPr>
              <a:t>not merit.</a:t>
            </a:r>
            <a:endParaRPr lang="en-US" sz="1320" dirty="0"/>
          </a:p>
        </p:txBody>
      </p:sp>
      <p:sp>
        <p:nvSpPr>
          <p:cNvPr id="29" name="Shape 27"/>
          <p:cNvSpPr/>
          <p:nvPr/>
        </p:nvSpPr>
        <p:spPr>
          <a:xfrm>
            <a:off x="8534400" y="2514600"/>
            <a:ext cx="2971800" cy="2971800"/>
          </a:xfrm>
          <a:prstGeom prst="roundRect">
            <a:avLst>
              <a:gd name="adj" fmla="val 5538"/>
            </a:avLst>
          </a:prstGeom>
          <a:solidFill>
            <a:srgbClr val="4E70A6"/>
          </a:solidFill>
          <a:ln w="6350">
            <a:solidFill>
              <a:srgbClr val="4E70A6">
                <a:alpha val="0"/>
              </a:srgbClr>
            </a:solidFill>
            <a:prstDash val="solid"/>
          </a:ln>
          <a:effectLst>
            <a:outerShdw sx="100000" sy="100000" kx="0" ky="0" algn="bl" rotWithShape="0" blurRad="322580000" dist="645160000" dir="162000000000">
              <a:srgbClr val="405875">
                <a:alpha val="1200000000"/>
              </a:srgbClr>
            </a:outerShdw>
          </a:effectLst>
        </p:spPr>
      </p:sp>
      <p:sp>
        <p:nvSpPr>
          <p:cNvPr id="30" name="Text 28"/>
          <p:cNvSpPr txBox="1"/>
          <p:nvPr/>
        </p:nvSpPr>
        <p:spPr>
          <a:xfrm>
            <a:off x="8839200" y="2705100"/>
            <a:ext cx="2133600" cy="213360"/>
          </a:xfrm>
          <a:prstGeom prst="rect">
            <a:avLst/>
          </a:prstGeom>
          <a:noFill/>
          <a:ln/>
        </p:spPr>
        <p:txBody>
          <a:bodyPr wrap="square" lIns="0" tIns="0" rIns="0" bIns="0" rtlCol="0" anchor="ctr">
            <a:normAutofit/>
          </a:bodyPr>
          <a:lstStyle/>
          <a:p>
            <a:pPr algn="l" indent="0" marL="0">
              <a:buNone/>
            </a:pPr>
            <a:r>
              <a:rPr lang="en-US" sz="780" b="1" spc="200" kern="0" dirty="0">
                <a:solidFill>
                  <a:srgbClr val="C7D8F2"/>
                </a:solidFill>
                <a:latin typeface="Aptos" pitchFamily="34" charset="0"/>
                <a:ea typeface="Aptos" pitchFamily="34" charset="-122"/>
                <a:cs typeface="Aptos" pitchFamily="34" charset="-120"/>
              </a:rPr>
              <a:t>FIRSTCHECK24</a:t>
            </a:r>
            <a:endParaRPr lang="en-US" sz="780" dirty="0"/>
          </a:p>
        </p:txBody>
      </p:sp>
      <p:sp>
        <p:nvSpPr>
          <p:cNvPr id="31" name="Text 29"/>
          <p:cNvSpPr txBox="1"/>
          <p:nvPr/>
        </p:nvSpPr>
        <p:spPr>
          <a:xfrm>
            <a:off x="8839200" y="3086100"/>
            <a:ext cx="2133600" cy="640080"/>
          </a:xfrm>
          <a:prstGeom prst="rect">
            <a:avLst/>
          </a:prstGeom>
          <a:noFill/>
          <a:ln/>
        </p:spPr>
        <p:txBody>
          <a:bodyPr wrap="square" lIns="0" tIns="0" rIns="0" bIns="0" rtlCol="0" anchor="ctr">
            <a:normAutofit/>
          </a:bodyPr>
          <a:lstStyle/>
          <a:p>
            <a:pPr algn="l" indent="0" marL="0">
              <a:buNone/>
            </a:pPr>
            <a:r>
              <a:rPr lang="en-US" sz="4680" b="1" dirty="0">
                <a:solidFill>
                  <a:srgbClr val="FFFFFF"/>
                </a:solidFill>
                <a:latin typeface="Aptos Display" pitchFamily="34" charset="0"/>
                <a:ea typeface="Aptos Display" pitchFamily="34" charset="-122"/>
                <a:cs typeface="Aptos Display" pitchFamily="34" charset="-120"/>
              </a:rPr>
              <a:t>24h</a:t>
            </a:r>
            <a:endParaRPr lang="en-US" sz="4680" dirty="0"/>
          </a:p>
        </p:txBody>
      </p:sp>
      <p:sp>
        <p:nvSpPr>
          <p:cNvPr id="32" name="Text 30"/>
          <p:cNvSpPr txBox="1"/>
          <p:nvPr/>
        </p:nvSpPr>
        <p:spPr>
          <a:xfrm>
            <a:off x="8839200" y="3771900"/>
            <a:ext cx="2286000" cy="533400"/>
          </a:xfrm>
          <a:prstGeom prst="rect">
            <a:avLst/>
          </a:prstGeom>
          <a:noFill/>
          <a:ln/>
        </p:spPr>
        <p:txBody>
          <a:bodyPr wrap="square" lIns="0" tIns="0" rIns="0" bIns="0" rtlCol="0" anchor="t">
            <a:normAutofit/>
          </a:bodyPr>
          <a:lstStyle/>
          <a:p>
            <a:pPr algn="l" indent="0" marL="0">
              <a:buNone/>
            </a:pPr>
            <a:r>
              <a:rPr lang="en-US" sz="1080" dirty="0">
                <a:solidFill>
                  <a:srgbClr val="D7E3F4"/>
                </a:solidFill>
                <a:latin typeface="Aptos" pitchFamily="34" charset="0"/>
                <a:ea typeface="Aptos" pitchFamily="34" charset="-122"/>
                <a:cs typeface="Aptos" pitchFamily="34" charset="-120"/>
              </a:rPr>
              <a:t>from a valid application</a:t>
            </a:r>
            <a:endParaRPr lang="en-US" sz="1080" dirty="0"/>
          </a:p>
          <a:p>
            <a:pPr algn="l" indent="0" marL="0">
              <a:buNone/>
            </a:pPr>
            <a:r>
              <a:rPr lang="en-US" sz="1080" dirty="0">
                <a:solidFill>
                  <a:srgbClr val="D7E3F4"/>
                </a:solidFill>
                <a:latin typeface="Aptos" pitchFamily="34" charset="0"/>
                <a:ea typeface="Aptos" pitchFamily="34" charset="-122"/>
                <a:cs typeface="Aptos" pitchFamily="34" charset="-120"/>
              </a:rPr>
              <a:t>to an evidence-backed decision</a:t>
            </a:r>
            <a:endParaRPr lang="en-US" sz="1080" dirty="0"/>
          </a:p>
        </p:txBody>
      </p:sp>
      <p:sp>
        <p:nvSpPr>
          <p:cNvPr id="33" name="Shape 31"/>
          <p:cNvSpPr/>
          <p:nvPr/>
        </p:nvSpPr>
        <p:spPr>
          <a:xfrm>
            <a:off x="8839200" y="4572000"/>
            <a:ext cx="2324100" cy="0"/>
          </a:xfrm>
          <a:prstGeom prst="line">
            <a:avLst/>
          </a:prstGeom>
          <a:noFill/>
          <a:ln w="15240">
            <a:solidFill>
              <a:srgbClr val="7894BA"/>
            </a:solidFill>
            <a:prstDash val="solid"/>
            <a:headEnd type="none"/>
            <a:tailEnd type="none"/>
          </a:ln>
        </p:spPr>
      </p:sp>
      <p:sp>
        <p:nvSpPr>
          <p:cNvPr id="34" name="Text 32"/>
          <p:cNvSpPr txBox="1"/>
          <p:nvPr/>
        </p:nvSpPr>
        <p:spPr>
          <a:xfrm>
            <a:off x="8839200" y="4724400"/>
            <a:ext cx="2286000" cy="533400"/>
          </a:xfrm>
          <a:prstGeom prst="rect">
            <a:avLst/>
          </a:prstGeom>
          <a:noFill/>
          <a:ln/>
        </p:spPr>
        <p:txBody>
          <a:bodyPr wrap="square" lIns="0" tIns="0" rIns="0" bIns="0" rtlCol="0" anchor="t">
            <a:normAutofit/>
          </a:bodyPr>
          <a:lstStyle/>
          <a:p>
            <a:pPr algn="l" indent="0" marL="0">
              <a:buNone/>
            </a:pPr>
            <a:r>
              <a:rPr lang="en-US" sz="1440" b="1" dirty="0">
                <a:solidFill>
                  <a:srgbClr val="FFFFFF"/>
                </a:solidFill>
                <a:latin typeface="Aptos" pitchFamily="34" charset="0"/>
                <a:ea typeface="Aptos" pitchFamily="34" charset="-122"/>
                <a:cs typeface="Aptos" pitchFamily="34" charset="-120"/>
              </a:rPr>
              <a:t>Find them before</a:t>
            </a:r>
            <a:endParaRPr lang="en-US" sz="1440" dirty="0"/>
          </a:p>
          <a:p>
            <a:pPr algn="l" indent="0" marL="0">
              <a:buNone/>
            </a:pPr>
            <a:r>
              <a:rPr lang="en-US" sz="1440" b="1" dirty="0">
                <a:solidFill>
                  <a:srgbClr val="FFFFFF"/>
                </a:solidFill>
                <a:latin typeface="Aptos" pitchFamily="34" charset="0"/>
                <a:ea typeface="Aptos" pitchFamily="34" charset="-122"/>
                <a:cs typeface="Aptos" pitchFamily="34" charset="-120"/>
              </a:rPr>
              <a:t>the market does.</a:t>
            </a:r>
            <a:endParaRPr lang="en-US" sz="1440" dirty="0"/>
          </a:p>
        </p:txBody>
      </p:sp>
      <p:sp>
        <p:nvSpPr>
          <p:cNvPr id="35" name="Text 3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36" name="Text 3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02</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4267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THE PRODUCT THESIS</a:t>
            </a:r>
            <a:endParaRPr lang="en-US" sz="900" dirty="0"/>
          </a:p>
        </p:txBody>
      </p:sp>
      <p:sp>
        <p:nvSpPr>
          <p:cNvPr id="3" name="Text 1"/>
          <p:cNvSpPr txBox="1"/>
          <p:nvPr/>
        </p:nvSpPr>
        <p:spPr>
          <a:xfrm>
            <a:off x="685800" y="800100"/>
            <a:ext cx="4267200" cy="760781"/>
          </a:xfrm>
          <a:prstGeom prst="rect">
            <a:avLst/>
          </a:prstGeom>
          <a:noFill/>
          <a:ln/>
        </p:spPr>
        <p:txBody>
          <a:bodyPr wrap="square" lIns="0" tIns="0" rIns="0" bIns="0" rtlCol="0" anchor="t">
            <a:normAutofit/>
          </a:bodyPr>
          <a:lstStyle/>
          <a:p>
            <a:pPr algn="l" indent="0" marL="0">
              <a:buNone/>
            </a:pPr>
            <a:r>
              <a:rPr lang="en-US" sz="2880" b="1" dirty="0">
                <a:solidFill>
                  <a:srgbClr val="172337"/>
                </a:solidFill>
                <a:latin typeface="Aptos Display" pitchFamily="34" charset="0"/>
                <a:ea typeface="Aptos Display" pitchFamily="34" charset="-122"/>
                <a:cs typeface="Aptos Display" pitchFamily="34" charset="-120"/>
              </a:rPr>
              <a:t>Autonomous discovery.</a:t>
            </a:r>
            <a:endParaRPr lang="en-US" sz="2880" dirty="0"/>
          </a:p>
          <a:p>
            <a:pPr algn="l" indent="0" marL="0">
              <a:buNone/>
            </a:pPr>
            <a:r>
              <a:rPr lang="en-US" sz="2880" b="1" dirty="0">
                <a:solidFill>
                  <a:srgbClr val="172337"/>
                </a:solidFill>
                <a:latin typeface="Aptos Display" pitchFamily="34" charset="0"/>
                <a:ea typeface="Aptos Display" pitchFamily="34" charset="-122"/>
                <a:cs typeface="Aptos Display" pitchFamily="34" charset="-120"/>
              </a:rPr>
              <a:t>Explainable decisions.</a:t>
            </a:r>
            <a:endParaRPr lang="en-US" sz="2880" dirty="0"/>
          </a:p>
        </p:txBody>
      </p:sp>
      <p:sp>
        <p:nvSpPr>
          <p:cNvPr id="4" name="Text 2"/>
          <p:cNvSpPr txBox="1"/>
          <p:nvPr/>
        </p:nvSpPr>
        <p:spPr>
          <a:xfrm>
            <a:off x="685800" y="1690421"/>
            <a:ext cx="3810000" cy="48768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Find hidden founders early — then show</a:t>
            </a:r>
            <a:endParaRPr lang="en-US" sz="1200" dirty="0"/>
          </a:p>
          <a:p>
            <a:pPr algn="l" indent="0" marL="0">
              <a:buNone/>
            </a:pPr>
            <a:r>
              <a:rPr lang="en-US" sz="1200" dirty="0">
                <a:solidFill>
                  <a:srgbClr val="718097"/>
                </a:solidFill>
                <a:latin typeface="Aptos" pitchFamily="34" charset="0"/>
                <a:ea typeface="Aptos" pitchFamily="34" charset="-122"/>
                <a:cs typeface="Aptos" pitchFamily="34" charset="-120"/>
              </a:rPr>
              <a:t>every step behind the score.</a:t>
            </a:r>
            <a:endParaRPr lang="en-US" sz="1200" dirty="0"/>
          </a:p>
        </p:txBody>
      </p:sp>
      <p:sp>
        <p:nvSpPr>
          <p:cNvPr id="5" name="Shape 3"/>
          <p:cNvSpPr/>
          <p:nvPr/>
        </p:nvSpPr>
        <p:spPr>
          <a:xfrm>
            <a:off x="670560" y="3238500"/>
            <a:ext cx="3962400" cy="784860"/>
          </a:xfrm>
          <a:prstGeom prst="roundRect">
            <a:avLst>
              <a:gd name="adj" fmla="val 13981"/>
            </a:avLst>
          </a:prstGeom>
          <a:solidFill>
            <a:srgbClr val="E4F2ED"/>
          </a:solidFill>
          <a:ln w="6350">
            <a:solidFill>
              <a:srgbClr val="E4F2ED">
                <a:alpha val="0"/>
              </a:srgbClr>
            </a:solidFill>
            <a:prstDash val="solid"/>
          </a:ln>
        </p:spPr>
      </p:sp>
      <p:sp>
        <p:nvSpPr>
          <p:cNvPr id="6" name="Text 4"/>
          <p:cNvSpPr txBox="1"/>
          <p:nvPr/>
        </p:nvSpPr>
        <p:spPr>
          <a:xfrm>
            <a:off x="899160" y="3352800"/>
            <a:ext cx="2895600" cy="213360"/>
          </a:xfrm>
          <a:prstGeom prst="rect">
            <a:avLst/>
          </a:prstGeom>
          <a:noFill/>
          <a:ln/>
        </p:spPr>
        <p:txBody>
          <a:bodyPr wrap="square" lIns="0" tIns="0" rIns="0" bIns="0" rtlCol="0" anchor="ctr">
            <a:normAutofit/>
          </a:bodyPr>
          <a:lstStyle/>
          <a:p>
            <a:pPr algn="l" indent="0" marL="0">
              <a:buNone/>
            </a:pPr>
            <a:r>
              <a:rPr lang="en-US" sz="720" b="1" spc="120" kern="0" dirty="0">
                <a:solidFill>
                  <a:srgbClr val="2F8B72"/>
                </a:solidFill>
                <a:latin typeface="Aptos" pitchFamily="34" charset="0"/>
                <a:ea typeface="Aptos" pitchFamily="34" charset="-122"/>
                <a:cs typeface="Aptos" pitchFamily="34" charset="-120"/>
              </a:rPr>
              <a:t>CORE 01 · AUTONOMOUS DISCOVERY</a:t>
            </a:r>
            <a:endParaRPr lang="en-US" sz="720" dirty="0"/>
          </a:p>
        </p:txBody>
      </p:sp>
      <p:sp>
        <p:nvSpPr>
          <p:cNvPr id="7" name="Text 5"/>
          <p:cNvSpPr txBox="1"/>
          <p:nvPr/>
        </p:nvSpPr>
        <p:spPr>
          <a:xfrm>
            <a:off x="899160" y="3619500"/>
            <a:ext cx="3276600" cy="24384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Aptos" pitchFamily="34" charset="0"/>
                <a:ea typeface="Aptos" pitchFamily="34" charset="-122"/>
                <a:cs typeface="Aptos" pitchFamily="34" charset="-120"/>
              </a:rPr>
              <a:t>Public signals → ranked founders</a:t>
            </a:r>
            <a:endParaRPr lang="en-US" sz="1200" dirty="0"/>
          </a:p>
        </p:txBody>
      </p:sp>
      <p:sp>
        <p:nvSpPr>
          <p:cNvPr id="8" name="Shape 6"/>
          <p:cNvSpPr/>
          <p:nvPr/>
        </p:nvSpPr>
        <p:spPr>
          <a:xfrm>
            <a:off x="670560" y="4175760"/>
            <a:ext cx="3962400" cy="784860"/>
          </a:xfrm>
          <a:prstGeom prst="roundRect">
            <a:avLst>
              <a:gd name="adj" fmla="val 13981"/>
            </a:avLst>
          </a:prstGeom>
          <a:solidFill>
            <a:srgbClr val="EEE8F8"/>
          </a:solidFill>
          <a:ln w="6350">
            <a:solidFill>
              <a:srgbClr val="EEE8F8">
                <a:alpha val="0"/>
              </a:srgbClr>
            </a:solidFill>
            <a:prstDash val="solid"/>
          </a:ln>
        </p:spPr>
      </p:sp>
      <p:sp>
        <p:nvSpPr>
          <p:cNvPr id="9" name="Text 7"/>
          <p:cNvSpPr txBox="1"/>
          <p:nvPr/>
        </p:nvSpPr>
        <p:spPr>
          <a:xfrm>
            <a:off x="899160" y="4290060"/>
            <a:ext cx="3124200" cy="213360"/>
          </a:xfrm>
          <a:prstGeom prst="rect">
            <a:avLst/>
          </a:prstGeom>
          <a:noFill/>
          <a:ln/>
        </p:spPr>
        <p:txBody>
          <a:bodyPr wrap="square" lIns="0" tIns="0" rIns="0" bIns="0" rtlCol="0" anchor="ctr">
            <a:normAutofit/>
          </a:bodyPr>
          <a:lstStyle/>
          <a:p>
            <a:pPr algn="l" indent="0" marL="0">
              <a:buNone/>
            </a:pPr>
            <a:r>
              <a:rPr lang="en-US" sz="720" b="1" spc="110" kern="0" dirty="0">
                <a:solidFill>
                  <a:srgbClr val="7656A5"/>
                </a:solidFill>
                <a:latin typeface="Aptos" pitchFamily="34" charset="0"/>
                <a:ea typeface="Aptos" pitchFamily="34" charset="-122"/>
                <a:cs typeface="Aptos" pitchFamily="34" charset="-120"/>
              </a:rPr>
              <a:t>CORE 02 · EXPLAINABLE INTELLIGENCE</a:t>
            </a:r>
            <a:endParaRPr lang="en-US" sz="720" dirty="0"/>
          </a:p>
        </p:txBody>
      </p:sp>
      <p:sp>
        <p:nvSpPr>
          <p:cNvPr id="10" name="Text 8"/>
          <p:cNvSpPr txBox="1"/>
          <p:nvPr/>
        </p:nvSpPr>
        <p:spPr>
          <a:xfrm>
            <a:off x="899160" y="4556760"/>
            <a:ext cx="3352800" cy="24384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Aptos" pitchFamily="34" charset="0"/>
                <a:ea typeface="Aptos" pitchFamily="34" charset="-122"/>
                <a:cs typeface="Aptos" pitchFamily="34" charset="-120"/>
              </a:rPr>
              <a:t>Source → claim → score → decision</a:t>
            </a:r>
            <a:endParaRPr lang="en-US" sz="1200" dirty="0"/>
          </a:p>
        </p:txBody>
      </p:sp>
      <p:sp>
        <p:nvSpPr>
          <p:cNvPr id="11" name="Text 9"/>
          <p:cNvSpPr txBox="1"/>
          <p:nvPr/>
        </p:nvSpPr>
        <p:spPr>
          <a:xfrm>
            <a:off x="723900" y="5219700"/>
            <a:ext cx="3657600" cy="472440"/>
          </a:xfrm>
          <a:prstGeom prst="rect">
            <a:avLst/>
          </a:prstGeom>
          <a:noFill/>
          <a:ln/>
        </p:spPr>
        <p:txBody>
          <a:bodyPr wrap="square" lIns="0" tIns="0" rIns="0" bIns="0" rtlCol="0" anchor="t">
            <a:normAutofit/>
          </a:bodyPr>
          <a:lstStyle/>
          <a:p>
            <a:pPr algn="l" indent="0" marL="0">
              <a:buNone/>
            </a:pPr>
            <a:r>
              <a:rPr lang="en-US" sz="1020" dirty="0">
                <a:solidFill>
                  <a:srgbClr val="718097"/>
                </a:solidFill>
                <a:latin typeface="Aptos" pitchFamily="34" charset="0"/>
                <a:ea typeface="Aptos" pitchFamily="34" charset="-122"/>
                <a:cs typeface="Aptos" pitchFamily="34" charset="-120"/>
              </a:rPr>
              <a:t>One investor approves outreach and capital.</a:t>
            </a:r>
            <a:endParaRPr lang="en-US" sz="1020" dirty="0"/>
          </a:p>
          <a:p>
            <a:pPr algn="l" indent="0" marL="0">
              <a:buNone/>
            </a:pPr>
            <a:r>
              <a:rPr lang="en-US" sz="1020" dirty="0">
                <a:solidFill>
                  <a:srgbClr val="718097"/>
                </a:solidFill>
                <a:latin typeface="Aptos" pitchFamily="34" charset="0"/>
                <a:ea typeface="Aptos" pitchFamily="34" charset="-122"/>
                <a:cs typeface="Aptos" pitchFamily="34" charset="-120"/>
              </a:rPr>
              <a:t>Memory learns from every correction.</a:t>
            </a:r>
            <a:endParaRPr lang="en-US" sz="1020" dirty="0"/>
          </a:p>
        </p:txBody>
      </p:sp>
      <p:sp>
        <p:nvSpPr>
          <p:cNvPr id="12" name="Shape 10"/>
          <p:cNvSpPr/>
          <p:nvPr/>
        </p:nvSpPr>
        <p:spPr>
          <a:xfrm>
            <a:off x="5181600" y="876300"/>
            <a:ext cx="6400800" cy="4442460"/>
          </a:xfrm>
          <a:prstGeom prst="roundRect">
            <a:avLst>
              <a:gd name="adj" fmla="val 3705"/>
            </a:avLst>
          </a:prstGeom>
          <a:solidFill>
            <a:srgbClr val="FFFFFF"/>
          </a:solidFill>
          <a:ln w="6350">
            <a:solidFill>
              <a:srgbClr val="FFFFFF">
                <a:alpha val="0"/>
              </a:srgbClr>
            </a:solidFill>
            <a:prstDash val="solid"/>
          </a:ln>
          <a:effectLst>
            <a:outerShdw sx="100000" sy="100000" kx="0" ky="0" algn="bl" rotWithShape="0" blurRad="4096766000000" dist="8193532000000" dir="9720000000000000">
              <a:srgbClr val="405875">
                <a:alpha val="120000000000000"/>
              </a:srgbClr>
            </a:outerShdw>
          </a:effectLst>
        </p:spPr>
      </p:sp>
      <p:pic>
        <p:nvPicPr>
          <p:cNvPr id="13" name="Image 0" descr="/Users/zeyu/Projects/HACKATHON/The-VC-Brain/docs/pitch-assets/overview.png">    </p:cNvPr>
          <p:cNvPicPr>
            <a:picLocks noChangeAspect="1"/>
          </p:cNvPicPr>
          <p:nvPr/>
        </p:nvPicPr>
        <p:blipFill>
          <a:blip r:embed="rId1"/>
          <a:stretch>
            <a:fillRect/>
          </a:stretch>
        </p:blipFill>
        <p:spPr>
          <a:xfrm>
            <a:off x="5273040" y="967740"/>
            <a:ext cx="6217920" cy="4259580"/>
          </a:xfrm>
          <a:prstGeom prst="rect">
            <a:avLst/>
          </a:prstGeom>
        </p:spPr>
      </p:pic>
      <p:sp>
        <p:nvSpPr>
          <p:cNvPr id="14" name="Shape 11"/>
          <p:cNvSpPr/>
          <p:nvPr/>
        </p:nvSpPr>
        <p:spPr>
          <a:xfrm>
            <a:off x="9791700" y="5524500"/>
            <a:ext cx="1752600" cy="266700"/>
          </a:xfrm>
          <a:prstGeom prst="roundRect">
            <a:avLst>
              <a:gd name="adj" fmla="val 54857"/>
            </a:avLst>
          </a:prstGeom>
          <a:solidFill>
            <a:srgbClr val="E7EEF9"/>
          </a:solidFill>
          <a:ln w="6350">
            <a:solidFill>
              <a:srgbClr val="E7EEF9">
                <a:alpha val="0"/>
              </a:srgbClr>
            </a:solidFill>
            <a:prstDash val="solid"/>
          </a:ln>
        </p:spPr>
      </p:sp>
      <p:sp>
        <p:nvSpPr>
          <p:cNvPr id="15" name="Text 12"/>
          <p:cNvSpPr txBox="1"/>
          <p:nvPr/>
        </p:nvSpPr>
        <p:spPr>
          <a:xfrm>
            <a:off x="9867900" y="5547360"/>
            <a:ext cx="1600200" cy="220980"/>
          </a:xfrm>
          <a:prstGeom prst="rect">
            <a:avLst/>
          </a:prstGeom>
          <a:noFill/>
          <a:ln/>
        </p:spPr>
        <p:txBody>
          <a:bodyPr wrap="square" lIns="0" tIns="0" rIns="0" bIns="0" rtlCol="0" anchor="ctr">
            <a:normAutofit/>
          </a:bodyPr>
          <a:lstStyle/>
          <a:p>
            <a:pPr algn="ctr" indent="0" marL="0">
              <a:buNone/>
            </a:pPr>
            <a:r>
              <a:rPr lang="en-US" sz="780" b="1" spc="30" kern="0" dirty="0">
                <a:solidFill>
                  <a:srgbClr val="557DC0"/>
                </a:solidFill>
                <a:latin typeface="Aptos" pitchFamily="34" charset="0"/>
                <a:ea typeface="Aptos" pitchFamily="34" charset="-122"/>
                <a:cs typeface="Aptos" pitchFamily="34" charset="-120"/>
              </a:rPr>
              <a:t>LIVE PRODUCT</a:t>
            </a:r>
            <a:endParaRPr lang="en-US" sz="780" dirty="0"/>
          </a:p>
        </p:txBody>
      </p:sp>
      <p:sp>
        <p:nvSpPr>
          <p:cNvPr id="16" name="Text 1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17" name="Text 1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03</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CORE 01 · AUTONOMOUS DISCOVERY</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Always on.</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Thesis directed.</a:t>
            </a:r>
            <a:endParaRPr lang="en-US" sz="3120" dirty="0"/>
          </a:p>
        </p:txBody>
      </p:sp>
      <p:sp>
        <p:nvSpPr>
          <p:cNvPr id="4" name="Text 2"/>
          <p:cNvSpPr txBox="1"/>
          <p:nvPr/>
        </p:nvSpPr>
        <p:spPr>
          <a:xfrm>
            <a:off x="685800" y="1753819"/>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Ten collectors continuously scan execution, research, launches and community signals.</a:t>
            </a:r>
            <a:endParaRPr lang="en-US" sz="1200" dirty="0"/>
          </a:p>
        </p:txBody>
      </p:sp>
      <p:sp>
        <p:nvSpPr>
          <p:cNvPr id="5" name="Shape 3"/>
          <p:cNvSpPr/>
          <p:nvPr/>
        </p:nvSpPr>
        <p:spPr>
          <a:xfrm>
            <a:off x="685800" y="2400300"/>
            <a:ext cx="1508760" cy="266700"/>
          </a:xfrm>
          <a:prstGeom prst="roundRect">
            <a:avLst>
              <a:gd name="adj" fmla="val 54857"/>
            </a:avLst>
          </a:prstGeom>
          <a:solidFill>
            <a:srgbClr val="E4F2ED"/>
          </a:solidFill>
          <a:ln w="6350">
            <a:solidFill>
              <a:srgbClr val="E4F2ED">
                <a:alpha val="0"/>
              </a:srgbClr>
            </a:solidFill>
            <a:prstDash val="solid"/>
          </a:ln>
        </p:spPr>
      </p:sp>
      <p:sp>
        <p:nvSpPr>
          <p:cNvPr id="6" name="Text 4"/>
          <p:cNvSpPr txBox="1"/>
          <p:nvPr/>
        </p:nvSpPr>
        <p:spPr>
          <a:xfrm>
            <a:off x="7620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2F8B72"/>
                </a:solidFill>
                <a:latin typeface="Aptos" pitchFamily="34" charset="0"/>
                <a:ea typeface="Aptos" pitchFamily="34" charset="-122"/>
                <a:cs typeface="Aptos" pitchFamily="34" charset="-120"/>
              </a:rPr>
              <a:t>GITHUB</a:t>
            </a:r>
            <a:endParaRPr lang="en-US" sz="660" dirty="0"/>
          </a:p>
        </p:txBody>
      </p:sp>
      <p:sp>
        <p:nvSpPr>
          <p:cNvPr id="7" name="Shape 5"/>
          <p:cNvSpPr/>
          <p:nvPr/>
        </p:nvSpPr>
        <p:spPr>
          <a:xfrm>
            <a:off x="2362200" y="2400300"/>
            <a:ext cx="1508760" cy="266700"/>
          </a:xfrm>
          <a:prstGeom prst="roundRect">
            <a:avLst>
              <a:gd name="adj" fmla="val 54857"/>
            </a:avLst>
          </a:prstGeom>
          <a:solidFill>
            <a:srgbClr val="EEE8F8"/>
          </a:solidFill>
          <a:ln w="6350">
            <a:solidFill>
              <a:srgbClr val="EEE8F8">
                <a:alpha val="0"/>
              </a:srgbClr>
            </a:solidFill>
            <a:prstDash val="solid"/>
          </a:ln>
        </p:spPr>
      </p:sp>
      <p:sp>
        <p:nvSpPr>
          <p:cNvPr id="8" name="Text 6"/>
          <p:cNvSpPr txBox="1"/>
          <p:nvPr/>
        </p:nvSpPr>
        <p:spPr>
          <a:xfrm>
            <a:off x="24384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7656A5"/>
                </a:solidFill>
                <a:latin typeface="Aptos" pitchFamily="34" charset="0"/>
                <a:ea typeface="Aptos" pitchFamily="34" charset="-122"/>
                <a:cs typeface="Aptos" pitchFamily="34" charset="-120"/>
              </a:rPr>
              <a:t>PRODUCT HUNT</a:t>
            </a:r>
            <a:endParaRPr lang="en-US" sz="660" dirty="0"/>
          </a:p>
        </p:txBody>
      </p:sp>
      <p:sp>
        <p:nvSpPr>
          <p:cNvPr id="9" name="Shape 7"/>
          <p:cNvSpPr/>
          <p:nvPr/>
        </p:nvSpPr>
        <p:spPr>
          <a:xfrm>
            <a:off x="4038600" y="2400300"/>
            <a:ext cx="1508760" cy="266700"/>
          </a:xfrm>
          <a:prstGeom prst="roundRect">
            <a:avLst>
              <a:gd name="adj" fmla="val 54857"/>
            </a:avLst>
          </a:prstGeom>
          <a:solidFill>
            <a:srgbClr val="E7EEF9"/>
          </a:solidFill>
          <a:ln w="6350">
            <a:solidFill>
              <a:srgbClr val="E7EEF9">
                <a:alpha val="0"/>
              </a:srgbClr>
            </a:solidFill>
            <a:prstDash val="solid"/>
          </a:ln>
        </p:spPr>
      </p:sp>
      <p:sp>
        <p:nvSpPr>
          <p:cNvPr id="10" name="Text 8"/>
          <p:cNvSpPr txBox="1"/>
          <p:nvPr/>
        </p:nvSpPr>
        <p:spPr>
          <a:xfrm>
            <a:off x="41148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HACKER NEWS</a:t>
            </a:r>
            <a:endParaRPr lang="en-US" sz="660" dirty="0"/>
          </a:p>
        </p:txBody>
      </p:sp>
      <p:sp>
        <p:nvSpPr>
          <p:cNvPr id="11" name="Shape 9"/>
          <p:cNvSpPr/>
          <p:nvPr/>
        </p:nvSpPr>
        <p:spPr>
          <a:xfrm>
            <a:off x="5715000" y="2400300"/>
            <a:ext cx="1508760" cy="266700"/>
          </a:xfrm>
          <a:prstGeom prst="roundRect">
            <a:avLst>
              <a:gd name="adj" fmla="val 54857"/>
            </a:avLst>
          </a:prstGeom>
          <a:solidFill>
            <a:srgbClr val="FFF1DF"/>
          </a:solidFill>
          <a:ln w="6350">
            <a:solidFill>
              <a:srgbClr val="FFF1DF">
                <a:alpha val="0"/>
              </a:srgbClr>
            </a:solidFill>
            <a:prstDash val="solid"/>
          </a:ln>
        </p:spPr>
      </p:sp>
      <p:sp>
        <p:nvSpPr>
          <p:cNvPr id="12" name="Text 10"/>
          <p:cNvSpPr txBox="1"/>
          <p:nvPr/>
        </p:nvSpPr>
        <p:spPr>
          <a:xfrm>
            <a:off x="57912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B87932"/>
                </a:solidFill>
                <a:latin typeface="Aptos" pitchFamily="34" charset="0"/>
                <a:ea typeface="Aptos" pitchFamily="34" charset="-122"/>
                <a:cs typeface="Aptos" pitchFamily="34" charset="-120"/>
              </a:rPr>
              <a:t>ARXIV</a:t>
            </a:r>
            <a:endParaRPr lang="en-US" sz="660" dirty="0"/>
          </a:p>
        </p:txBody>
      </p:sp>
      <p:sp>
        <p:nvSpPr>
          <p:cNvPr id="13" name="Shape 11"/>
          <p:cNvSpPr/>
          <p:nvPr/>
        </p:nvSpPr>
        <p:spPr>
          <a:xfrm>
            <a:off x="7391400" y="2400300"/>
            <a:ext cx="1508760" cy="266700"/>
          </a:xfrm>
          <a:prstGeom prst="roundRect">
            <a:avLst>
              <a:gd name="adj" fmla="val 54857"/>
            </a:avLst>
          </a:prstGeom>
          <a:solidFill>
            <a:srgbClr val="EAF0F6"/>
          </a:solidFill>
          <a:ln w="6350">
            <a:solidFill>
              <a:srgbClr val="EAF0F6">
                <a:alpha val="0"/>
              </a:srgbClr>
            </a:solidFill>
            <a:prstDash val="solid"/>
          </a:ln>
        </p:spPr>
      </p:sp>
      <p:sp>
        <p:nvSpPr>
          <p:cNvPr id="14" name="Text 12"/>
          <p:cNvSpPr txBox="1"/>
          <p:nvPr/>
        </p:nvSpPr>
        <p:spPr>
          <a:xfrm>
            <a:off x="74676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344258"/>
                </a:solidFill>
                <a:latin typeface="Aptos" pitchFamily="34" charset="0"/>
                <a:ea typeface="Aptos" pitchFamily="34" charset="-122"/>
                <a:cs typeface="Aptos" pitchFamily="34" charset="-120"/>
              </a:rPr>
              <a:t>HACKATHONS</a:t>
            </a:r>
            <a:endParaRPr lang="en-US" sz="660" dirty="0"/>
          </a:p>
        </p:txBody>
      </p:sp>
      <p:sp>
        <p:nvSpPr>
          <p:cNvPr id="15" name="Shape 13"/>
          <p:cNvSpPr/>
          <p:nvPr/>
        </p:nvSpPr>
        <p:spPr>
          <a:xfrm>
            <a:off x="685800" y="2842260"/>
            <a:ext cx="1508760" cy="266700"/>
          </a:xfrm>
          <a:prstGeom prst="roundRect">
            <a:avLst>
              <a:gd name="adj" fmla="val 54857"/>
            </a:avLst>
          </a:prstGeom>
          <a:solidFill>
            <a:srgbClr val="E4F2ED"/>
          </a:solidFill>
          <a:ln w="6350">
            <a:solidFill>
              <a:srgbClr val="E4F2ED">
                <a:alpha val="0"/>
              </a:srgbClr>
            </a:solidFill>
            <a:prstDash val="solid"/>
          </a:ln>
        </p:spPr>
      </p:sp>
      <p:sp>
        <p:nvSpPr>
          <p:cNvPr id="16" name="Text 14"/>
          <p:cNvSpPr txBox="1"/>
          <p:nvPr/>
        </p:nvSpPr>
        <p:spPr>
          <a:xfrm>
            <a:off x="7620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2F8B72"/>
                </a:solidFill>
                <a:latin typeface="Aptos" pitchFamily="34" charset="0"/>
                <a:ea typeface="Aptos" pitchFamily="34" charset="-122"/>
                <a:cs typeface="Aptos" pitchFamily="34" charset="-120"/>
              </a:rPr>
              <a:t>YOUTUBE</a:t>
            </a:r>
            <a:endParaRPr lang="en-US" sz="660" dirty="0"/>
          </a:p>
        </p:txBody>
      </p:sp>
      <p:sp>
        <p:nvSpPr>
          <p:cNvPr id="17" name="Shape 15"/>
          <p:cNvSpPr/>
          <p:nvPr/>
        </p:nvSpPr>
        <p:spPr>
          <a:xfrm>
            <a:off x="2362200" y="2842260"/>
            <a:ext cx="1508760" cy="266700"/>
          </a:xfrm>
          <a:prstGeom prst="roundRect">
            <a:avLst>
              <a:gd name="adj" fmla="val 54857"/>
            </a:avLst>
          </a:prstGeom>
          <a:solidFill>
            <a:srgbClr val="EEE8F8"/>
          </a:solidFill>
          <a:ln w="6350">
            <a:solidFill>
              <a:srgbClr val="EEE8F8">
                <a:alpha val="0"/>
              </a:srgbClr>
            </a:solidFill>
            <a:prstDash val="solid"/>
          </a:ln>
        </p:spPr>
      </p:sp>
      <p:sp>
        <p:nvSpPr>
          <p:cNvPr id="18" name="Text 16"/>
          <p:cNvSpPr txBox="1"/>
          <p:nvPr/>
        </p:nvSpPr>
        <p:spPr>
          <a:xfrm>
            <a:off x="24384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7656A5"/>
                </a:solidFill>
                <a:latin typeface="Aptos" pitchFamily="34" charset="0"/>
                <a:ea typeface="Aptos" pitchFamily="34" charset="-122"/>
                <a:cs typeface="Aptos" pitchFamily="34" charset="-120"/>
              </a:rPr>
              <a:t>WEB</a:t>
            </a:r>
            <a:endParaRPr lang="en-US" sz="660" dirty="0"/>
          </a:p>
        </p:txBody>
      </p:sp>
      <p:sp>
        <p:nvSpPr>
          <p:cNvPr id="19" name="Shape 17"/>
          <p:cNvSpPr/>
          <p:nvPr/>
        </p:nvSpPr>
        <p:spPr>
          <a:xfrm>
            <a:off x="4038600" y="2842260"/>
            <a:ext cx="1508760" cy="266700"/>
          </a:xfrm>
          <a:prstGeom prst="roundRect">
            <a:avLst>
              <a:gd name="adj" fmla="val 54857"/>
            </a:avLst>
          </a:prstGeom>
          <a:solidFill>
            <a:srgbClr val="E7EEF9"/>
          </a:solidFill>
          <a:ln w="6350">
            <a:solidFill>
              <a:srgbClr val="E7EEF9">
                <a:alpha val="0"/>
              </a:srgbClr>
            </a:solidFill>
            <a:prstDash val="solid"/>
          </a:ln>
        </p:spPr>
      </p:sp>
      <p:sp>
        <p:nvSpPr>
          <p:cNvPr id="20" name="Text 18"/>
          <p:cNvSpPr txBox="1"/>
          <p:nvPr/>
        </p:nvSpPr>
        <p:spPr>
          <a:xfrm>
            <a:off x="41148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TAVILY</a:t>
            </a:r>
            <a:endParaRPr lang="en-US" sz="660" dirty="0"/>
          </a:p>
        </p:txBody>
      </p:sp>
      <p:sp>
        <p:nvSpPr>
          <p:cNvPr id="21" name="Shape 19"/>
          <p:cNvSpPr/>
          <p:nvPr/>
        </p:nvSpPr>
        <p:spPr>
          <a:xfrm>
            <a:off x="5715000" y="2842260"/>
            <a:ext cx="1508760" cy="266700"/>
          </a:xfrm>
          <a:prstGeom prst="roundRect">
            <a:avLst>
              <a:gd name="adj" fmla="val 54857"/>
            </a:avLst>
          </a:prstGeom>
          <a:solidFill>
            <a:srgbClr val="FFF1DF"/>
          </a:solidFill>
          <a:ln w="6350">
            <a:solidFill>
              <a:srgbClr val="FFF1DF">
                <a:alpha val="0"/>
              </a:srgbClr>
            </a:solidFill>
            <a:prstDash val="solid"/>
          </a:ln>
        </p:spPr>
      </p:sp>
      <p:sp>
        <p:nvSpPr>
          <p:cNvPr id="22" name="Text 20"/>
          <p:cNvSpPr txBox="1"/>
          <p:nvPr/>
        </p:nvSpPr>
        <p:spPr>
          <a:xfrm>
            <a:off x="57912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B87932"/>
                </a:solidFill>
                <a:latin typeface="Aptos" pitchFamily="34" charset="0"/>
                <a:ea typeface="Aptos" pitchFamily="34" charset="-122"/>
                <a:cs typeface="Aptos" pitchFamily="34" charset="-120"/>
              </a:rPr>
              <a:t>LINKEDIN</a:t>
            </a:r>
            <a:endParaRPr lang="en-US" sz="660" dirty="0"/>
          </a:p>
        </p:txBody>
      </p:sp>
      <p:sp>
        <p:nvSpPr>
          <p:cNvPr id="23" name="Shape 21"/>
          <p:cNvSpPr/>
          <p:nvPr/>
        </p:nvSpPr>
        <p:spPr>
          <a:xfrm>
            <a:off x="7391400" y="2842260"/>
            <a:ext cx="1508760" cy="266700"/>
          </a:xfrm>
          <a:prstGeom prst="roundRect">
            <a:avLst>
              <a:gd name="adj" fmla="val 54857"/>
            </a:avLst>
          </a:prstGeom>
          <a:solidFill>
            <a:srgbClr val="EAF0F6"/>
          </a:solidFill>
          <a:ln w="6350">
            <a:solidFill>
              <a:srgbClr val="EAF0F6">
                <a:alpha val="0"/>
              </a:srgbClr>
            </a:solidFill>
            <a:prstDash val="solid"/>
          </a:ln>
        </p:spPr>
      </p:sp>
      <p:sp>
        <p:nvSpPr>
          <p:cNvPr id="24" name="Text 22"/>
          <p:cNvSpPr txBox="1"/>
          <p:nvPr/>
        </p:nvSpPr>
        <p:spPr>
          <a:xfrm>
            <a:off x="74676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344258"/>
                </a:solidFill>
                <a:latin typeface="Aptos" pitchFamily="34" charset="0"/>
                <a:ea typeface="Aptos" pitchFamily="34" charset="-122"/>
                <a:cs typeface="Aptos" pitchFamily="34" charset="-120"/>
              </a:rPr>
              <a:t>PODCASTS</a:t>
            </a:r>
            <a:endParaRPr lang="en-US" sz="660" dirty="0"/>
          </a:p>
        </p:txBody>
      </p:sp>
      <p:sp>
        <p:nvSpPr>
          <p:cNvPr id="25" name="Shape 23"/>
          <p:cNvSpPr/>
          <p:nvPr/>
        </p:nvSpPr>
        <p:spPr>
          <a:xfrm>
            <a:off x="6858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52028928200000000" dist="104057856400000000" dir="583200000000000000000">
              <a:srgbClr val="405875">
                <a:alpha val="12000000000000000000"/>
              </a:srgbClr>
            </a:outerShdw>
          </a:effectLst>
        </p:spPr>
      </p:sp>
      <p:sp>
        <p:nvSpPr>
          <p:cNvPr id="26" name="Text 24"/>
          <p:cNvSpPr txBox="1"/>
          <p:nvPr/>
        </p:nvSpPr>
        <p:spPr>
          <a:xfrm>
            <a:off x="8763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01</a:t>
            </a:r>
            <a:endParaRPr lang="en-US" sz="780" dirty="0"/>
          </a:p>
        </p:txBody>
      </p:sp>
      <p:sp>
        <p:nvSpPr>
          <p:cNvPr id="27" name="Text 25"/>
          <p:cNvSpPr txBox="1"/>
          <p:nvPr/>
        </p:nvSpPr>
        <p:spPr>
          <a:xfrm>
            <a:off x="8763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Collect</a:t>
            </a:r>
            <a:endParaRPr lang="en-US" sz="1500" dirty="0"/>
          </a:p>
        </p:txBody>
      </p:sp>
      <p:sp>
        <p:nvSpPr>
          <p:cNvPr id="28" name="Text 26"/>
          <p:cNvSpPr txBox="1"/>
          <p:nvPr/>
        </p:nvSpPr>
        <p:spPr>
          <a:xfrm>
            <a:off x="8763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immutable snapshots</a:t>
            </a:r>
            <a:endParaRPr lang="en-US" sz="900" dirty="0"/>
          </a:p>
        </p:txBody>
      </p:sp>
      <p:sp>
        <p:nvSpPr>
          <p:cNvPr id="29" name="Text 27"/>
          <p:cNvSpPr txBox="1"/>
          <p:nvPr/>
        </p:nvSpPr>
        <p:spPr>
          <a:xfrm>
            <a:off x="31394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30" name="Shape 28"/>
          <p:cNvSpPr/>
          <p:nvPr/>
        </p:nvSpPr>
        <p:spPr>
          <a:xfrm>
            <a:off x="34671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660767388140000000000" dist="1.32153477628e+21" dir="3.4992e+25">
              <a:srgbClr val="405875">
                <a:alpha val="1.2e+24"/>
              </a:srgbClr>
            </a:outerShdw>
          </a:effectLst>
        </p:spPr>
      </p:sp>
      <p:sp>
        <p:nvSpPr>
          <p:cNvPr id="31" name="Text 29"/>
          <p:cNvSpPr txBox="1"/>
          <p:nvPr/>
        </p:nvSpPr>
        <p:spPr>
          <a:xfrm>
            <a:off x="36576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02</a:t>
            </a:r>
            <a:endParaRPr lang="en-US" sz="780" dirty="0"/>
          </a:p>
        </p:txBody>
      </p:sp>
      <p:sp>
        <p:nvSpPr>
          <p:cNvPr id="32" name="Text 30"/>
          <p:cNvSpPr txBox="1"/>
          <p:nvPr/>
        </p:nvSpPr>
        <p:spPr>
          <a:xfrm>
            <a:off x="36576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Resolve</a:t>
            </a:r>
            <a:endParaRPr lang="en-US" sz="1500" dirty="0"/>
          </a:p>
        </p:txBody>
      </p:sp>
      <p:sp>
        <p:nvSpPr>
          <p:cNvPr id="33" name="Text 31"/>
          <p:cNvSpPr txBox="1"/>
          <p:nvPr/>
        </p:nvSpPr>
        <p:spPr>
          <a:xfrm>
            <a:off x="36576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one persistent identity</a:t>
            </a:r>
            <a:endParaRPr lang="en-US" sz="900" dirty="0"/>
          </a:p>
        </p:txBody>
      </p:sp>
      <p:sp>
        <p:nvSpPr>
          <p:cNvPr id="34" name="Text 32"/>
          <p:cNvSpPr txBox="1"/>
          <p:nvPr/>
        </p:nvSpPr>
        <p:spPr>
          <a:xfrm>
            <a:off x="59207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35" name="Shape 33"/>
          <p:cNvSpPr/>
          <p:nvPr/>
        </p:nvSpPr>
        <p:spPr>
          <a:xfrm>
            <a:off x="62484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8.391745829378e+24" dist="1.6783491658756e+25" dir="2.09952e+30">
              <a:srgbClr val="405875">
                <a:alpha val="1.2e+29"/>
              </a:srgbClr>
            </a:outerShdw>
          </a:effectLst>
        </p:spPr>
      </p:sp>
      <p:sp>
        <p:nvSpPr>
          <p:cNvPr id="36" name="Text 34"/>
          <p:cNvSpPr txBox="1"/>
          <p:nvPr/>
        </p:nvSpPr>
        <p:spPr>
          <a:xfrm>
            <a:off x="64389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03</a:t>
            </a:r>
            <a:endParaRPr lang="en-US" sz="780" dirty="0"/>
          </a:p>
        </p:txBody>
      </p:sp>
      <p:sp>
        <p:nvSpPr>
          <p:cNvPr id="37" name="Text 35"/>
          <p:cNvSpPr txBox="1"/>
          <p:nvPr/>
        </p:nvSpPr>
        <p:spPr>
          <a:xfrm>
            <a:off x="64389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Score</a:t>
            </a:r>
            <a:endParaRPr lang="en-US" sz="1500" dirty="0"/>
          </a:p>
        </p:txBody>
      </p:sp>
      <p:sp>
        <p:nvSpPr>
          <p:cNvPr id="38" name="Text 36"/>
          <p:cNvSpPr txBox="1"/>
          <p:nvPr/>
        </p:nvSpPr>
        <p:spPr>
          <a:xfrm>
            <a:off x="64389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thesis + momentum</a:t>
            </a:r>
            <a:endParaRPr lang="en-US" sz="900" dirty="0"/>
          </a:p>
        </p:txBody>
      </p:sp>
      <p:sp>
        <p:nvSpPr>
          <p:cNvPr id="39" name="Text 37"/>
          <p:cNvSpPr txBox="1"/>
          <p:nvPr/>
        </p:nvSpPr>
        <p:spPr>
          <a:xfrm>
            <a:off x="87020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40" name="Shape 38"/>
          <p:cNvSpPr/>
          <p:nvPr/>
        </p:nvSpPr>
        <p:spPr>
          <a:xfrm>
            <a:off x="90297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1.0657517203310059e+29" dist="2.1315034406620118e+29" dir="1.259712e+35">
              <a:srgbClr val="405875">
                <a:alpha val="1.2e+34"/>
              </a:srgbClr>
            </a:outerShdw>
          </a:effectLst>
        </p:spPr>
      </p:sp>
      <p:sp>
        <p:nvSpPr>
          <p:cNvPr id="41" name="Text 39"/>
          <p:cNvSpPr txBox="1"/>
          <p:nvPr/>
        </p:nvSpPr>
        <p:spPr>
          <a:xfrm>
            <a:off x="92202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04</a:t>
            </a:r>
            <a:endParaRPr lang="en-US" sz="780" dirty="0"/>
          </a:p>
        </p:txBody>
      </p:sp>
      <p:sp>
        <p:nvSpPr>
          <p:cNvPr id="42" name="Text 40"/>
          <p:cNvSpPr txBox="1"/>
          <p:nvPr/>
        </p:nvSpPr>
        <p:spPr>
          <a:xfrm>
            <a:off x="92202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Activate</a:t>
            </a:r>
            <a:endParaRPr lang="en-US" sz="1500" dirty="0"/>
          </a:p>
        </p:txBody>
      </p:sp>
      <p:sp>
        <p:nvSpPr>
          <p:cNvPr id="43" name="Text 41"/>
          <p:cNvSpPr txBox="1"/>
          <p:nvPr/>
        </p:nvSpPr>
        <p:spPr>
          <a:xfrm>
            <a:off x="92202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human-approved outreach</a:t>
            </a:r>
            <a:endParaRPr lang="en-US" sz="900" dirty="0"/>
          </a:p>
        </p:txBody>
      </p:sp>
      <p:sp>
        <p:nvSpPr>
          <p:cNvPr id="44" name="Text 42"/>
          <p:cNvSpPr txBox="1"/>
          <p:nvPr/>
        </p:nvSpPr>
        <p:spPr>
          <a:xfrm>
            <a:off x="685800" y="5753100"/>
            <a:ext cx="8534400" cy="243840"/>
          </a:xfrm>
          <a:prstGeom prst="rect">
            <a:avLst/>
          </a:prstGeom>
          <a:noFill/>
          <a:ln/>
        </p:spPr>
        <p:txBody>
          <a:bodyPr wrap="square" lIns="0" tIns="0" rIns="0" bIns="0" rtlCol="0" anchor="ctr">
            <a:normAutofit/>
          </a:bodyPr>
          <a:lstStyle/>
          <a:p>
            <a:pPr algn="l" indent="0" marL="0">
              <a:buNone/>
            </a:pPr>
            <a:r>
              <a:rPr lang="en-US" sz="1020" b="1" dirty="0">
                <a:solidFill>
                  <a:srgbClr val="344258"/>
                </a:solidFill>
                <a:latin typeface="Aptos" pitchFamily="34" charset="0"/>
                <a:ea typeface="Aptos" pitchFamily="34" charset="-122"/>
                <a:cs typeface="Aptos" pitchFamily="34" charset="-120"/>
              </a:rPr>
              <a:t>Cold outreach, never cold investment — every activated founder enters the same application funnel.</a:t>
            </a:r>
            <a:endParaRPr lang="en-US" sz="1020" dirty="0"/>
          </a:p>
        </p:txBody>
      </p:sp>
      <p:sp>
        <p:nvSpPr>
          <p:cNvPr id="45" name="Text 4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46" name="Text 4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04</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CORE 02 · EXPLAINABLE INTELLIGENCE</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Every score</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shows its work.</a:t>
            </a:r>
            <a:endParaRPr lang="en-US" sz="3120" dirty="0"/>
          </a:p>
        </p:txBody>
      </p:sp>
      <p:sp>
        <p:nvSpPr>
          <p:cNvPr id="4" name="Shape 2"/>
          <p:cNvSpPr/>
          <p:nvPr/>
        </p:nvSpPr>
        <p:spPr>
          <a:xfrm>
            <a:off x="685800" y="2057400"/>
            <a:ext cx="4876800" cy="518160"/>
          </a:xfrm>
          <a:prstGeom prst="roundRect">
            <a:avLst>
              <a:gd name="adj" fmla="val 21176"/>
            </a:avLst>
          </a:prstGeom>
          <a:solidFill>
            <a:srgbClr val="E7EEF9"/>
          </a:solidFill>
          <a:ln w="6350">
            <a:solidFill>
              <a:srgbClr val="E7EEF9">
                <a:alpha val="0"/>
              </a:srgbClr>
            </a:solidFill>
            <a:prstDash val="solid"/>
          </a:ln>
        </p:spPr>
      </p:sp>
      <p:sp>
        <p:nvSpPr>
          <p:cNvPr id="5" name="Shape 3"/>
          <p:cNvSpPr/>
          <p:nvPr/>
        </p:nvSpPr>
        <p:spPr>
          <a:xfrm>
            <a:off x="891540" y="2186940"/>
            <a:ext cx="76200" cy="76200"/>
          </a:xfrm>
          <a:prstGeom prst="ellipse">
            <a:avLst/>
          </a:prstGeom>
          <a:solidFill>
            <a:srgbClr val="557DC0"/>
          </a:solidFill>
          <a:ln w="12700">
            <a:solidFill>
              <a:srgbClr val="333333">
                <a:alpha val="0"/>
              </a:srgbClr>
            </a:solidFill>
            <a:prstDash val="solid"/>
          </a:ln>
        </p:spPr>
      </p:sp>
      <p:sp>
        <p:nvSpPr>
          <p:cNvPr id="6" name="Text 4"/>
          <p:cNvSpPr txBox="1"/>
          <p:nvPr/>
        </p:nvSpPr>
        <p:spPr>
          <a:xfrm>
            <a:off x="1104900" y="210312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557DC0"/>
                </a:solidFill>
                <a:latin typeface="Aptos" pitchFamily="34" charset="0"/>
                <a:ea typeface="Aptos" pitchFamily="34" charset="-122"/>
                <a:cs typeface="Aptos" pitchFamily="34" charset="-120"/>
              </a:rPr>
              <a:t>SOURCE SNAPSHOT</a:t>
            </a:r>
            <a:endParaRPr lang="en-US" sz="720" dirty="0"/>
          </a:p>
        </p:txBody>
      </p:sp>
      <p:sp>
        <p:nvSpPr>
          <p:cNvPr id="7" name="Text 5"/>
          <p:cNvSpPr txBox="1"/>
          <p:nvPr/>
        </p:nvSpPr>
        <p:spPr>
          <a:xfrm>
            <a:off x="2895600" y="211836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Immutable deck, repo, page or post</a:t>
            </a:r>
            <a:endParaRPr lang="en-US" sz="780" dirty="0"/>
          </a:p>
        </p:txBody>
      </p:sp>
      <p:sp>
        <p:nvSpPr>
          <p:cNvPr id="8" name="Shape 6"/>
          <p:cNvSpPr/>
          <p:nvPr/>
        </p:nvSpPr>
        <p:spPr>
          <a:xfrm>
            <a:off x="3124200" y="2575560"/>
            <a:ext cx="0" cy="152400"/>
          </a:xfrm>
          <a:prstGeom prst="line">
            <a:avLst/>
          </a:prstGeom>
          <a:noFill/>
          <a:ln w="25400">
            <a:solidFill>
              <a:srgbClr val="DCE5F0"/>
            </a:solidFill>
            <a:prstDash val="solid"/>
            <a:headEnd type="none"/>
            <a:tailEnd type="none"/>
          </a:ln>
        </p:spPr>
      </p:sp>
      <p:sp>
        <p:nvSpPr>
          <p:cNvPr id="9" name="Shape 7"/>
          <p:cNvSpPr/>
          <p:nvPr/>
        </p:nvSpPr>
        <p:spPr>
          <a:xfrm>
            <a:off x="685800" y="2727960"/>
            <a:ext cx="4876800" cy="518160"/>
          </a:xfrm>
          <a:prstGeom prst="roundRect">
            <a:avLst>
              <a:gd name="adj" fmla="val 21176"/>
            </a:avLst>
          </a:prstGeom>
          <a:solidFill>
            <a:srgbClr val="EEE8F8"/>
          </a:solidFill>
          <a:ln w="6350">
            <a:solidFill>
              <a:srgbClr val="EEE8F8">
                <a:alpha val="0"/>
              </a:srgbClr>
            </a:solidFill>
            <a:prstDash val="solid"/>
          </a:ln>
        </p:spPr>
      </p:sp>
      <p:sp>
        <p:nvSpPr>
          <p:cNvPr id="10" name="Shape 8"/>
          <p:cNvSpPr/>
          <p:nvPr/>
        </p:nvSpPr>
        <p:spPr>
          <a:xfrm>
            <a:off x="891540" y="2857500"/>
            <a:ext cx="76200" cy="76200"/>
          </a:xfrm>
          <a:prstGeom prst="ellipse">
            <a:avLst/>
          </a:prstGeom>
          <a:solidFill>
            <a:srgbClr val="7656A5"/>
          </a:solidFill>
          <a:ln w="12700">
            <a:solidFill>
              <a:srgbClr val="333333">
                <a:alpha val="0"/>
              </a:srgbClr>
            </a:solidFill>
            <a:prstDash val="solid"/>
          </a:ln>
        </p:spPr>
      </p:sp>
      <p:sp>
        <p:nvSpPr>
          <p:cNvPr id="11" name="Text 9"/>
          <p:cNvSpPr txBox="1"/>
          <p:nvPr/>
        </p:nvSpPr>
        <p:spPr>
          <a:xfrm>
            <a:off x="1104900" y="277368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7656A5"/>
                </a:solidFill>
                <a:latin typeface="Aptos" pitchFamily="34" charset="0"/>
                <a:ea typeface="Aptos" pitchFamily="34" charset="-122"/>
                <a:cs typeface="Aptos" pitchFamily="34" charset="-120"/>
              </a:rPr>
              <a:t>OBSERVATION</a:t>
            </a:r>
            <a:endParaRPr lang="en-US" sz="720" dirty="0"/>
          </a:p>
        </p:txBody>
      </p:sp>
      <p:sp>
        <p:nvSpPr>
          <p:cNvPr id="12" name="Text 10"/>
          <p:cNvSpPr txBox="1"/>
          <p:nvPr/>
        </p:nvSpPr>
        <p:spPr>
          <a:xfrm>
            <a:off x="2895600" y="278892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Timestamped extraction with provenance</a:t>
            </a:r>
            <a:endParaRPr lang="en-US" sz="780" dirty="0"/>
          </a:p>
        </p:txBody>
      </p:sp>
      <p:sp>
        <p:nvSpPr>
          <p:cNvPr id="13" name="Shape 11"/>
          <p:cNvSpPr/>
          <p:nvPr/>
        </p:nvSpPr>
        <p:spPr>
          <a:xfrm>
            <a:off x="3124200" y="3246120"/>
            <a:ext cx="0" cy="152400"/>
          </a:xfrm>
          <a:prstGeom prst="line">
            <a:avLst/>
          </a:prstGeom>
          <a:noFill/>
          <a:ln w="25400">
            <a:solidFill>
              <a:srgbClr val="DCE5F0"/>
            </a:solidFill>
            <a:prstDash val="solid"/>
            <a:headEnd type="none"/>
            <a:tailEnd type="none"/>
          </a:ln>
        </p:spPr>
      </p:sp>
      <p:sp>
        <p:nvSpPr>
          <p:cNvPr id="14" name="Shape 12"/>
          <p:cNvSpPr/>
          <p:nvPr/>
        </p:nvSpPr>
        <p:spPr>
          <a:xfrm>
            <a:off x="685800" y="3398520"/>
            <a:ext cx="4876800" cy="518160"/>
          </a:xfrm>
          <a:prstGeom prst="roundRect">
            <a:avLst>
              <a:gd name="adj" fmla="val 21176"/>
            </a:avLst>
          </a:prstGeom>
          <a:solidFill>
            <a:srgbClr val="FFF1DF"/>
          </a:solidFill>
          <a:ln w="6350">
            <a:solidFill>
              <a:srgbClr val="FFF1DF">
                <a:alpha val="0"/>
              </a:srgbClr>
            </a:solidFill>
            <a:prstDash val="solid"/>
          </a:ln>
        </p:spPr>
      </p:sp>
      <p:sp>
        <p:nvSpPr>
          <p:cNvPr id="15" name="Shape 13"/>
          <p:cNvSpPr/>
          <p:nvPr/>
        </p:nvSpPr>
        <p:spPr>
          <a:xfrm>
            <a:off x="891540" y="3528060"/>
            <a:ext cx="76200" cy="76200"/>
          </a:xfrm>
          <a:prstGeom prst="ellipse">
            <a:avLst/>
          </a:prstGeom>
          <a:solidFill>
            <a:srgbClr val="B87932"/>
          </a:solidFill>
          <a:ln w="12700">
            <a:solidFill>
              <a:srgbClr val="333333">
                <a:alpha val="0"/>
              </a:srgbClr>
            </a:solidFill>
            <a:prstDash val="solid"/>
          </a:ln>
        </p:spPr>
      </p:sp>
      <p:sp>
        <p:nvSpPr>
          <p:cNvPr id="16" name="Text 14"/>
          <p:cNvSpPr txBox="1"/>
          <p:nvPr/>
        </p:nvSpPr>
        <p:spPr>
          <a:xfrm>
            <a:off x="1104900" y="344424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B87932"/>
                </a:solidFill>
                <a:latin typeface="Aptos" pitchFamily="34" charset="0"/>
                <a:ea typeface="Aptos" pitchFamily="34" charset="-122"/>
                <a:cs typeface="Aptos" pitchFamily="34" charset="-120"/>
              </a:rPr>
              <a:t>CLAIM</a:t>
            </a:r>
            <a:endParaRPr lang="en-US" sz="720" dirty="0"/>
          </a:p>
        </p:txBody>
      </p:sp>
      <p:sp>
        <p:nvSpPr>
          <p:cNvPr id="17" name="Text 15"/>
          <p:cNvSpPr txBox="1"/>
          <p:nvPr/>
        </p:nvSpPr>
        <p:spPr>
          <a:xfrm>
            <a:off x="2895600" y="345948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Reconciled assertion + contradiction state</a:t>
            </a:r>
            <a:endParaRPr lang="en-US" sz="780" dirty="0"/>
          </a:p>
        </p:txBody>
      </p:sp>
      <p:sp>
        <p:nvSpPr>
          <p:cNvPr id="18" name="Shape 16"/>
          <p:cNvSpPr/>
          <p:nvPr/>
        </p:nvSpPr>
        <p:spPr>
          <a:xfrm>
            <a:off x="3124200" y="3916680"/>
            <a:ext cx="0" cy="152400"/>
          </a:xfrm>
          <a:prstGeom prst="line">
            <a:avLst/>
          </a:prstGeom>
          <a:noFill/>
          <a:ln w="25400">
            <a:solidFill>
              <a:srgbClr val="DCE5F0"/>
            </a:solidFill>
            <a:prstDash val="solid"/>
            <a:headEnd type="none"/>
            <a:tailEnd type="none"/>
          </a:ln>
        </p:spPr>
      </p:sp>
      <p:sp>
        <p:nvSpPr>
          <p:cNvPr id="19" name="Shape 17"/>
          <p:cNvSpPr/>
          <p:nvPr/>
        </p:nvSpPr>
        <p:spPr>
          <a:xfrm>
            <a:off x="685800" y="4069080"/>
            <a:ext cx="4876800" cy="518160"/>
          </a:xfrm>
          <a:prstGeom prst="roundRect">
            <a:avLst>
              <a:gd name="adj" fmla="val 21176"/>
            </a:avLst>
          </a:prstGeom>
          <a:solidFill>
            <a:srgbClr val="E4F2ED"/>
          </a:solidFill>
          <a:ln w="6350">
            <a:solidFill>
              <a:srgbClr val="E4F2ED">
                <a:alpha val="0"/>
              </a:srgbClr>
            </a:solidFill>
            <a:prstDash val="solid"/>
          </a:ln>
        </p:spPr>
      </p:sp>
      <p:sp>
        <p:nvSpPr>
          <p:cNvPr id="20" name="Shape 18"/>
          <p:cNvSpPr/>
          <p:nvPr/>
        </p:nvSpPr>
        <p:spPr>
          <a:xfrm>
            <a:off x="891540" y="4198620"/>
            <a:ext cx="76200" cy="76200"/>
          </a:xfrm>
          <a:prstGeom prst="ellipse">
            <a:avLst/>
          </a:prstGeom>
          <a:solidFill>
            <a:srgbClr val="2F8B72"/>
          </a:solidFill>
          <a:ln w="12700">
            <a:solidFill>
              <a:srgbClr val="333333">
                <a:alpha val="0"/>
              </a:srgbClr>
            </a:solidFill>
            <a:prstDash val="solid"/>
          </a:ln>
        </p:spPr>
      </p:sp>
      <p:sp>
        <p:nvSpPr>
          <p:cNvPr id="21" name="Text 19"/>
          <p:cNvSpPr txBox="1"/>
          <p:nvPr/>
        </p:nvSpPr>
        <p:spPr>
          <a:xfrm>
            <a:off x="1104900" y="411480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2F8B72"/>
                </a:solidFill>
                <a:latin typeface="Aptos" pitchFamily="34" charset="0"/>
                <a:ea typeface="Aptos" pitchFamily="34" charset="-122"/>
                <a:cs typeface="Aptos" pitchFamily="34" charset="-120"/>
              </a:rPr>
              <a:t>AXIS SCORE</a:t>
            </a:r>
            <a:endParaRPr lang="en-US" sz="720" dirty="0"/>
          </a:p>
        </p:txBody>
      </p:sp>
      <p:sp>
        <p:nvSpPr>
          <p:cNvPr id="22" name="Text 20"/>
          <p:cNvSpPr txBox="1"/>
          <p:nvPr/>
        </p:nvSpPr>
        <p:spPr>
          <a:xfrm>
            <a:off x="2895600" y="413004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Versioned result linked to supporting claims</a:t>
            </a:r>
            <a:endParaRPr lang="en-US" sz="780" dirty="0"/>
          </a:p>
        </p:txBody>
      </p:sp>
      <p:sp>
        <p:nvSpPr>
          <p:cNvPr id="23" name="Shape 21"/>
          <p:cNvSpPr/>
          <p:nvPr/>
        </p:nvSpPr>
        <p:spPr>
          <a:xfrm>
            <a:off x="3124200" y="4587240"/>
            <a:ext cx="0" cy="152400"/>
          </a:xfrm>
          <a:prstGeom prst="line">
            <a:avLst/>
          </a:prstGeom>
          <a:noFill/>
          <a:ln w="25400">
            <a:solidFill>
              <a:srgbClr val="DCE5F0"/>
            </a:solidFill>
            <a:prstDash val="solid"/>
            <a:headEnd type="none"/>
            <a:tailEnd type="none"/>
          </a:ln>
        </p:spPr>
      </p:sp>
      <p:sp>
        <p:nvSpPr>
          <p:cNvPr id="24" name="Shape 22"/>
          <p:cNvSpPr/>
          <p:nvPr/>
        </p:nvSpPr>
        <p:spPr>
          <a:xfrm>
            <a:off x="685800" y="4739640"/>
            <a:ext cx="4876800" cy="518160"/>
          </a:xfrm>
          <a:prstGeom prst="roundRect">
            <a:avLst>
              <a:gd name="adj" fmla="val 21176"/>
            </a:avLst>
          </a:prstGeom>
          <a:solidFill>
            <a:srgbClr val="EAF0F6"/>
          </a:solidFill>
          <a:ln w="6350">
            <a:solidFill>
              <a:srgbClr val="EAF0F6">
                <a:alpha val="0"/>
              </a:srgbClr>
            </a:solidFill>
            <a:prstDash val="solid"/>
          </a:ln>
        </p:spPr>
      </p:sp>
      <p:sp>
        <p:nvSpPr>
          <p:cNvPr id="25" name="Shape 23"/>
          <p:cNvSpPr/>
          <p:nvPr/>
        </p:nvSpPr>
        <p:spPr>
          <a:xfrm>
            <a:off x="891540" y="4869180"/>
            <a:ext cx="76200" cy="76200"/>
          </a:xfrm>
          <a:prstGeom prst="ellipse">
            <a:avLst/>
          </a:prstGeom>
          <a:solidFill>
            <a:srgbClr val="344258"/>
          </a:solidFill>
          <a:ln w="12700">
            <a:solidFill>
              <a:srgbClr val="333333">
                <a:alpha val="0"/>
              </a:srgbClr>
            </a:solidFill>
            <a:prstDash val="solid"/>
          </a:ln>
        </p:spPr>
      </p:sp>
      <p:sp>
        <p:nvSpPr>
          <p:cNvPr id="26" name="Text 24"/>
          <p:cNvSpPr txBox="1"/>
          <p:nvPr/>
        </p:nvSpPr>
        <p:spPr>
          <a:xfrm>
            <a:off x="1104900" y="478536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344258"/>
                </a:solidFill>
                <a:latin typeface="Aptos" pitchFamily="34" charset="0"/>
                <a:ea typeface="Aptos" pitchFamily="34" charset="-122"/>
                <a:cs typeface="Aptos" pitchFamily="34" charset="-120"/>
              </a:rPr>
              <a:t>DECISION MEMO</a:t>
            </a:r>
            <a:endParaRPr lang="en-US" sz="720" dirty="0"/>
          </a:p>
        </p:txBody>
      </p:sp>
      <p:sp>
        <p:nvSpPr>
          <p:cNvPr id="27" name="Text 25"/>
          <p:cNvSpPr txBox="1"/>
          <p:nvPr/>
        </p:nvSpPr>
        <p:spPr>
          <a:xfrm>
            <a:off x="2895600" y="480060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Investor conclusion with a complete audit trail</a:t>
            </a:r>
            <a:endParaRPr lang="en-US" sz="780" dirty="0"/>
          </a:p>
        </p:txBody>
      </p:sp>
      <p:sp>
        <p:nvSpPr>
          <p:cNvPr id="28" name="Shape 26"/>
          <p:cNvSpPr/>
          <p:nvPr/>
        </p:nvSpPr>
        <p:spPr>
          <a:xfrm>
            <a:off x="6248400" y="1981200"/>
            <a:ext cx="5257800" cy="3962400"/>
          </a:xfrm>
          <a:prstGeom prst="roundRect">
            <a:avLst>
              <a:gd name="adj" fmla="val 4154"/>
            </a:avLst>
          </a:prstGeom>
          <a:solidFill>
            <a:srgbClr val="FFFFFF"/>
          </a:solidFill>
          <a:ln w="6350">
            <a:solidFill>
              <a:srgbClr val="FFFFFF">
                <a:alpha val="0"/>
              </a:srgbClr>
            </a:solidFill>
            <a:prstDash val="solid"/>
          </a:ln>
          <a:effectLst>
            <a:outerShdw sx="100000" sy="100000" kx="0" ky="0" algn="bl" rotWithShape="0" blurRad="1.3535046848203775e+33" dist="2.707009369640755e+33" dir="7.558272e+39">
              <a:srgbClr val="405875">
                <a:alpha val="1.1999999999999999e+39"/>
              </a:srgbClr>
            </a:outerShdw>
          </a:effectLst>
        </p:spPr>
      </p:sp>
      <p:sp>
        <p:nvSpPr>
          <p:cNvPr id="29" name="Text 27"/>
          <p:cNvSpPr txBox="1"/>
          <p:nvPr/>
        </p:nvSpPr>
        <p:spPr>
          <a:xfrm>
            <a:off x="6591300" y="2171700"/>
            <a:ext cx="2895600" cy="228600"/>
          </a:xfrm>
          <a:prstGeom prst="rect">
            <a:avLst/>
          </a:prstGeom>
          <a:noFill/>
          <a:ln/>
        </p:spPr>
        <p:txBody>
          <a:bodyPr wrap="square" lIns="0" tIns="0" rIns="0" bIns="0" rtlCol="0" anchor="ctr">
            <a:normAutofit/>
          </a:bodyPr>
          <a:lstStyle/>
          <a:p>
            <a:pPr algn="l" indent="0" marL="0">
              <a:buNone/>
            </a:pPr>
            <a:r>
              <a:rPr lang="en-US" sz="780" b="1" spc="170" kern="0" dirty="0">
                <a:solidFill>
                  <a:srgbClr val="557DC0"/>
                </a:solidFill>
                <a:latin typeface="Aptos" pitchFamily="34" charset="0"/>
                <a:ea typeface="Aptos" pitchFamily="34" charset="-122"/>
                <a:cs typeface="Aptos" pitchFamily="34" charset="-120"/>
              </a:rPr>
              <a:t>EXPLAINABILITY CONTRACT</a:t>
            </a:r>
            <a:endParaRPr lang="en-US" sz="780" dirty="0"/>
          </a:p>
        </p:txBody>
      </p:sp>
      <p:sp>
        <p:nvSpPr>
          <p:cNvPr id="30" name="Text 28"/>
          <p:cNvSpPr txBox="1"/>
          <p:nvPr/>
        </p:nvSpPr>
        <p:spPr>
          <a:xfrm>
            <a:off x="6591300" y="2552700"/>
            <a:ext cx="3962400" cy="685800"/>
          </a:xfrm>
          <a:prstGeom prst="rect">
            <a:avLst/>
          </a:prstGeom>
          <a:noFill/>
          <a:ln/>
        </p:spPr>
        <p:txBody>
          <a:bodyPr wrap="square" lIns="0" tIns="0" rIns="0" bIns="0" rtlCol="0" anchor="t">
            <a:normAutofit/>
          </a:bodyPr>
          <a:lstStyle/>
          <a:p>
            <a:pPr algn="l" indent="0" marL="0">
              <a:buNone/>
            </a:pPr>
            <a:r>
              <a:rPr lang="en-US" sz="2280" b="1" dirty="0">
                <a:solidFill>
                  <a:srgbClr val="172337"/>
                </a:solidFill>
                <a:latin typeface="Aptos Display" pitchFamily="34" charset="0"/>
                <a:ea typeface="Aptos Display" pitchFamily="34" charset="-122"/>
                <a:cs typeface="Aptos Display" pitchFamily="34" charset="-120"/>
              </a:rPr>
              <a:t>Every claim answers</a:t>
            </a:r>
            <a:endParaRPr lang="en-US" sz="2280" dirty="0"/>
          </a:p>
          <a:p>
            <a:pPr algn="l" indent="0" marL="0">
              <a:buNone/>
            </a:pPr>
            <a:r>
              <a:rPr lang="en-US" sz="2280" b="1" dirty="0">
                <a:solidFill>
                  <a:srgbClr val="172337"/>
                </a:solidFill>
                <a:latin typeface="Aptos Display" pitchFamily="34" charset="0"/>
                <a:ea typeface="Aptos Display" pitchFamily="34" charset="-122"/>
                <a:cs typeface="Aptos Display" pitchFamily="34" charset="-120"/>
              </a:rPr>
              <a:t>four questions.</a:t>
            </a:r>
            <a:endParaRPr lang="en-US" sz="2280" dirty="0"/>
          </a:p>
        </p:txBody>
      </p:sp>
      <p:sp>
        <p:nvSpPr>
          <p:cNvPr id="31" name="Text 29"/>
          <p:cNvSpPr txBox="1"/>
          <p:nvPr/>
        </p:nvSpPr>
        <p:spPr>
          <a:xfrm>
            <a:off x="6591300" y="358140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557DC0"/>
                </a:solidFill>
                <a:latin typeface="Aptos" pitchFamily="34" charset="0"/>
                <a:ea typeface="Aptos" pitchFamily="34" charset="-122"/>
                <a:cs typeface="Aptos" pitchFamily="34" charset="-120"/>
              </a:rPr>
              <a:t>01</a:t>
            </a:r>
            <a:endParaRPr lang="en-US" sz="840" dirty="0"/>
          </a:p>
        </p:txBody>
      </p:sp>
      <p:sp>
        <p:nvSpPr>
          <p:cNvPr id="32" name="Text 30"/>
          <p:cNvSpPr txBox="1"/>
          <p:nvPr/>
        </p:nvSpPr>
        <p:spPr>
          <a:xfrm>
            <a:off x="6972300" y="358140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Where did it come from?</a:t>
            </a:r>
            <a:endParaRPr lang="en-US" sz="1080" dirty="0"/>
          </a:p>
        </p:txBody>
      </p:sp>
      <p:sp>
        <p:nvSpPr>
          <p:cNvPr id="33" name="Text 31"/>
          <p:cNvSpPr txBox="1"/>
          <p:nvPr/>
        </p:nvSpPr>
        <p:spPr>
          <a:xfrm>
            <a:off x="6591300" y="402336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7656A5"/>
                </a:solidFill>
                <a:latin typeface="Aptos" pitchFamily="34" charset="0"/>
                <a:ea typeface="Aptos" pitchFamily="34" charset="-122"/>
                <a:cs typeface="Aptos" pitchFamily="34" charset="-120"/>
              </a:rPr>
              <a:t>02</a:t>
            </a:r>
            <a:endParaRPr lang="en-US" sz="840" dirty="0"/>
          </a:p>
        </p:txBody>
      </p:sp>
      <p:sp>
        <p:nvSpPr>
          <p:cNvPr id="34" name="Text 32"/>
          <p:cNvSpPr txBox="1"/>
          <p:nvPr/>
        </p:nvSpPr>
        <p:spPr>
          <a:xfrm>
            <a:off x="6972300" y="402336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When was it observed?</a:t>
            </a:r>
            <a:endParaRPr lang="en-US" sz="1080" dirty="0"/>
          </a:p>
        </p:txBody>
      </p:sp>
      <p:sp>
        <p:nvSpPr>
          <p:cNvPr id="35" name="Text 33"/>
          <p:cNvSpPr txBox="1"/>
          <p:nvPr/>
        </p:nvSpPr>
        <p:spPr>
          <a:xfrm>
            <a:off x="6591300" y="446532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B87932"/>
                </a:solidFill>
                <a:latin typeface="Aptos" pitchFamily="34" charset="0"/>
                <a:ea typeface="Aptos" pitchFamily="34" charset="-122"/>
                <a:cs typeface="Aptos" pitchFamily="34" charset="-120"/>
              </a:rPr>
              <a:t>03</a:t>
            </a:r>
            <a:endParaRPr lang="en-US" sz="840" dirty="0"/>
          </a:p>
        </p:txBody>
      </p:sp>
      <p:sp>
        <p:nvSpPr>
          <p:cNvPr id="36" name="Text 34"/>
          <p:cNvSpPr txBox="1"/>
          <p:nvPr/>
        </p:nvSpPr>
        <p:spPr>
          <a:xfrm>
            <a:off x="6972300" y="446532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How confident are we?</a:t>
            </a:r>
            <a:endParaRPr lang="en-US" sz="1080" dirty="0"/>
          </a:p>
        </p:txBody>
      </p:sp>
      <p:sp>
        <p:nvSpPr>
          <p:cNvPr id="37" name="Text 35"/>
          <p:cNvSpPr txBox="1"/>
          <p:nvPr/>
        </p:nvSpPr>
        <p:spPr>
          <a:xfrm>
            <a:off x="6591300" y="490728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2F8B72"/>
                </a:solidFill>
                <a:latin typeface="Aptos" pitchFamily="34" charset="0"/>
                <a:ea typeface="Aptos" pitchFamily="34" charset="-122"/>
                <a:cs typeface="Aptos" pitchFamily="34" charset="-120"/>
              </a:rPr>
              <a:t>04</a:t>
            </a:r>
            <a:endParaRPr lang="en-US" sz="840" dirty="0"/>
          </a:p>
        </p:txBody>
      </p:sp>
      <p:sp>
        <p:nvSpPr>
          <p:cNvPr id="38" name="Text 36"/>
          <p:cNvSpPr txBox="1"/>
          <p:nvPr/>
        </p:nvSpPr>
        <p:spPr>
          <a:xfrm>
            <a:off x="6972300" y="490728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What contradicts it?</a:t>
            </a:r>
            <a:endParaRPr lang="en-US" sz="1080" dirty="0"/>
          </a:p>
        </p:txBody>
      </p:sp>
      <p:sp>
        <p:nvSpPr>
          <p:cNvPr id="39" name="Shape 37"/>
          <p:cNvSpPr/>
          <p:nvPr/>
        </p:nvSpPr>
        <p:spPr>
          <a:xfrm>
            <a:off x="6591300" y="5471160"/>
            <a:ext cx="2133600" cy="266700"/>
          </a:xfrm>
          <a:prstGeom prst="roundRect">
            <a:avLst>
              <a:gd name="adj" fmla="val 54857"/>
            </a:avLst>
          </a:prstGeom>
          <a:solidFill>
            <a:srgbClr val="E7EEF9"/>
          </a:solidFill>
          <a:ln w="6350">
            <a:solidFill>
              <a:srgbClr val="E7EEF9">
                <a:alpha val="0"/>
              </a:srgbClr>
            </a:solidFill>
            <a:prstDash val="solid"/>
          </a:ln>
        </p:spPr>
      </p:sp>
      <p:sp>
        <p:nvSpPr>
          <p:cNvPr id="40" name="Text 38"/>
          <p:cNvSpPr txBox="1"/>
          <p:nvPr/>
        </p:nvSpPr>
        <p:spPr>
          <a:xfrm>
            <a:off x="6667500" y="5494020"/>
            <a:ext cx="19812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CLICK SCORE → SOURCE</a:t>
            </a:r>
            <a:endParaRPr lang="en-US" sz="600" dirty="0"/>
          </a:p>
        </p:txBody>
      </p:sp>
      <p:sp>
        <p:nvSpPr>
          <p:cNvPr id="41" name="Shape 39"/>
          <p:cNvSpPr/>
          <p:nvPr/>
        </p:nvSpPr>
        <p:spPr>
          <a:xfrm>
            <a:off x="8839200" y="5471160"/>
            <a:ext cx="2324100" cy="266700"/>
          </a:xfrm>
          <a:prstGeom prst="roundRect">
            <a:avLst>
              <a:gd name="adj" fmla="val 54857"/>
            </a:avLst>
          </a:prstGeom>
          <a:solidFill>
            <a:srgbClr val="FBE8E9"/>
          </a:solidFill>
          <a:ln w="6350">
            <a:solidFill>
              <a:srgbClr val="FBE8E9">
                <a:alpha val="0"/>
              </a:srgbClr>
            </a:solidFill>
            <a:prstDash val="solid"/>
          </a:ln>
        </p:spPr>
      </p:sp>
      <p:sp>
        <p:nvSpPr>
          <p:cNvPr id="42" name="Text 40"/>
          <p:cNvSpPr txBox="1"/>
          <p:nvPr/>
        </p:nvSpPr>
        <p:spPr>
          <a:xfrm>
            <a:off x="8915400" y="5494020"/>
            <a:ext cx="21717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B9575F"/>
                </a:solidFill>
                <a:latin typeface="Aptos" pitchFamily="34" charset="0"/>
                <a:ea typeface="Aptos" pitchFamily="34" charset="-122"/>
                <a:cs typeface="Aptos" pitchFamily="34" charset="-120"/>
              </a:rPr>
              <a:t>MISSING DATA ≠ BAD FOUNDER</a:t>
            </a:r>
            <a:endParaRPr lang="en-US" sz="600" dirty="0"/>
          </a:p>
        </p:txBody>
      </p:sp>
      <p:sp>
        <p:nvSpPr>
          <p:cNvPr id="43" name="Text 41"/>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44" name="Text 42"/>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05</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EXPLAINABILITY, NOT A BLACK BOX</a:t>
            </a:r>
            <a:endParaRPr lang="en-US" sz="900" dirty="0"/>
          </a:p>
        </p:txBody>
      </p:sp>
      <p:sp>
        <p:nvSpPr>
          <p:cNvPr id="3" name="Text 1"/>
          <p:cNvSpPr txBox="1"/>
          <p:nvPr/>
        </p:nvSpPr>
        <p:spPr>
          <a:xfrm>
            <a:off x="685800" y="800100"/>
            <a:ext cx="5791200" cy="792480"/>
          </a:xfrm>
          <a:prstGeom prst="rect">
            <a:avLst/>
          </a:prstGeom>
          <a:noFill/>
          <a:ln/>
        </p:spPr>
        <p:txBody>
          <a:bodyPr wrap="square" lIns="0" tIns="0" rIns="0" bIns="0" rtlCol="0" anchor="t">
            <a:normAutofit/>
          </a:bodyPr>
          <a:lstStyle/>
          <a:p>
            <a:pPr algn="l" indent="0" marL="0">
              <a:buNone/>
            </a:pPr>
            <a:r>
              <a:rPr lang="en-US" sz="3000" b="1" dirty="0">
                <a:solidFill>
                  <a:srgbClr val="172337"/>
                </a:solidFill>
                <a:latin typeface="Aptos Display" pitchFamily="34" charset="0"/>
                <a:ea typeface="Aptos Display" pitchFamily="34" charset="-122"/>
                <a:cs typeface="Aptos Display" pitchFamily="34" charset="-120"/>
              </a:rPr>
              <a:t>A score is not</a:t>
            </a:r>
            <a:endParaRPr lang="en-US" sz="3000" dirty="0"/>
          </a:p>
          <a:p>
            <a:pPr algn="l" indent="0" marL="0">
              <a:buNone/>
            </a:pPr>
            <a:r>
              <a:rPr lang="en-US" sz="3000" b="1" dirty="0">
                <a:solidFill>
                  <a:srgbClr val="172337"/>
                </a:solidFill>
                <a:latin typeface="Aptos Display" pitchFamily="34" charset="0"/>
                <a:ea typeface="Aptos Display" pitchFamily="34" charset="-122"/>
                <a:cs typeface="Aptos Display" pitchFamily="34" charset="-120"/>
              </a:rPr>
              <a:t>an answer.</a:t>
            </a:r>
            <a:endParaRPr lang="en-US" sz="3000" dirty="0"/>
          </a:p>
        </p:txBody>
      </p:sp>
      <p:sp>
        <p:nvSpPr>
          <p:cNvPr id="4" name="Text 2"/>
          <p:cNvSpPr txBox="1"/>
          <p:nvPr/>
        </p:nvSpPr>
        <p:spPr>
          <a:xfrm>
            <a:off x="685800" y="1722120"/>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Three independent axes preserve disagreement — each with evidence, confidence and trend.</a:t>
            </a:r>
            <a:endParaRPr lang="en-US" sz="1200" dirty="0"/>
          </a:p>
        </p:txBody>
      </p:sp>
      <p:sp>
        <p:nvSpPr>
          <p:cNvPr id="5" name="Shape 3"/>
          <p:cNvSpPr/>
          <p:nvPr/>
        </p:nvSpPr>
        <p:spPr>
          <a:xfrm>
            <a:off x="6858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1.7189509497218795e+37" dist="3.437901899443759e+37" dir="4.5349632000000006e+44">
              <a:srgbClr val="405875">
                <a:alpha val="1.1999999999999999e+44"/>
              </a:srgbClr>
            </a:outerShdw>
          </a:effectLst>
        </p:spPr>
      </p:sp>
      <p:sp>
        <p:nvSpPr>
          <p:cNvPr id="6" name="Text 4"/>
          <p:cNvSpPr txBox="1"/>
          <p:nvPr/>
        </p:nvSpPr>
        <p:spPr>
          <a:xfrm>
            <a:off x="9144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Founder</a:t>
            </a:r>
            <a:endParaRPr lang="en-US" sz="1320" dirty="0"/>
          </a:p>
        </p:txBody>
      </p:sp>
      <p:sp>
        <p:nvSpPr>
          <p:cNvPr id="7" name="Text 5"/>
          <p:cNvSpPr txBox="1"/>
          <p:nvPr/>
        </p:nvSpPr>
        <p:spPr>
          <a:xfrm>
            <a:off x="32004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2F8B72"/>
                </a:solidFill>
                <a:latin typeface="Aptos Display" pitchFamily="34" charset="0"/>
                <a:ea typeface="Aptos Display" pitchFamily="34" charset="-122"/>
                <a:cs typeface="Aptos Display" pitchFamily="34" charset="-120"/>
              </a:rPr>
              <a:t>82</a:t>
            </a:r>
            <a:endParaRPr lang="en-US" sz="2520" dirty="0"/>
          </a:p>
        </p:txBody>
      </p:sp>
      <p:sp>
        <p:nvSpPr>
          <p:cNvPr id="8" name="Shape 6"/>
          <p:cNvSpPr/>
          <p:nvPr/>
        </p:nvSpPr>
        <p:spPr>
          <a:xfrm>
            <a:off x="914400" y="2872740"/>
            <a:ext cx="952500" cy="266700"/>
          </a:xfrm>
          <a:prstGeom prst="roundRect">
            <a:avLst>
              <a:gd name="adj" fmla="val 54857"/>
            </a:avLst>
          </a:prstGeom>
          <a:solidFill>
            <a:srgbClr val="E4F2ED"/>
          </a:solidFill>
          <a:ln w="6350">
            <a:solidFill>
              <a:srgbClr val="E4F2ED">
                <a:alpha val="0"/>
              </a:srgbClr>
            </a:solidFill>
            <a:prstDash val="solid"/>
          </a:ln>
        </p:spPr>
      </p:sp>
      <p:sp>
        <p:nvSpPr>
          <p:cNvPr id="9" name="Text 7"/>
          <p:cNvSpPr txBox="1"/>
          <p:nvPr/>
        </p:nvSpPr>
        <p:spPr>
          <a:xfrm>
            <a:off x="9906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2F8B72"/>
                </a:solidFill>
                <a:latin typeface="Aptos" pitchFamily="34" charset="0"/>
                <a:ea typeface="Aptos" pitchFamily="34" charset="-122"/>
                <a:cs typeface="Aptos" pitchFamily="34" charset="-120"/>
              </a:rPr>
              <a:t>BULLISH</a:t>
            </a:r>
            <a:endParaRPr lang="en-US" sz="600" dirty="0"/>
          </a:p>
        </p:txBody>
      </p:sp>
      <p:sp>
        <p:nvSpPr>
          <p:cNvPr id="10" name="Text 8"/>
          <p:cNvSpPr txBox="1"/>
          <p:nvPr/>
        </p:nvSpPr>
        <p:spPr>
          <a:xfrm>
            <a:off x="19964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Improving</a:t>
            </a:r>
            <a:endParaRPr lang="en-US" sz="780" dirty="0"/>
          </a:p>
        </p:txBody>
      </p:sp>
      <p:sp>
        <p:nvSpPr>
          <p:cNvPr id="11" name="Shape 9"/>
          <p:cNvSpPr/>
          <p:nvPr/>
        </p:nvSpPr>
        <p:spPr>
          <a:xfrm>
            <a:off x="914400" y="3467100"/>
            <a:ext cx="2933700" cy="60960"/>
          </a:xfrm>
          <a:prstGeom prst="roundRect">
            <a:avLst>
              <a:gd name="adj" fmla="val 75000"/>
            </a:avLst>
          </a:prstGeom>
          <a:solidFill>
            <a:srgbClr val="E4F2ED"/>
          </a:solidFill>
          <a:ln w="6350">
            <a:solidFill>
              <a:srgbClr val="E4F2ED">
                <a:alpha val="0"/>
              </a:srgbClr>
            </a:solidFill>
            <a:prstDash val="solid"/>
          </a:ln>
        </p:spPr>
      </p:sp>
      <p:sp>
        <p:nvSpPr>
          <p:cNvPr id="12" name="Shape 10"/>
          <p:cNvSpPr/>
          <p:nvPr/>
        </p:nvSpPr>
        <p:spPr>
          <a:xfrm>
            <a:off x="914400" y="3467100"/>
            <a:ext cx="2405634" cy="60960"/>
          </a:xfrm>
          <a:prstGeom prst="roundRect">
            <a:avLst>
              <a:gd name="adj" fmla="val 75000"/>
            </a:avLst>
          </a:prstGeom>
          <a:solidFill>
            <a:srgbClr val="2F8B72"/>
          </a:solidFill>
          <a:ln w="6350">
            <a:solidFill>
              <a:srgbClr val="2F8B72">
                <a:alpha val="0"/>
              </a:srgbClr>
            </a:solidFill>
            <a:prstDash val="solid"/>
          </a:ln>
        </p:spPr>
      </p:sp>
      <p:sp>
        <p:nvSpPr>
          <p:cNvPr id="13" name="Text 11"/>
          <p:cNvSpPr txBox="1"/>
          <p:nvPr/>
        </p:nvSpPr>
        <p:spPr>
          <a:xfrm>
            <a:off x="9144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14" name="Shape 12"/>
          <p:cNvSpPr/>
          <p:nvPr/>
        </p:nvSpPr>
        <p:spPr>
          <a:xfrm>
            <a:off x="914400" y="4724400"/>
            <a:ext cx="2933700" cy="0"/>
          </a:xfrm>
          <a:prstGeom prst="line">
            <a:avLst/>
          </a:prstGeom>
          <a:noFill/>
          <a:ln w="10160">
            <a:solidFill>
              <a:srgbClr val="DCE5F0"/>
            </a:solidFill>
            <a:prstDash val="dash"/>
            <a:headEnd type="none"/>
            <a:tailEnd type="none"/>
          </a:ln>
        </p:spPr>
      </p:sp>
      <p:sp>
        <p:nvSpPr>
          <p:cNvPr id="15" name="Shape 13"/>
          <p:cNvSpPr/>
          <p:nvPr/>
        </p:nvSpPr>
        <p:spPr>
          <a:xfrm rot="-620921">
            <a:off x="946704" y="4397502"/>
            <a:ext cx="712633" cy="914"/>
          </a:xfrm>
          <a:prstGeom prst="line">
            <a:avLst/>
          </a:prstGeom>
          <a:noFill/>
          <a:ln w="31750">
            <a:solidFill>
              <a:srgbClr val="2F8B72"/>
            </a:solidFill>
            <a:prstDash val="solid"/>
            <a:headEnd type="none"/>
            <a:tailEnd type="none"/>
          </a:ln>
        </p:spPr>
      </p:sp>
      <p:sp>
        <p:nvSpPr>
          <p:cNvPr id="16" name="Shape 14"/>
          <p:cNvSpPr/>
          <p:nvPr/>
        </p:nvSpPr>
        <p:spPr>
          <a:xfrm rot="-390661">
            <a:off x="1651264" y="4293489"/>
            <a:ext cx="705591" cy="914"/>
          </a:xfrm>
          <a:prstGeom prst="line">
            <a:avLst/>
          </a:prstGeom>
          <a:noFill/>
          <a:ln w="31750">
            <a:solidFill>
              <a:srgbClr val="2F8B72"/>
            </a:solidFill>
            <a:prstDash val="solid"/>
            <a:headEnd type="none"/>
            <a:tailEnd type="none"/>
          </a:ln>
        </p:spPr>
      </p:sp>
      <p:sp>
        <p:nvSpPr>
          <p:cNvPr id="17" name="Shape 15"/>
          <p:cNvSpPr/>
          <p:nvPr/>
        </p:nvSpPr>
        <p:spPr>
          <a:xfrm rot="-845691">
            <a:off x="2343700" y="4165473"/>
            <a:ext cx="722801" cy="914"/>
          </a:xfrm>
          <a:prstGeom prst="line">
            <a:avLst/>
          </a:prstGeom>
          <a:noFill/>
          <a:ln w="31750">
            <a:solidFill>
              <a:srgbClr val="2F8B72"/>
            </a:solidFill>
            <a:prstDash val="solid"/>
            <a:headEnd type="none"/>
            <a:tailEnd type="none"/>
          </a:ln>
        </p:spPr>
      </p:sp>
      <p:sp>
        <p:nvSpPr>
          <p:cNvPr id="18" name="Shape 16"/>
          <p:cNvSpPr/>
          <p:nvPr/>
        </p:nvSpPr>
        <p:spPr>
          <a:xfrm rot="-991661">
            <a:off x="3040513" y="3973449"/>
            <a:ext cx="731254" cy="914"/>
          </a:xfrm>
          <a:prstGeom prst="line">
            <a:avLst/>
          </a:prstGeom>
          <a:noFill/>
          <a:ln w="31750">
            <a:solidFill>
              <a:srgbClr val="2F8B72"/>
            </a:solidFill>
            <a:prstDash val="solid"/>
            <a:headEnd type="none"/>
            <a:tailEnd type="none"/>
          </a:ln>
        </p:spPr>
      </p:sp>
      <p:sp>
        <p:nvSpPr>
          <p:cNvPr id="19" name="Shape 17"/>
          <p:cNvSpPr/>
          <p:nvPr/>
        </p:nvSpPr>
        <p:spPr>
          <a:xfrm>
            <a:off x="914400" y="4423410"/>
            <a:ext cx="76200" cy="76200"/>
          </a:xfrm>
          <a:prstGeom prst="ellipse">
            <a:avLst/>
          </a:prstGeom>
          <a:solidFill>
            <a:srgbClr val="2F8B72"/>
          </a:solidFill>
          <a:ln w="12700">
            <a:solidFill>
              <a:srgbClr val="333333">
                <a:alpha val="0"/>
              </a:srgbClr>
            </a:solidFill>
            <a:prstDash val="solid"/>
          </a:ln>
        </p:spPr>
      </p:sp>
      <p:sp>
        <p:nvSpPr>
          <p:cNvPr id="20" name="Shape 18"/>
          <p:cNvSpPr/>
          <p:nvPr/>
        </p:nvSpPr>
        <p:spPr>
          <a:xfrm>
            <a:off x="1615440" y="4295394"/>
            <a:ext cx="76200" cy="76200"/>
          </a:xfrm>
          <a:prstGeom prst="ellipse">
            <a:avLst/>
          </a:prstGeom>
          <a:solidFill>
            <a:srgbClr val="2F8B72"/>
          </a:solidFill>
          <a:ln w="12700">
            <a:solidFill>
              <a:srgbClr val="333333">
                <a:alpha val="0"/>
              </a:srgbClr>
            </a:solidFill>
            <a:prstDash val="solid"/>
          </a:ln>
        </p:spPr>
      </p:sp>
      <p:sp>
        <p:nvSpPr>
          <p:cNvPr id="21" name="Shape 19"/>
          <p:cNvSpPr/>
          <p:nvPr/>
        </p:nvSpPr>
        <p:spPr>
          <a:xfrm>
            <a:off x="2316480" y="4215384"/>
            <a:ext cx="76200" cy="76200"/>
          </a:xfrm>
          <a:prstGeom prst="ellipse">
            <a:avLst/>
          </a:prstGeom>
          <a:solidFill>
            <a:srgbClr val="2F8B72"/>
          </a:solidFill>
          <a:ln w="12700">
            <a:solidFill>
              <a:srgbClr val="333333">
                <a:alpha val="0"/>
              </a:srgbClr>
            </a:solidFill>
            <a:prstDash val="solid"/>
          </a:ln>
        </p:spPr>
      </p:sp>
      <p:sp>
        <p:nvSpPr>
          <p:cNvPr id="22" name="Shape 20"/>
          <p:cNvSpPr/>
          <p:nvPr/>
        </p:nvSpPr>
        <p:spPr>
          <a:xfrm>
            <a:off x="3017520" y="4039362"/>
            <a:ext cx="76200" cy="76200"/>
          </a:xfrm>
          <a:prstGeom prst="ellipse">
            <a:avLst/>
          </a:prstGeom>
          <a:solidFill>
            <a:srgbClr val="2F8B72"/>
          </a:solidFill>
          <a:ln w="12700">
            <a:solidFill>
              <a:srgbClr val="333333">
                <a:alpha val="0"/>
              </a:srgbClr>
            </a:solidFill>
            <a:prstDash val="solid"/>
          </a:ln>
        </p:spPr>
      </p:sp>
      <p:sp>
        <p:nvSpPr>
          <p:cNvPr id="23" name="Shape 21"/>
          <p:cNvSpPr/>
          <p:nvPr/>
        </p:nvSpPr>
        <p:spPr>
          <a:xfrm>
            <a:off x="3718560" y="3831336"/>
            <a:ext cx="76200" cy="76200"/>
          </a:xfrm>
          <a:prstGeom prst="ellipse">
            <a:avLst/>
          </a:prstGeom>
          <a:solidFill>
            <a:srgbClr val="2F8B72"/>
          </a:solidFill>
          <a:ln w="12700">
            <a:solidFill>
              <a:srgbClr val="333333">
                <a:alpha val="0"/>
              </a:srgbClr>
            </a:solidFill>
            <a:prstDash val="solid"/>
          </a:ln>
        </p:spPr>
      </p:sp>
      <p:sp>
        <p:nvSpPr>
          <p:cNvPr id="24" name="Text 22"/>
          <p:cNvSpPr txBox="1"/>
          <p:nvPr/>
        </p:nvSpPr>
        <p:spPr>
          <a:xfrm>
            <a:off x="9144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25" name="Shape 23"/>
          <p:cNvSpPr/>
          <p:nvPr/>
        </p:nvSpPr>
        <p:spPr>
          <a:xfrm>
            <a:off x="44196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2.183067706146787e+41" dist="4.366135412293574e+41" dir="2.72097792e+49">
              <a:srgbClr val="405875">
                <a:alpha val="1.2e+49"/>
              </a:srgbClr>
            </a:outerShdw>
          </a:effectLst>
        </p:spPr>
      </p:sp>
      <p:sp>
        <p:nvSpPr>
          <p:cNvPr id="26" name="Text 24"/>
          <p:cNvSpPr txBox="1"/>
          <p:nvPr/>
        </p:nvSpPr>
        <p:spPr>
          <a:xfrm>
            <a:off x="46482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Market</a:t>
            </a:r>
            <a:endParaRPr lang="en-US" sz="1320" dirty="0"/>
          </a:p>
        </p:txBody>
      </p:sp>
      <p:sp>
        <p:nvSpPr>
          <p:cNvPr id="27" name="Text 25"/>
          <p:cNvSpPr txBox="1"/>
          <p:nvPr/>
        </p:nvSpPr>
        <p:spPr>
          <a:xfrm>
            <a:off x="69342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B87932"/>
                </a:solidFill>
                <a:latin typeface="Aptos Display" pitchFamily="34" charset="0"/>
                <a:ea typeface="Aptos Display" pitchFamily="34" charset="-122"/>
                <a:cs typeface="Aptos Display" pitchFamily="34" charset="-120"/>
              </a:rPr>
              <a:t>68</a:t>
            </a:r>
            <a:endParaRPr lang="en-US" sz="2520" dirty="0"/>
          </a:p>
        </p:txBody>
      </p:sp>
      <p:sp>
        <p:nvSpPr>
          <p:cNvPr id="28" name="Shape 26"/>
          <p:cNvSpPr/>
          <p:nvPr/>
        </p:nvSpPr>
        <p:spPr>
          <a:xfrm>
            <a:off x="4648200" y="2872740"/>
            <a:ext cx="952500" cy="266700"/>
          </a:xfrm>
          <a:prstGeom prst="roundRect">
            <a:avLst>
              <a:gd name="adj" fmla="val 54857"/>
            </a:avLst>
          </a:prstGeom>
          <a:solidFill>
            <a:srgbClr val="FFF1DF"/>
          </a:solidFill>
          <a:ln w="6350">
            <a:solidFill>
              <a:srgbClr val="FFF1DF">
                <a:alpha val="0"/>
              </a:srgbClr>
            </a:solidFill>
            <a:prstDash val="solid"/>
          </a:ln>
        </p:spPr>
      </p:sp>
      <p:sp>
        <p:nvSpPr>
          <p:cNvPr id="29" name="Text 27"/>
          <p:cNvSpPr txBox="1"/>
          <p:nvPr/>
        </p:nvSpPr>
        <p:spPr>
          <a:xfrm>
            <a:off x="47244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B87932"/>
                </a:solidFill>
                <a:latin typeface="Aptos" pitchFamily="34" charset="0"/>
                <a:ea typeface="Aptos" pitchFamily="34" charset="-122"/>
                <a:cs typeface="Aptos" pitchFamily="34" charset="-120"/>
              </a:rPr>
              <a:t>NEUTRAL</a:t>
            </a:r>
            <a:endParaRPr lang="en-US" sz="600" dirty="0"/>
          </a:p>
        </p:txBody>
      </p:sp>
      <p:sp>
        <p:nvSpPr>
          <p:cNvPr id="30" name="Text 28"/>
          <p:cNvSpPr txBox="1"/>
          <p:nvPr/>
        </p:nvSpPr>
        <p:spPr>
          <a:xfrm>
            <a:off x="57302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Stable</a:t>
            </a:r>
            <a:endParaRPr lang="en-US" sz="780" dirty="0"/>
          </a:p>
        </p:txBody>
      </p:sp>
      <p:sp>
        <p:nvSpPr>
          <p:cNvPr id="31" name="Shape 29"/>
          <p:cNvSpPr/>
          <p:nvPr/>
        </p:nvSpPr>
        <p:spPr>
          <a:xfrm>
            <a:off x="4648200" y="3467100"/>
            <a:ext cx="2933700" cy="60960"/>
          </a:xfrm>
          <a:prstGeom prst="roundRect">
            <a:avLst>
              <a:gd name="adj" fmla="val 75000"/>
            </a:avLst>
          </a:prstGeom>
          <a:solidFill>
            <a:srgbClr val="FFF1DF"/>
          </a:solidFill>
          <a:ln w="6350">
            <a:solidFill>
              <a:srgbClr val="FFF1DF">
                <a:alpha val="0"/>
              </a:srgbClr>
            </a:solidFill>
            <a:prstDash val="solid"/>
          </a:ln>
        </p:spPr>
      </p:sp>
      <p:sp>
        <p:nvSpPr>
          <p:cNvPr id="32" name="Shape 30"/>
          <p:cNvSpPr/>
          <p:nvPr/>
        </p:nvSpPr>
        <p:spPr>
          <a:xfrm>
            <a:off x="4648200" y="3467100"/>
            <a:ext cx="1994916" cy="60960"/>
          </a:xfrm>
          <a:prstGeom prst="roundRect">
            <a:avLst>
              <a:gd name="adj" fmla="val 75000"/>
            </a:avLst>
          </a:prstGeom>
          <a:solidFill>
            <a:srgbClr val="B87932"/>
          </a:solidFill>
          <a:ln w="6350">
            <a:solidFill>
              <a:srgbClr val="B87932">
                <a:alpha val="0"/>
              </a:srgbClr>
            </a:solidFill>
            <a:prstDash val="solid"/>
          </a:ln>
        </p:spPr>
      </p:sp>
      <p:sp>
        <p:nvSpPr>
          <p:cNvPr id="33" name="Text 31"/>
          <p:cNvSpPr txBox="1"/>
          <p:nvPr/>
        </p:nvSpPr>
        <p:spPr>
          <a:xfrm>
            <a:off x="46482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34" name="Shape 32"/>
          <p:cNvSpPr/>
          <p:nvPr/>
        </p:nvSpPr>
        <p:spPr>
          <a:xfrm>
            <a:off x="4648200" y="4724400"/>
            <a:ext cx="2933700" cy="0"/>
          </a:xfrm>
          <a:prstGeom prst="line">
            <a:avLst/>
          </a:prstGeom>
          <a:noFill/>
          <a:ln w="10160">
            <a:solidFill>
              <a:srgbClr val="DCE5F0"/>
            </a:solidFill>
            <a:prstDash val="dash"/>
            <a:headEnd type="none"/>
            <a:tailEnd type="none"/>
          </a:ln>
        </p:spPr>
      </p:sp>
      <p:sp>
        <p:nvSpPr>
          <p:cNvPr id="35" name="Shape 33"/>
          <p:cNvSpPr/>
          <p:nvPr/>
        </p:nvSpPr>
        <p:spPr>
          <a:xfrm rot="-313013">
            <a:off x="4684842" y="4173474"/>
            <a:ext cx="703956" cy="914"/>
          </a:xfrm>
          <a:prstGeom prst="line">
            <a:avLst/>
          </a:prstGeom>
          <a:noFill/>
          <a:ln w="31750">
            <a:solidFill>
              <a:srgbClr val="B87932"/>
            </a:solidFill>
            <a:prstDash val="solid"/>
            <a:headEnd type="none"/>
            <a:tailEnd type="none"/>
          </a:ln>
        </p:spPr>
      </p:sp>
      <p:sp>
        <p:nvSpPr>
          <p:cNvPr id="36" name="Shape 34"/>
          <p:cNvSpPr/>
          <p:nvPr/>
        </p:nvSpPr>
        <p:spPr>
          <a:xfrm rot="-156832">
            <a:off x="5386975" y="4125468"/>
            <a:ext cx="701770" cy="914"/>
          </a:xfrm>
          <a:prstGeom prst="line">
            <a:avLst/>
          </a:prstGeom>
          <a:noFill/>
          <a:ln w="31750">
            <a:solidFill>
              <a:srgbClr val="B87932"/>
            </a:solidFill>
            <a:prstDash val="solid"/>
            <a:headEnd type="none"/>
            <a:tailEnd type="none"/>
          </a:ln>
        </p:spPr>
      </p:sp>
      <p:sp>
        <p:nvSpPr>
          <p:cNvPr id="37" name="Shape 35"/>
          <p:cNvSpPr/>
          <p:nvPr/>
        </p:nvSpPr>
        <p:spPr>
          <a:xfrm rot="78457">
            <a:off x="6088289" y="4117467"/>
            <a:ext cx="701223" cy="914"/>
          </a:xfrm>
          <a:prstGeom prst="line">
            <a:avLst/>
          </a:prstGeom>
          <a:noFill/>
          <a:ln w="31750">
            <a:solidFill>
              <a:srgbClr val="B87932"/>
            </a:solidFill>
            <a:prstDash val="solid"/>
            <a:headEnd type="none"/>
            <a:tailEnd type="none"/>
          </a:ln>
        </p:spPr>
      </p:sp>
      <p:sp>
        <p:nvSpPr>
          <p:cNvPr id="38" name="Shape 36"/>
          <p:cNvSpPr/>
          <p:nvPr/>
        </p:nvSpPr>
        <p:spPr>
          <a:xfrm rot="-156832">
            <a:off x="6789055" y="4109466"/>
            <a:ext cx="701770" cy="914"/>
          </a:xfrm>
          <a:prstGeom prst="line">
            <a:avLst/>
          </a:prstGeom>
          <a:noFill/>
          <a:ln w="31750">
            <a:solidFill>
              <a:srgbClr val="B87932"/>
            </a:solidFill>
            <a:prstDash val="solid"/>
            <a:headEnd type="none"/>
            <a:tailEnd type="none"/>
          </a:ln>
        </p:spPr>
      </p:sp>
      <p:sp>
        <p:nvSpPr>
          <p:cNvPr id="39" name="Shape 37"/>
          <p:cNvSpPr/>
          <p:nvPr/>
        </p:nvSpPr>
        <p:spPr>
          <a:xfrm>
            <a:off x="4648200" y="4167378"/>
            <a:ext cx="76200" cy="76200"/>
          </a:xfrm>
          <a:prstGeom prst="ellipse">
            <a:avLst/>
          </a:prstGeom>
          <a:solidFill>
            <a:srgbClr val="B87932"/>
          </a:solidFill>
          <a:ln w="12700">
            <a:solidFill>
              <a:srgbClr val="333333">
                <a:alpha val="0"/>
              </a:srgbClr>
            </a:solidFill>
            <a:prstDash val="solid"/>
          </a:ln>
        </p:spPr>
      </p:sp>
      <p:sp>
        <p:nvSpPr>
          <p:cNvPr id="40" name="Shape 38"/>
          <p:cNvSpPr/>
          <p:nvPr/>
        </p:nvSpPr>
        <p:spPr>
          <a:xfrm>
            <a:off x="5349240" y="4103370"/>
            <a:ext cx="76200" cy="76200"/>
          </a:xfrm>
          <a:prstGeom prst="ellipse">
            <a:avLst/>
          </a:prstGeom>
          <a:solidFill>
            <a:srgbClr val="B87932"/>
          </a:solidFill>
          <a:ln w="12700">
            <a:solidFill>
              <a:srgbClr val="333333">
                <a:alpha val="0"/>
              </a:srgbClr>
            </a:solidFill>
            <a:prstDash val="solid"/>
          </a:ln>
        </p:spPr>
      </p:sp>
      <p:sp>
        <p:nvSpPr>
          <p:cNvPr id="41" name="Shape 39"/>
          <p:cNvSpPr/>
          <p:nvPr/>
        </p:nvSpPr>
        <p:spPr>
          <a:xfrm>
            <a:off x="6050280" y="4071366"/>
            <a:ext cx="76200" cy="76200"/>
          </a:xfrm>
          <a:prstGeom prst="ellipse">
            <a:avLst/>
          </a:prstGeom>
          <a:solidFill>
            <a:srgbClr val="B87932"/>
          </a:solidFill>
          <a:ln w="12700">
            <a:solidFill>
              <a:srgbClr val="333333">
                <a:alpha val="0"/>
              </a:srgbClr>
            </a:solidFill>
            <a:prstDash val="solid"/>
          </a:ln>
        </p:spPr>
      </p:sp>
      <p:sp>
        <p:nvSpPr>
          <p:cNvPr id="42" name="Shape 40"/>
          <p:cNvSpPr/>
          <p:nvPr/>
        </p:nvSpPr>
        <p:spPr>
          <a:xfrm>
            <a:off x="6751320" y="4087368"/>
            <a:ext cx="76200" cy="76200"/>
          </a:xfrm>
          <a:prstGeom prst="ellipse">
            <a:avLst/>
          </a:prstGeom>
          <a:solidFill>
            <a:srgbClr val="B87932"/>
          </a:solidFill>
          <a:ln w="12700">
            <a:solidFill>
              <a:srgbClr val="333333">
                <a:alpha val="0"/>
              </a:srgbClr>
            </a:solidFill>
            <a:prstDash val="solid"/>
          </a:ln>
        </p:spPr>
      </p:sp>
      <p:sp>
        <p:nvSpPr>
          <p:cNvPr id="43" name="Shape 41"/>
          <p:cNvSpPr/>
          <p:nvPr/>
        </p:nvSpPr>
        <p:spPr>
          <a:xfrm>
            <a:off x="7452360" y="4055364"/>
            <a:ext cx="76200" cy="76200"/>
          </a:xfrm>
          <a:prstGeom prst="ellipse">
            <a:avLst/>
          </a:prstGeom>
          <a:solidFill>
            <a:srgbClr val="B87932"/>
          </a:solidFill>
          <a:ln w="12700">
            <a:solidFill>
              <a:srgbClr val="333333">
                <a:alpha val="0"/>
              </a:srgbClr>
            </a:solidFill>
            <a:prstDash val="solid"/>
          </a:ln>
        </p:spPr>
      </p:sp>
      <p:sp>
        <p:nvSpPr>
          <p:cNvPr id="44" name="Text 42"/>
          <p:cNvSpPr txBox="1"/>
          <p:nvPr/>
        </p:nvSpPr>
        <p:spPr>
          <a:xfrm>
            <a:off x="46482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45" name="Shape 43"/>
          <p:cNvSpPr/>
          <p:nvPr/>
        </p:nvSpPr>
        <p:spPr>
          <a:xfrm>
            <a:off x="81534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2.7724959868064195e+45" dist="5.544991973612839e+45" dir="1.6325867520000003e+54">
              <a:srgbClr val="405875">
                <a:alpha val="1.2e+54"/>
              </a:srgbClr>
            </a:outerShdw>
          </a:effectLst>
        </p:spPr>
      </p:sp>
      <p:sp>
        <p:nvSpPr>
          <p:cNvPr id="46" name="Text 44"/>
          <p:cNvSpPr txBox="1"/>
          <p:nvPr/>
        </p:nvSpPr>
        <p:spPr>
          <a:xfrm>
            <a:off x="83820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Idea × Market</a:t>
            </a:r>
            <a:endParaRPr lang="en-US" sz="1320" dirty="0"/>
          </a:p>
        </p:txBody>
      </p:sp>
      <p:sp>
        <p:nvSpPr>
          <p:cNvPr id="47" name="Text 45"/>
          <p:cNvSpPr txBox="1"/>
          <p:nvPr/>
        </p:nvSpPr>
        <p:spPr>
          <a:xfrm>
            <a:off x="106680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7656A5"/>
                </a:solidFill>
                <a:latin typeface="Aptos Display" pitchFamily="34" charset="0"/>
                <a:ea typeface="Aptos Display" pitchFamily="34" charset="-122"/>
                <a:cs typeface="Aptos Display" pitchFamily="34" charset="-120"/>
              </a:rPr>
              <a:t>74</a:t>
            </a:r>
            <a:endParaRPr lang="en-US" sz="2520" dirty="0"/>
          </a:p>
        </p:txBody>
      </p:sp>
      <p:sp>
        <p:nvSpPr>
          <p:cNvPr id="48" name="Shape 46"/>
          <p:cNvSpPr/>
          <p:nvPr/>
        </p:nvSpPr>
        <p:spPr>
          <a:xfrm>
            <a:off x="8382000" y="2872740"/>
            <a:ext cx="952500" cy="266700"/>
          </a:xfrm>
          <a:prstGeom prst="roundRect">
            <a:avLst>
              <a:gd name="adj" fmla="val 54857"/>
            </a:avLst>
          </a:prstGeom>
          <a:solidFill>
            <a:srgbClr val="EEE8F8"/>
          </a:solidFill>
          <a:ln w="6350">
            <a:solidFill>
              <a:srgbClr val="EEE8F8">
                <a:alpha val="0"/>
              </a:srgbClr>
            </a:solidFill>
            <a:prstDash val="solid"/>
          </a:ln>
        </p:spPr>
      </p:sp>
      <p:sp>
        <p:nvSpPr>
          <p:cNvPr id="49" name="Text 47"/>
          <p:cNvSpPr txBox="1"/>
          <p:nvPr/>
        </p:nvSpPr>
        <p:spPr>
          <a:xfrm>
            <a:off x="84582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7656A5"/>
                </a:solidFill>
                <a:latin typeface="Aptos" pitchFamily="34" charset="0"/>
                <a:ea typeface="Aptos" pitchFamily="34" charset="-122"/>
                <a:cs typeface="Aptos" pitchFamily="34" charset="-120"/>
              </a:rPr>
              <a:t>BULLISH</a:t>
            </a:r>
            <a:endParaRPr lang="en-US" sz="600" dirty="0"/>
          </a:p>
        </p:txBody>
      </p:sp>
      <p:sp>
        <p:nvSpPr>
          <p:cNvPr id="50" name="Text 48"/>
          <p:cNvSpPr txBox="1"/>
          <p:nvPr/>
        </p:nvSpPr>
        <p:spPr>
          <a:xfrm>
            <a:off x="94640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Improving</a:t>
            </a:r>
            <a:endParaRPr lang="en-US" sz="780" dirty="0"/>
          </a:p>
        </p:txBody>
      </p:sp>
      <p:sp>
        <p:nvSpPr>
          <p:cNvPr id="51" name="Shape 49"/>
          <p:cNvSpPr/>
          <p:nvPr/>
        </p:nvSpPr>
        <p:spPr>
          <a:xfrm>
            <a:off x="8382000" y="3467100"/>
            <a:ext cx="2933700" cy="60960"/>
          </a:xfrm>
          <a:prstGeom prst="roundRect">
            <a:avLst>
              <a:gd name="adj" fmla="val 75000"/>
            </a:avLst>
          </a:prstGeom>
          <a:solidFill>
            <a:srgbClr val="EEE8F8"/>
          </a:solidFill>
          <a:ln w="6350">
            <a:solidFill>
              <a:srgbClr val="EEE8F8">
                <a:alpha val="0"/>
              </a:srgbClr>
            </a:solidFill>
            <a:prstDash val="solid"/>
          </a:ln>
        </p:spPr>
      </p:sp>
      <p:sp>
        <p:nvSpPr>
          <p:cNvPr id="52" name="Shape 50"/>
          <p:cNvSpPr/>
          <p:nvPr/>
        </p:nvSpPr>
        <p:spPr>
          <a:xfrm>
            <a:off x="8382000" y="3467100"/>
            <a:ext cx="2170938" cy="60960"/>
          </a:xfrm>
          <a:prstGeom prst="roundRect">
            <a:avLst>
              <a:gd name="adj" fmla="val 75000"/>
            </a:avLst>
          </a:prstGeom>
          <a:solidFill>
            <a:srgbClr val="7656A5"/>
          </a:solidFill>
          <a:ln w="6350">
            <a:solidFill>
              <a:srgbClr val="7656A5">
                <a:alpha val="0"/>
              </a:srgbClr>
            </a:solidFill>
            <a:prstDash val="solid"/>
          </a:ln>
        </p:spPr>
      </p:sp>
      <p:sp>
        <p:nvSpPr>
          <p:cNvPr id="53" name="Text 51"/>
          <p:cNvSpPr txBox="1"/>
          <p:nvPr/>
        </p:nvSpPr>
        <p:spPr>
          <a:xfrm>
            <a:off x="83820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54" name="Shape 52"/>
          <p:cNvSpPr/>
          <p:nvPr/>
        </p:nvSpPr>
        <p:spPr>
          <a:xfrm>
            <a:off x="8382000" y="4724400"/>
            <a:ext cx="2933700" cy="0"/>
          </a:xfrm>
          <a:prstGeom prst="line">
            <a:avLst/>
          </a:prstGeom>
          <a:noFill/>
          <a:ln w="10160">
            <a:solidFill>
              <a:srgbClr val="DCE5F0"/>
            </a:solidFill>
            <a:prstDash val="dash"/>
            <a:headEnd type="none"/>
            <a:tailEnd type="none"/>
          </a:ln>
        </p:spPr>
      </p:sp>
      <p:sp>
        <p:nvSpPr>
          <p:cNvPr id="55" name="Shape 53"/>
          <p:cNvSpPr/>
          <p:nvPr/>
        </p:nvSpPr>
        <p:spPr>
          <a:xfrm rot="-235044">
            <a:off x="8419279" y="4325493"/>
            <a:ext cx="702682" cy="914"/>
          </a:xfrm>
          <a:prstGeom prst="line">
            <a:avLst/>
          </a:prstGeom>
          <a:noFill/>
          <a:ln w="31750">
            <a:solidFill>
              <a:srgbClr val="7656A5"/>
            </a:solidFill>
            <a:prstDash val="solid"/>
            <a:headEnd type="none"/>
            <a:tailEnd type="none"/>
          </a:ln>
        </p:spPr>
      </p:sp>
      <p:sp>
        <p:nvSpPr>
          <p:cNvPr id="56" name="Shape 54"/>
          <p:cNvSpPr/>
          <p:nvPr/>
        </p:nvSpPr>
        <p:spPr>
          <a:xfrm rot="-620921">
            <a:off x="9115344" y="4237482"/>
            <a:ext cx="712633" cy="914"/>
          </a:xfrm>
          <a:prstGeom prst="line">
            <a:avLst/>
          </a:prstGeom>
          <a:noFill/>
          <a:ln w="31750">
            <a:solidFill>
              <a:srgbClr val="7656A5"/>
            </a:solidFill>
            <a:prstDash val="solid"/>
            <a:headEnd type="none"/>
            <a:tailEnd type="none"/>
          </a:ln>
        </p:spPr>
      </p:sp>
      <p:sp>
        <p:nvSpPr>
          <p:cNvPr id="57" name="Shape 55"/>
          <p:cNvSpPr/>
          <p:nvPr/>
        </p:nvSpPr>
        <p:spPr>
          <a:xfrm rot="-544688">
            <a:off x="9817734" y="4117467"/>
            <a:ext cx="709933" cy="914"/>
          </a:xfrm>
          <a:prstGeom prst="line">
            <a:avLst/>
          </a:prstGeom>
          <a:noFill/>
          <a:ln w="31750">
            <a:solidFill>
              <a:srgbClr val="7656A5"/>
            </a:solidFill>
            <a:prstDash val="solid"/>
            <a:headEnd type="none"/>
            <a:tailEnd type="none"/>
          </a:ln>
        </p:spPr>
      </p:sp>
      <p:sp>
        <p:nvSpPr>
          <p:cNvPr id="58" name="Shape 56"/>
          <p:cNvSpPr/>
          <p:nvPr/>
        </p:nvSpPr>
        <p:spPr>
          <a:xfrm rot="-313013">
            <a:off x="10521762" y="4029456"/>
            <a:ext cx="703956" cy="914"/>
          </a:xfrm>
          <a:prstGeom prst="line">
            <a:avLst/>
          </a:prstGeom>
          <a:noFill/>
          <a:ln w="31750">
            <a:solidFill>
              <a:srgbClr val="7656A5"/>
            </a:solidFill>
            <a:prstDash val="solid"/>
            <a:headEnd type="none"/>
            <a:tailEnd type="none"/>
          </a:ln>
        </p:spPr>
      </p:sp>
      <p:sp>
        <p:nvSpPr>
          <p:cNvPr id="59" name="Shape 57"/>
          <p:cNvSpPr/>
          <p:nvPr/>
        </p:nvSpPr>
        <p:spPr>
          <a:xfrm>
            <a:off x="8382000" y="4311396"/>
            <a:ext cx="76200" cy="76200"/>
          </a:xfrm>
          <a:prstGeom prst="ellipse">
            <a:avLst/>
          </a:prstGeom>
          <a:solidFill>
            <a:srgbClr val="7656A5"/>
          </a:solidFill>
          <a:ln w="12700">
            <a:solidFill>
              <a:srgbClr val="333333">
                <a:alpha val="0"/>
              </a:srgbClr>
            </a:solidFill>
            <a:prstDash val="solid"/>
          </a:ln>
        </p:spPr>
      </p:sp>
      <p:sp>
        <p:nvSpPr>
          <p:cNvPr id="60" name="Shape 58"/>
          <p:cNvSpPr/>
          <p:nvPr/>
        </p:nvSpPr>
        <p:spPr>
          <a:xfrm>
            <a:off x="9083040" y="4263390"/>
            <a:ext cx="76200" cy="76200"/>
          </a:xfrm>
          <a:prstGeom prst="ellipse">
            <a:avLst/>
          </a:prstGeom>
          <a:solidFill>
            <a:srgbClr val="7656A5"/>
          </a:solidFill>
          <a:ln w="12700">
            <a:solidFill>
              <a:srgbClr val="333333">
                <a:alpha val="0"/>
              </a:srgbClr>
            </a:solidFill>
            <a:prstDash val="solid"/>
          </a:ln>
        </p:spPr>
      </p:sp>
      <p:sp>
        <p:nvSpPr>
          <p:cNvPr id="61" name="Shape 59"/>
          <p:cNvSpPr/>
          <p:nvPr/>
        </p:nvSpPr>
        <p:spPr>
          <a:xfrm>
            <a:off x="9784080" y="4135374"/>
            <a:ext cx="76200" cy="76200"/>
          </a:xfrm>
          <a:prstGeom prst="ellipse">
            <a:avLst/>
          </a:prstGeom>
          <a:solidFill>
            <a:srgbClr val="7656A5"/>
          </a:solidFill>
          <a:ln w="12700">
            <a:solidFill>
              <a:srgbClr val="333333">
                <a:alpha val="0"/>
              </a:srgbClr>
            </a:solidFill>
            <a:prstDash val="solid"/>
          </a:ln>
        </p:spPr>
      </p:sp>
      <p:sp>
        <p:nvSpPr>
          <p:cNvPr id="62" name="Shape 60"/>
          <p:cNvSpPr/>
          <p:nvPr/>
        </p:nvSpPr>
        <p:spPr>
          <a:xfrm>
            <a:off x="10485120" y="4023360"/>
            <a:ext cx="76200" cy="76200"/>
          </a:xfrm>
          <a:prstGeom prst="ellipse">
            <a:avLst/>
          </a:prstGeom>
          <a:solidFill>
            <a:srgbClr val="7656A5"/>
          </a:solidFill>
          <a:ln w="12700">
            <a:solidFill>
              <a:srgbClr val="333333">
                <a:alpha val="0"/>
              </a:srgbClr>
            </a:solidFill>
            <a:prstDash val="solid"/>
          </a:ln>
        </p:spPr>
      </p:sp>
      <p:sp>
        <p:nvSpPr>
          <p:cNvPr id="63" name="Shape 61"/>
          <p:cNvSpPr/>
          <p:nvPr/>
        </p:nvSpPr>
        <p:spPr>
          <a:xfrm>
            <a:off x="11186160" y="3959352"/>
            <a:ext cx="76200" cy="76200"/>
          </a:xfrm>
          <a:prstGeom prst="ellipse">
            <a:avLst/>
          </a:prstGeom>
          <a:solidFill>
            <a:srgbClr val="7656A5"/>
          </a:solidFill>
          <a:ln w="12700">
            <a:solidFill>
              <a:srgbClr val="333333">
                <a:alpha val="0"/>
              </a:srgbClr>
            </a:solidFill>
            <a:prstDash val="solid"/>
          </a:ln>
        </p:spPr>
      </p:sp>
      <p:sp>
        <p:nvSpPr>
          <p:cNvPr id="64" name="Text 62"/>
          <p:cNvSpPr txBox="1"/>
          <p:nvPr/>
        </p:nvSpPr>
        <p:spPr>
          <a:xfrm>
            <a:off x="83820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65" name="Text 63"/>
          <p:cNvSpPr txBox="1"/>
          <p:nvPr/>
        </p:nvSpPr>
        <p:spPr>
          <a:xfrm>
            <a:off x="685800" y="5753100"/>
            <a:ext cx="6858000" cy="24384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Click any axis → inspect evidence, confidence, contradictions and trend.</a:t>
            </a:r>
            <a:endParaRPr lang="en-US" sz="1080" dirty="0"/>
          </a:p>
        </p:txBody>
      </p:sp>
      <p:sp>
        <p:nvSpPr>
          <p:cNvPr id="66" name="Shape 64"/>
          <p:cNvSpPr/>
          <p:nvPr/>
        </p:nvSpPr>
        <p:spPr>
          <a:xfrm>
            <a:off x="8839200" y="5753100"/>
            <a:ext cx="2667000" cy="266700"/>
          </a:xfrm>
          <a:prstGeom prst="roundRect">
            <a:avLst>
              <a:gd name="adj" fmla="val 54857"/>
            </a:avLst>
          </a:prstGeom>
          <a:solidFill>
            <a:srgbClr val="E7EEF9"/>
          </a:solidFill>
          <a:ln w="6350">
            <a:solidFill>
              <a:srgbClr val="E7EEF9">
                <a:alpha val="0"/>
              </a:srgbClr>
            </a:solidFill>
            <a:prstDash val="solid"/>
          </a:ln>
        </p:spPr>
      </p:sp>
      <p:sp>
        <p:nvSpPr>
          <p:cNvPr id="67" name="Text 65"/>
          <p:cNvSpPr txBox="1"/>
          <p:nvPr/>
        </p:nvSpPr>
        <p:spPr>
          <a:xfrm>
            <a:off x="8915400" y="5775960"/>
            <a:ext cx="2514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INDEPENDENT · NOT AVERAGED</a:t>
            </a:r>
            <a:endParaRPr lang="en-US" sz="600" dirty="0"/>
          </a:p>
        </p:txBody>
      </p:sp>
      <p:sp>
        <p:nvSpPr>
          <p:cNvPr id="68" name="Text 66"/>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69" name="Text 67"/>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06</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3124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LIVE DECISION CASE · EOGHAN MCCABE</a:t>
            </a:r>
            <a:endParaRPr lang="en-US" sz="900" dirty="0"/>
          </a:p>
        </p:txBody>
      </p:sp>
      <p:sp>
        <p:nvSpPr>
          <p:cNvPr id="3" name="Text 1"/>
          <p:cNvSpPr txBox="1"/>
          <p:nvPr/>
        </p:nvSpPr>
        <p:spPr>
          <a:xfrm>
            <a:off x="685800" y="800100"/>
            <a:ext cx="3124200" cy="633984"/>
          </a:xfrm>
          <a:prstGeom prst="rect">
            <a:avLst/>
          </a:prstGeom>
          <a:noFill/>
          <a:ln/>
        </p:spPr>
        <p:txBody>
          <a:bodyPr wrap="square" lIns="0" tIns="0" rIns="0" bIns="0" rtlCol="0" anchor="t">
            <a:normAutofit/>
          </a:bodyPr>
          <a:lstStyle/>
          <a:p>
            <a:pPr algn="l" indent="0" marL="0">
              <a:buNone/>
            </a:pPr>
            <a:r>
              <a:rPr lang="en-US" sz="2400" b="1" dirty="0">
                <a:solidFill>
                  <a:srgbClr val="172337"/>
                </a:solidFill>
                <a:latin typeface="Aptos Display" pitchFamily="34" charset="0"/>
                <a:ea typeface="Aptos Display" pitchFamily="34" charset="-122"/>
                <a:cs typeface="Aptos Display" pitchFamily="34" charset="-120"/>
              </a:rPr>
              <a:t>A decision, not</a:t>
            </a:r>
            <a:endParaRPr lang="en-US" sz="2400" dirty="0"/>
          </a:p>
          <a:p>
            <a:pPr algn="l" indent="0" marL="0">
              <a:buNone/>
            </a:pPr>
            <a:r>
              <a:rPr lang="en-US" sz="2400" b="1" dirty="0">
                <a:solidFill>
                  <a:srgbClr val="172337"/>
                </a:solidFill>
                <a:latin typeface="Aptos Display" pitchFamily="34" charset="0"/>
                <a:ea typeface="Aptos Display" pitchFamily="34" charset="-122"/>
                <a:cs typeface="Aptos Display" pitchFamily="34" charset="-120"/>
              </a:rPr>
              <a:t>a dashboard.</a:t>
            </a:r>
            <a:endParaRPr lang="en-US" sz="2400" dirty="0"/>
          </a:p>
        </p:txBody>
      </p:sp>
      <p:sp>
        <p:nvSpPr>
          <p:cNvPr id="4" name="Text 2"/>
          <p:cNvSpPr txBox="1"/>
          <p:nvPr/>
        </p:nvSpPr>
        <p:spPr>
          <a:xfrm>
            <a:off x="685800" y="1563624"/>
            <a:ext cx="3048000" cy="48768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AI compresses the evidence.</a:t>
            </a:r>
            <a:endParaRPr lang="en-US" sz="1200" dirty="0"/>
          </a:p>
          <a:p>
            <a:pPr algn="l" indent="0" marL="0">
              <a:buNone/>
            </a:pPr>
            <a:r>
              <a:rPr lang="en-US" sz="1200" dirty="0">
                <a:solidFill>
                  <a:srgbClr val="718097"/>
                </a:solidFill>
                <a:latin typeface="Aptos" pitchFamily="34" charset="0"/>
                <a:ea typeface="Aptos" pitchFamily="34" charset="-122"/>
                <a:cs typeface="Aptos" pitchFamily="34" charset="-120"/>
              </a:rPr>
              <a:t>The investor can challenge every claim.</a:t>
            </a:r>
            <a:endParaRPr lang="en-US" sz="1200" dirty="0"/>
          </a:p>
        </p:txBody>
      </p:sp>
      <p:sp>
        <p:nvSpPr>
          <p:cNvPr id="5" name="Shape 3"/>
          <p:cNvSpPr/>
          <p:nvPr/>
        </p:nvSpPr>
        <p:spPr>
          <a:xfrm>
            <a:off x="4076700" y="685800"/>
            <a:ext cx="7505700" cy="5212080"/>
          </a:xfrm>
          <a:prstGeom prst="roundRect">
            <a:avLst>
              <a:gd name="adj" fmla="val 3158"/>
            </a:avLst>
          </a:prstGeom>
          <a:solidFill>
            <a:srgbClr val="FFFFFF"/>
          </a:solidFill>
          <a:ln w="6350">
            <a:solidFill>
              <a:srgbClr val="FFFFFF">
                <a:alpha val="0"/>
              </a:srgbClr>
            </a:solidFill>
            <a:prstDash val="solid"/>
          </a:ln>
          <a:effectLst>
            <a:outerShdw sx="100000" sy="100000" kx="0" ky="0" algn="bl" rotWithShape="0" blurRad="3.5210699032441527e+49" dist="7.042139806488305e+49" dir="9.795520512000002e+58">
              <a:srgbClr val="405875">
                <a:alpha val="1.2e+59"/>
              </a:srgbClr>
            </a:outerShdw>
          </a:effectLst>
        </p:spPr>
      </p:sp>
      <p:pic>
        <p:nvPicPr>
          <p:cNvPr id="6" name="Image 0" descr="/Users/zeyu/Projects/HACKATHON/The-VC-Brain/docs/pitch-assets/decision-detail.png">    </p:cNvPr>
          <p:cNvPicPr>
            <a:picLocks noChangeAspect="1"/>
          </p:cNvPicPr>
          <p:nvPr/>
        </p:nvPicPr>
        <p:blipFill>
          <a:blip r:embed="rId1"/>
          <a:stretch>
            <a:fillRect/>
          </a:stretch>
        </p:blipFill>
        <p:spPr>
          <a:xfrm>
            <a:off x="4168140" y="777240"/>
            <a:ext cx="7322820" cy="5029200"/>
          </a:xfrm>
          <a:prstGeom prst="rect">
            <a:avLst/>
          </a:prstGeom>
        </p:spPr>
      </p:pic>
      <p:sp>
        <p:nvSpPr>
          <p:cNvPr id="7" name="Shape 4"/>
          <p:cNvSpPr/>
          <p:nvPr/>
        </p:nvSpPr>
        <p:spPr>
          <a:xfrm>
            <a:off x="685800" y="2971800"/>
            <a:ext cx="2781300" cy="655320"/>
          </a:xfrm>
          <a:prstGeom prst="roundRect">
            <a:avLst>
              <a:gd name="adj" fmla="val 16744"/>
            </a:avLst>
          </a:prstGeom>
          <a:solidFill>
            <a:srgbClr val="E7EEF9"/>
          </a:solidFill>
          <a:ln w="6350">
            <a:solidFill>
              <a:srgbClr val="E7EEF9">
                <a:alpha val="0"/>
              </a:srgbClr>
            </a:solidFill>
            <a:prstDash val="solid"/>
          </a:ln>
        </p:spPr>
      </p:sp>
      <p:sp>
        <p:nvSpPr>
          <p:cNvPr id="8" name="Text 5"/>
          <p:cNvSpPr txBox="1"/>
          <p:nvPr/>
        </p:nvSpPr>
        <p:spPr>
          <a:xfrm>
            <a:off x="891540" y="3086100"/>
            <a:ext cx="2209800" cy="182880"/>
          </a:xfrm>
          <a:prstGeom prst="rect">
            <a:avLst/>
          </a:prstGeom>
          <a:noFill/>
          <a:ln/>
        </p:spPr>
        <p:txBody>
          <a:bodyPr wrap="square" lIns="0" tIns="0" rIns="0" bIns="0" rtlCol="0" anchor="ctr">
            <a:normAutofit/>
          </a:bodyPr>
          <a:lstStyle/>
          <a:p>
            <a:pPr algn="l" indent="0" marL="0">
              <a:buNone/>
            </a:pPr>
            <a:r>
              <a:rPr lang="en-US" sz="660" b="1" spc="120" kern="0" dirty="0">
                <a:solidFill>
                  <a:srgbClr val="557DC0"/>
                </a:solidFill>
                <a:latin typeface="Aptos" pitchFamily="34" charset="0"/>
                <a:ea typeface="Aptos" pitchFamily="34" charset="-122"/>
                <a:cs typeface="Aptos" pitchFamily="34" charset="-120"/>
              </a:rPr>
              <a:t>AI SUMMARY + CITATIONS</a:t>
            </a:r>
            <a:endParaRPr lang="en-US" sz="660" dirty="0"/>
          </a:p>
        </p:txBody>
      </p:sp>
      <p:sp>
        <p:nvSpPr>
          <p:cNvPr id="9" name="Text 6"/>
          <p:cNvSpPr txBox="1"/>
          <p:nvPr/>
        </p:nvSpPr>
        <p:spPr>
          <a:xfrm>
            <a:off x="891540" y="3314700"/>
            <a:ext cx="22860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Every sentence traces to evidence</a:t>
            </a:r>
            <a:endParaRPr lang="en-US" sz="960" dirty="0"/>
          </a:p>
        </p:txBody>
      </p:sp>
      <p:sp>
        <p:nvSpPr>
          <p:cNvPr id="10" name="Shape 7"/>
          <p:cNvSpPr/>
          <p:nvPr/>
        </p:nvSpPr>
        <p:spPr>
          <a:xfrm>
            <a:off x="685800" y="3771900"/>
            <a:ext cx="2781300" cy="655320"/>
          </a:xfrm>
          <a:prstGeom prst="roundRect">
            <a:avLst>
              <a:gd name="adj" fmla="val 16744"/>
            </a:avLst>
          </a:prstGeom>
          <a:solidFill>
            <a:srgbClr val="EEE8F8"/>
          </a:solidFill>
          <a:ln w="6350">
            <a:solidFill>
              <a:srgbClr val="EEE8F8">
                <a:alpha val="0"/>
              </a:srgbClr>
            </a:solidFill>
            <a:prstDash val="solid"/>
          </a:ln>
        </p:spPr>
      </p:sp>
      <p:sp>
        <p:nvSpPr>
          <p:cNvPr id="11" name="Text 8"/>
          <p:cNvSpPr txBox="1"/>
          <p:nvPr/>
        </p:nvSpPr>
        <p:spPr>
          <a:xfrm>
            <a:off x="891540" y="3886200"/>
            <a:ext cx="2133600" cy="182880"/>
          </a:xfrm>
          <a:prstGeom prst="rect">
            <a:avLst/>
          </a:prstGeom>
          <a:noFill/>
          <a:ln/>
        </p:spPr>
        <p:txBody>
          <a:bodyPr wrap="square" lIns="0" tIns="0" rIns="0" bIns="0" rtlCol="0" anchor="ctr">
            <a:normAutofit/>
          </a:bodyPr>
          <a:lstStyle/>
          <a:p>
            <a:pPr algn="l" indent="0" marL="0">
              <a:buNone/>
            </a:pPr>
            <a:r>
              <a:rPr lang="en-US" sz="660" b="1" spc="130" kern="0" dirty="0">
                <a:solidFill>
                  <a:srgbClr val="7656A5"/>
                </a:solidFill>
                <a:latin typeface="Aptos" pitchFamily="34" charset="0"/>
                <a:ea typeface="Aptos" pitchFamily="34" charset="-122"/>
                <a:cs typeface="Aptos" pitchFamily="34" charset="-120"/>
              </a:rPr>
              <a:t>SCORE EXPLANATION</a:t>
            </a:r>
            <a:endParaRPr lang="en-US" sz="660" dirty="0"/>
          </a:p>
        </p:txBody>
      </p:sp>
      <p:sp>
        <p:nvSpPr>
          <p:cNvPr id="12" name="Text 9"/>
          <p:cNvSpPr txBox="1"/>
          <p:nvPr/>
        </p:nvSpPr>
        <p:spPr>
          <a:xfrm>
            <a:off x="891540" y="4114800"/>
            <a:ext cx="2209800" cy="22860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Score → claim → source</a:t>
            </a:r>
            <a:endParaRPr lang="en-US" sz="1020" dirty="0"/>
          </a:p>
        </p:txBody>
      </p:sp>
      <p:sp>
        <p:nvSpPr>
          <p:cNvPr id="13" name="Shape 10"/>
          <p:cNvSpPr/>
          <p:nvPr/>
        </p:nvSpPr>
        <p:spPr>
          <a:xfrm>
            <a:off x="685800" y="4572000"/>
            <a:ext cx="2781300" cy="655320"/>
          </a:xfrm>
          <a:prstGeom prst="roundRect">
            <a:avLst>
              <a:gd name="adj" fmla="val 16744"/>
            </a:avLst>
          </a:prstGeom>
          <a:solidFill>
            <a:srgbClr val="E4F2ED"/>
          </a:solidFill>
          <a:ln w="6350">
            <a:solidFill>
              <a:srgbClr val="E4F2ED">
                <a:alpha val="0"/>
              </a:srgbClr>
            </a:solidFill>
            <a:prstDash val="solid"/>
          </a:ln>
        </p:spPr>
      </p:sp>
      <p:sp>
        <p:nvSpPr>
          <p:cNvPr id="14" name="Text 11"/>
          <p:cNvSpPr txBox="1"/>
          <p:nvPr/>
        </p:nvSpPr>
        <p:spPr>
          <a:xfrm>
            <a:off x="891540" y="4686300"/>
            <a:ext cx="1905000" cy="182880"/>
          </a:xfrm>
          <a:prstGeom prst="rect">
            <a:avLst/>
          </a:prstGeom>
          <a:noFill/>
          <a:ln/>
        </p:spPr>
        <p:txBody>
          <a:bodyPr wrap="square" lIns="0" tIns="0" rIns="0" bIns="0" rtlCol="0" anchor="ctr">
            <a:normAutofit/>
          </a:bodyPr>
          <a:lstStyle/>
          <a:p>
            <a:pPr algn="l" indent="0" marL="0">
              <a:buNone/>
            </a:pPr>
            <a:r>
              <a:rPr lang="en-US" sz="660" b="1" spc="150" kern="0" dirty="0">
                <a:solidFill>
                  <a:srgbClr val="2F8B72"/>
                </a:solidFill>
                <a:latin typeface="Aptos" pitchFamily="34" charset="0"/>
                <a:ea typeface="Aptos" pitchFamily="34" charset="-122"/>
                <a:cs typeface="Aptos" pitchFamily="34" charset="-120"/>
              </a:rPr>
              <a:t>HUMAN CONTROL</a:t>
            </a:r>
            <a:endParaRPr lang="en-US" sz="660" dirty="0"/>
          </a:p>
        </p:txBody>
      </p:sp>
      <p:sp>
        <p:nvSpPr>
          <p:cNvPr id="15" name="Text 12"/>
          <p:cNvSpPr txBox="1"/>
          <p:nvPr/>
        </p:nvSpPr>
        <p:spPr>
          <a:xfrm>
            <a:off x="891540" y="4914900"/>
            <a:ext cx="22860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Challenge · override · decide</a:t>
            </a:r>
            <a:endParaRPr lang="en-US" sz="960" dirty="0"/>
          </a:p>
        </p:txBody>
      </p:sp>
      <p:sp>
        <p:nvSpPr>
          <p:cNvPr id="16" name="Shape 13"/>
          <p:cNvSpPr/>
          <p:nvPr/>
        </p:nvSpPr>
        <p:spPr>
          <a:xfrm>
            <a:off x="8839200" y="6057900"/>
            <a:ext cx="2667000" cy="266700"/>
          </a:xfrm>
          <a:prstGeom prst="roundRect">
            <a:avLst>
              <a:gd name="adj" fmla="val 54857"/>
            </a:avLst>
          </a:prstGeom>
          <a:solidFill>
            <a:srgbClr val="E7EEF9"/>
          </a:solidFill>
          <a:ln w="6350">
            <a:solidFill>
              <a:srgbClr val="E7EEF9">
                <a:alpha val="0"/>
              </a:srgbClr>
            </a:solidFill>
            <a:prstDash val="solid"/>
          </a:ln>
        </p:spPr>
      </p:sp>
      <p:sp>
        <p:nvSpPr>
          <p:cNvPr id="17" name="Text 14"/>
          <p:cNvSpPr txBox="1"/>
          <p:nvPr/>
        </p:nvSpPr>
        <p:spPr>
          <a:xfrm>
            <a:off x="8915400" y="6080760"/>
            <a:ext cx="2514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LIVE PRODUCT · EOGHAN MCCABE</a:t>
            </a:r>
            <a:endParaRPr lang="en-US" sz="600" dirty="0"/>
          </a:p>
        </p:txBody>
      </p:sp>
      <p:sp>
        <p:nvSpPr>
          <p:cNvPr id="18" name="Text 15"/>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19" name="Text 16"/>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07</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BUILT TO SHIP</a:t>
            </a:r>
            <a:endParaRPr lang="en-US" sz="900" dirty="0"/>
          </a:p>
        </p:txBody>
      </p:sp>
      <p:sp>
        <p:nvSpPr>
          <p:cNvPr id="3" name="Text 1"/>
          <p:cNvSpPr txBox="1"/>
          <p:nvPr/>
        </p:nvSpPr>
        <p:spPr>
          <a:xfrm>
            <a:off x="685800" y="800100"/>
            <a:ext cx="5791200" cy="760781"/>
          </a:xfrm>
          <a:prstGeom prst="rect">
            <a:avLst/>
          </a:prstGeom>
          <a:noFill/>
          <a:ln/>
        </p:spPr>
        <p:txBody>
          <a:bodyPr wrap="square" lIns="0" tIns="0" rIns="0" bIns="0" rtlCol="0" anchor="t">
            <a:normAutofit/>
          </a:bodyPr>
          <a:lstStyle/>
          <a:p>
            <a:pPr algn="l" indent="0" marL="0">
              <a:buNone/>
            </a:pPr>
            <a:r>
              <a:rPr lang="en-US" sz="2880" b="1" dirty="0">
                <a:solidFill>
                  <a:srgbClr val="172337"/>
                </a:solidFill>
                <a:latin typeface="Aptos Display" pitchFamily="34" charset="0"/>
                <a:ea typeface="Aptos Display" pitchFamily="34" charset="-122"/>
                <a:cs typeface="Aptos Display" pitchFamily="34" charset="-120"/>
              </a:rPr>
              <a:t>Implementation that</a:t>
            </a:r>
            <a:endParaRPr lang="en-US" sz="2880" dirty="0"/>
          </a:p>
          <a:p>
            <a:pPr algn="l" indent="0" marL="0">
              <a:buNone/>
            </a:pPr>
            <a:r>
              <a:rPr lang="en-US" sz="2880" b="1" dirty="0">
                <a:solidFill>
                  <a:srgbClr val="172337"/>
                </a:solidFill>
                <a:latin typeface="Aptos Display" pitchFamily="34" charset="0"/>
                <a:ea typeface="Aptos Display" pitchFamily="34" charset="-122"/>
                <a:cs typeface="Aptos Display" pitchFamily="34" charset="-120"/>
              </a:rPr>
              <a:t>matches the promise.</a:t>
            </a:r>
            <a:endParaRPr lang="en-US" sz="2880" dirty="0"/>
          </a:p>
        </p:txBody>
      </p:sp>
      <p:sp>
        <p:nvSpPr>
          <p:cNvPr id="4" name="Text 2"/>
          <p:cNvSpPr txBox="1"/>
          <p:nvPr/>
        </p:nvSpPr>
        <p:spPr>
          <a:xfrm>
            <a:off x="685800" y="1866900"/>
            <a:ext cx="1981200" cy="198120"/>
          </a:xfrm>
          <a:prstGeom prst="rect">
            <a:avLst/>
          </a:prstGeom>
          <a:noFill/>
          <a:ln/>
        </p:spPr>
        <p:txBody>
          <a:bodyPr wrap="square" lIns="0" tIns="0" rIns="0" bIns="0" rtlCol="0" anchor="ctr">
            <a:normAutofit/>
          </a:bodyPr>
          <a:lstStyle/>
          <a:p>
            <a:pPr algn="l" indent="0" marL="0">
              <a:buNone/>
            </a:pPr>
            <a:r>
              <a:rPr lang="en-US" sz="720" b="1" spc="180" kern="0" dirty="0">
                <a:solidFill>
                  <a:srgbClr val="557DC0"/>
                </a:solidFill>
                <a:latin typeface="Aptos" pitchFamily="34" charset="0"/>
                <a:ea typeface="Aptos" pitchFamily="34" charset="-122"/>
                <a:cs typeface="Aptos" pitchFamily="34" charset="-120"/>
              </a:rPr>
              <a:t>TECH STACK</a:t>
            </a:r>
            <a:endParaRPr lang="en-US" sz="720" dirty="0"/>
          </a:p>
        </p:txBody>
      </p:sp>
      <p:sp>
        <p:nvSpPr>
          <p:cNvPr id="5" name="Shape 3"/>
          <p:cNvSpPr/>
          <p:nvPr/>
        </p:nvSpPr>
        <p:spPr>
          <a:xfrm>
            <a:off x="685800" y="2133600"/>
            <a:ext cx="3581400" cy="518160"/>
          </a:xfrm>
          <a:prstGeom prst="roundRect">
            <a:avLst>
              <a:gd name="adj" fmla="val 21176"/>
            </a:avLst>
          </a:prstGeom>
          <a:solidFill>
            <a:srgbClr val="E7EEF9"/>
          </a:solidFill>
          <a:ln w="6350">
            <a:solidFill>
              <a:srgbClr val="E7EEF9">
                <a:alpha val="0"/>
              </a:srgbClr>
            </a:solidFill>
            <a:prstDash val="solid"/>
          </a:ln>
        </p:spPr>
      </p:sp>
      <p:sp>
        <p:nvSpPr>
          <p:cNvPr id="6" name="Text 4"/>
          <p:cNvSpPr txBox="1"/>
          <p:nvPr/>
        </p:nvSpPr>
        <p:spPr>
          <a:xfrm>
            <a:off x="876300" y="2194560"/>
            <a:ext cx="1943100" cy="205740"/>
          </a:xfrm>
          <a:prstGeom prst="rect">
            <a:avLst/>
          </a:prstGeom>
          <a:noFill/>
          <a:ln/>
        </p:spPr>
        <p:txBody>
          <a:bodyPr wrap="square" lIns="0" tIns="0" rIns="0" bIns="0" rtlCol="0" anchor="ctr">
            <a:normAutofit/>
          </a:bodyPr>
          <a:lstStyle/>
          <a:p>
            <a:pPr algn="l" indent="0" marL="0">
              <a:buNone/>
            </a:pPr>
            <a:r>
              <a:rPr lang="en-US" sz="960" b="1" dirty="0">
                <a:solidFill>
                  <a:srgbClr val="557DC0"/>
                </a:solidFill>
                <a:latin typeface="Aptos" pitchFamily="34" charset="0"/>
                <a:ea typeface="Aptos" pitchFamily="34" charset="-122"/>
                <a:cs typeface="Aptos" pitchFamily="34" charset="-120"/>
              </a:rPr>
              <a:t>React + TypeScript</a:t>
            </a:r>
            <a:endParaRPr lang="en-US" sz="960" dirty="0"/>
          </a:p>
        </p:txBody>
      </p:sp>
      <p:sp>
        <p:nvSpPr>
          <p:cNvPr id="7" name="Text 5"/>
          <p:cNvSpPr txBox="1"/>
          <p:nvPr/>
        </p:nvSpPr>
        <p:spPr>
          <a:xfrm>
            <a:off x="2819400" y="2209800"/>
            <a:ext cx="1219200" cy="182880"/>
          </a:xfrm>
          <a:prstGeom prst="rect">
            <a:avLst/>
          </a:prstGeom>
          <a:noFill/>
          <a:ln/>
        </p:spPr>
        <p:txBody>
          <a:bodyPr wrap="square" lIns="0" tIns="0" rIns="0" bIns="0" rtlCol="0" anchor="ctr">
            <a:normAutofit/>
          </a:bodyPr>
          <a:lstStyle/>
          <a:p>
            <a:pPr algn="r" indent="0" marL="0">
              <a:buNone/>
            </a:pPr>
            <a:r>
              <a:rPr lang="en-US" sz="720" b="1" dirty="0">
                <a:solidFill>
                  <a:srgbClr val="718097"/>
                </a:solidFill>
                <a:latin typeface="Aptos" pitchFamily="34" charset="0"/>
                <a:ea typeface="Aptos" pitchFamily="34" charset="-122"/>
                <a:cs typeface="Aptos" pitchFamily="34" charset="-120"/>
              </a:rPr>
              <a:t>Investor SPA</a:t>
            </a:r>
            <a:endParaRPr lang="en-US" sz="720" dirty="0"/>
          </a:p>
        </p:txBody>
      </p:sp>
      <p:sp>
        <p:nvSpPr>
          <p:cNvPr id="8" name="Shape 6"/>
          <p:cNvSpPr/>
          <p:nvPr/>
        </p:nvSpPr>
        <p:spPr>
          <a:xfrm>
            <a:off x="2476500" y="2651760"/>
            <a:ext cx="0" cy="175260"/>
          </a:xfrm>
          <a:prstGeom prst="line">
            <a:avLst/>
          </a:prstGeom>
          <a:noFill/>
          <a:ln w="25400">
            <a:solidFill>
              <a:srgbClr val="DCE5F0"/>
            </a:solidFill>
            <a:prstDash val="solid"/>
            <a:headEnd type="none"/>
            <a:tailEnd type="none"/>
          </a:ln>
        </p:spPr>
      </p:sp>
      <p:sp>
        <p:nvSpPr>
          <p:cNvPr id="9" name="Shape 7"/>
          <p:cNvSpPr/>
          <p:nvPr/>
        </p:nvSpPr>
        <p:spPr>
          <a:xfrm>
            <a:off x="685800" y="2827020"/>
            <a:ext cx="3581400" cy="518160"/>
          </a:xfrm>
          <a:prstGeom prst="roundRect">
            <a:avLst>
              <a:gd name="adj" fmla="val 21176"/>
            </a:avLst>
          </a:prstGeom>
          <a:solidFill>
            <a:srgbClr val="EEE8F8"/>
          </a:solidFill>
          <a:ln w="6350">
            <a:solidFill>
              <a:srgbClr val="EEE8F8">
                <a:alpha val="0"/>
              </a:srgbClr>
            </a:solidFill>
            <a:prstDash val="solid"/>
          </a:ln>
        </p:spPr>
      </p:sp>
      <p:sp>
        <p:nvSpPr>
          <p:cNvPr id="10" name="Text 8"/>
          <p:cNvSpPr txBox="1"/>
          <p:nvPr/>
        </p:nvSpPr>
        <p:spPr>
          <a:xfrm>
            <a:off x="876300" y="2887980"/>
            <a:ext cx="1943100" cy="205740"/>
          </a:xfrm>
          <a:prstGeom prst="rect">
            <a:avLst/>
          </a:prstGeom>
          <a:noFill/>
          <a:ln/>
        </p:spPr>
        <p:txBody>
          <a:bodyPr wrap="square" lIns="0" tIns="0" rIns="0" bIns="0" rtlCol="0" anchor="ctr">
            <a:normAutofit/>
          </a:bodyPr>
          <a:lstStyle/>
          <a:p>
            <a:pPr algn="l" indent="0" marL="0">
              <a:buNone/>
            </a:pPr>
            <a:r>
              <a:rPr lang="en-US" sz="960" b="1" dirty="0">
                <a:solidFill>
                  <a:srgbClr val="7656A5"/>
                </a:solidFill>
                <a:latin typeface="Aptos" pitchFamily="34" charset="0"/>
                <a:ea typeface="Aptos" pitchFamily="34" charset="-122"/>
                <a:cs typeface="Aptos" pitchFamily="34" charset="-120"/>
              </a:rPr>
              <a:t>FastAPI</a:t>
            </a:r>
            <a:endParaRPr lang="en-US" sz="960" dirty="0"/>
          </a:p>
        </p:txBody>
      </p:sp>
      <p:sp>
        <p:nvSpPr>
          <p:cNvPr id="11" name="Text 9"/>
          <p:cNvSpPr txBox="1"/>
          <p:nvPr/>
        </p:nvSpPr>
        <p:spPr>
          <a:xfrm>
            <a:off x="2819400" y="2903220"/>
            <a:ext cx="1219200" cy="182880"/>
          </a:xfrm>
          <a:prstGeom prst="rect">
            <a:avLst/>
          </a:prstGeom>
          <a:noFill/>
          <a:ln/>
        </p:spPr>
        <p:txBody>
          <a:bodyPr wrap="square" lIns="0" tIns="0" rIns="0" bIns="0" rtlCol="0" anchor="ctr">
            <a:normAutofit/>
          </a:bodyPr>
          <a:lstStyle/>
          <a:p>
            <a:pPr algn="r" indent="0" marL="0">
              <a:buNone/>
            </a:pPr>
            <a:r>
              <a:rPr lang="en-US" sz="720" b="1" dirty="0">
                <a:solidFill>
                  <a:srgbClr val="718097"/>
                </a:solidFill>
                <a:latin typeface="Aptos" pitchFamily="34" charset="0"/>
                <a:ea typeface="Aptos" pitchFamily="34" charset="-122"/>
                <a:cs typeface="Aptos" pitchFamily="34" charset="-120"/>
              </a:rPr>
              <a:t>Modular API</a:t>
            </a:r>
            <a:endParaRPr lang="en-US" sz="720" dirty="0"/>
          </a:p>
        </p:txBody>
      </p:sp>
      <p:sp>
        <p:nvSpPr>
          <p:cNvPr id="12" name="Shape 10"/>
          <p:cNvSpPr/>
          <p:nvPr/>
        </p:nvSpPr>
        <p:spPr>
          <a:xfrm>
            <a:off x="2476500" y="3345180"/>
            <a:ext cx="0" cy="175260"/>
          </a:xfrm>
          <a:prstGeom prst="line">
            <a:avLst/>
          </a:prstGeom>
          <a:noFill/>
          <a:ln w="25400">
            <a:solidFill>
              <a:srgbClr val="DCE5F0"/>
            </a:solidFill>
            <a:prstDash val="solid"/>
            <a:headEnd type="none"/>
            <a:tailEnd type="none"/>
          </a:ln>
        </p:spPr>
      </p:sp>
      <p:sp>
        <p:nvSpPr>
          <p:cNvPr id="13" name="Shape 11"/>
          <p:cNvSpPr/>
          <p:nvPr/>
        </p:nvSpPr>
        <p:spPr>
          <a:xfrm>
            <a:off x="685800" y="3520440"/>
            <a:ext cx="3581400" cy="518160"/>
          </a:xfrm>
          <a:prstGeom prst="roundRect">
            <a:avLst>
              <a:gd name="adj" fmla="val 21176"/>
            </a:avLst>
          </a:prstGeom>
          <a:solidFill>
            <a:srgbClr val="FFF1DF"/>
          </a:solidFill>
          <a:ln w="6350">
            <a:solidFill>
              <a:srgbClr val="FFF1DF">
                <a:alpha val="0"/>
              </a:srgbClr>
            </a:solidFill>
            <a:prstDash val="solid"/>
          </a:ln>
        </p:spPr>
      </p:sp>
      <p:sp>
        <p:nvSpPr>
          <p:cNvPr id="14" name="Text 12"/>
          <p:cNvSpPr txBox="1"/>
          <p:nvPr/>
        </p:nvSpPr>
        <p:spPr>
          <a:xfrm>
            <a:off x="876300" y="3581400"/>
            <a:ext cx="1943100" cy="205740"/>
          </a:xfrm>
          <a:prstGeom prst="rect">
            <a:avLst/>
          </a:prstGeom>
          <a:noFill/>
          <a:ln/>
        </p:spPr>
        <p:txBody>
          <a:bodyPr wrap="square" lIns="0" tIns="0" rIns="0" bIns="0" rtlCol="0" anchor="ctr">
            <a:normAutofit/>
          </a:bodyPr>
          <a:lstStyle/>
          <a:p>
            <a:pPr algn="l" indent="0" marL="0">
              <a:buNone/>
            </a:pPr>
            <a:r>
              <a:rPr lang="en-US" sz="960" b="1" dirty="0">
                <a:solidFill>
                  <a:srgbClr val="B87932"/>
                </a:solidFill>
                <a:latin typeface="Aptos" pitchFamily="34" charset="0"/>
                <a:ea typeface="Aptos" pitchFamily="34" charset="-122"/>
                <a:cs typeface="Aptos" pitchFamily="34" charset="-120"/>
              </a:rPr>
              <a:t>ARQ + Redis</a:t>
            </a:r>
            <a:endParaRPr lang="en-US" sz="960" dirty="0"/>
          </a:p>
        </p:txBody>
      </p:sp>
      <p:sp>
        <p:nvSpPr>
          <p:cNvPr id="15" name="Text 13"/>
          <p:cNvSpPr txBox="1"/>
          <p:nvPr/>
        </p:nvSpPr>
        <p:spPr>
          <a:xfrm>
            <a:off x="2819400" y="3596640"/>
            <a:ext cx="1219200" cy="182880"/>
          </a:xfrm>
          <a:prstGeom prst="rect">
            <a:avLst/>
          </a:prstGeom>
          <a:noFill/>
          <a:ln/>
        </p:spPr>
        <p:txBody>
          <a:bodyPr wrap="square" lIns="0" tIns="0" rIns="0" bIns="0" rtlCol="0" anchor="ctr">
            <a:normAutofit/>
          </a:bodyPr>
          <a:lstStyle/>
          <a:p>
            <a:pPr algn="r" indent="0" marL="0">
              <a:buNone/>
            </a:pPr>
            <a:r>
              <a:rPr lang="en-US" sz="720" b="1" dirty="0">
                <a:solidFill>
                  <a:srgbClr val="718097"/>
                </a:solidFill>
                <a:latin typeface="Aptos" pitchFamily="34" charset="0"/>
                <a:ea typeface="Aptos" pitchFamily="34" charset="-122"/>
                <a:cs typeface="Aptos" pitchFamily="34" charset="-120"/>
              </a:rPr>
              <a:t>Async jobs</a:t>
            </a:r>
            <a:endParaRPr lang="en-US" sz="720" dirty="0"/>
          </a:p>
        </p:txBody>
      </p:sp>
      <p:sp>
        <p:nvSpPr>
          <p:cNvPr id="16" name="Shape 14"/>
          <p:cNvSpPr/>
          <p:nvPr/>
        </p:nvSpPr>
        <p:spPr>
          <a:xfrm>
            <a:off x="2476500" y="4038600"/>
            <a:ext cx="0" cy="175260"/>
          </a:xfrm>
          <a:prstGeom prst="line">
            <a:avLst/>
          </a:prstGeom>
          <a:noFill/>
          <a:ln w="25400">
            <a:solidFill>
              <a:srgbClr val="DCE5F0"/>
            </a:solidFill>
            <a:prstDash val="solid"/>
            <a:headEnd type="none"/>
            <a:tailEnd type="none"/>
          </a:ln>
        </p:spPr>
      </p:sp>
      <p:sp>
        <p:nvSpPr>
          <p:cNvPr id="17" name="Shape 15"/>
          <p:cNvSpPr/>
          <p:nvPr/>
        </p:nvSpPr>
        <p:spPr>
          <a:xfrm>
            <a:off x="685800" y="4213860"/>
            <a:ext cx="3581400" cy="518160"/>
          </a:xfrm>
          <a:prstGeom prst="roundRect">
            <a:avLst>
              <a:gd name="adj" fmla="val 21176"/>
            </a:avLst>
          </a:prstGeom>
          <a:solidFill>
            <a:srgbClr val="E4F2ED"/>
          </a:solidFill>
          <a:ln w="6350">
            <a:solidFill>
              <a:srgbClr val="E4F2ED">
                <a:alpha val="0"/>
              </a:srgbClr>
            </a:solidFill>
            <a:prstDash val="solid"/>
          </a:ln>
        </p:spPr>
      </p:sp>
      <p:sp>
        <p:nvSpPr>
          <p:cNvPr id="18" name="Text 16"/>
          <p:cNvSpPr txBox="1"/>
          <p:nvPr/>
        </p:nvSpPr>
        <p:spPr>
          <a:xfrm>
            <a:off x="876300" y="4274820"/>
            <a:ext cx="1943100" cy="205740"/>
          </a:xfrm>
          <a:prstGeom prst="rect">
            <a:avLst/>
          </a:prstGeom>
          <a:noFill/>
          <a:ln/>
        </p:spPr>
        <p:txBody>
          <a:bodyPr wrap="square" lIns="0" tIns="0" rIns="0" bIns="0" rtlCol="0" anchor="ctr">
            <a:normAutofit/>
          </a:bodyPr>
          <a:lstStyle/>
          <a:p>
            <a:pPr algn="l" indent="0" marL="0">
              <a:buNone/>
            </a:pPr>
            <a:r>
              <a:rPr lang="en-US" sz="960" b="1" dirty="0">
                <a:solidFill>
                  <a:srgbClr val="2F8B72"/>
                </a:solidFill>
                <a:latin typeface="Aptos" pitchFamily="34" charset="0"/>
                <a:ea typeface="Aptos" pitchFamily="34" charset="-122"/>
                <a:cs typeface="Aptos" pitchFamily="34" charset="-120"/>
              </a:rPr>
              <a:t>Postgres + pgvector</a:t>
            </a:r>
            <a:endParaRPr lang="en-US" sz="960" dirty="0"/>
          </a:p>
        </p:txBody>
      </p:sp>
      <p:sp>
        <p:nvSpPr>
          <p:cNvPr id="19" name="Text 17"/>
          <p:cNvSpPr txBox="1"/>
          <p:nvPr/>
        </p:nvSpPr>
        <p:spPr>
          <a:xfrm>
            <a:off x="2819400" y="4290060"/>
            <a:ext cx="1219200" cy="182880"/>
          </a:xfrm>
          <a:prstGeom prst="rect">
            <a:avLst/>
          </a:prstGeom>
          <a:noFill/>
          <a:ln/>
        </p:spPr>
        <p:txBody>
          <a:bodyPr wrap="square" lIns="0" tIns="0" rIns="0" bIns="0" rtlCol="0" anchor="ctr">
            <a:normAutofit/>
          </a:bodyPr>
          <a:lstStyle/>
          <a:p>
            <a:pPr algn="r" indent="0" marL="0">
              <a:buNone/>
            </a:pPr>
            <a:r>
              <a:rPr lang="en-US" sz="720" b="1" dirty="0">
                <a:solidFill>
                  <a:srgbClr val="718097"/>
                </a:solidFill>
                <a:latin typeface="Aptos" pitchFamily="34" charset="0"/>
                <a:ea typeface="Aptos" pitchFamily="34" charset="-122"/>
                <a:cs typeface="Aptos" pitchFamily="34" charset="-120"/>
              </a:rPr>
              <a:t>Memory + graph</a:t>
            </a:r>
            <a:endParaRPr lang="en-US" sz="720" dirty="0"/>
          </a:p>
        </p:txBody>
      </p:sp>
      <p:sp>
        <p:nvSpPr>
          <p:cNvPr id="20" name="Shape 18"/>
          <p:cNvSpPr/>
          <p:nvPr/>
        </p:nvSpPr>
        <p:spPr>
          <a:xfrm>
            <a:off x="2476500" y="4732020"/>
            <a:ext cx="0" cy="175260"/>
          </a:xfrm>
          <a:prstGeom prst="line">
            <a:avLst/>
          </a:prstGeom>
          <a:noFill/>
          <a:ln w="25400">
            <a:solidFill>
              <a:srgbClr val="DCE5F0"/>
            </a:solidFill>
            <a:prstDash val="solid"/>
            <a:headEnd type="none"/>
            <a:tailEnd type="none"/>
          </a:ln>
        </p:spPr>
      </p:sp>
      <p:sp>
        <p:nvSpPr>
          <p:cNvPr id="21" name="Shape 19"/>
          <p:cNvSpPr/>
          <p:nvPr/>
        </p:nvSpPr>
        <p:spPr>
          <a:xfrm>
            <a:off x="685800" y="4907280"/>
            <a:ext cx="3581400" cy="518160"/>
          </a:xfrm>
          <a:prstGeom prst="roundRect">
            <a:avLst>
              <a:gd name="adj" fmla="val 21176"/>
            </a:avLst>
          </a:prstGeom>
          <a:solidFill>
            <a:srgbClr val="EAF0F6"/>
          </a:solidFill>
          <a:ln w="6350">
            <a:solidFill>
              <a:srgbClr val="EAF0F6">
                <a:alpha val="0"/>
              </a:srgbClr>
            </a:solidFill>
            <a:prstDash val="solid"/>
          </a:ln>
        </p:spPr>
      </p:sp>
      <p:sp>
        <p:nvSpPr>
          <p:cNvPr id="22" name="Text 20"/>
          <p:cNvSpPr txBox="1"/>
          <p:nvPr/>
        </p:nvSpPr>
        <p:spPr>
          <a:xfrm>
            <a:off x="876300" y="4968240"/>
            <a:ext cx="1943100" cy="205740"/>
          </a:xfrm>
          <a:prstGeom prst="rect">
            <a:avLst/>
          </a:prstGeom>
          <a:noFill/>
          <a:ln/>
        </p:spPr>
        <p:txBody>
          <a:bodyPr wrap="square" lIns="0" tIns="0" rIns="0" bIns="0" rtlCol="0" anchor="ctr">
            <a:normAutofit/>
          </a:bodyPr>
          <a:lstStyle/>
          <a:p>
            <a:pPr algn="l" indent="0" marL="0">
              <a:buNone/>
            </a:pPr>
            <a:r>
              <a:rPr lang="en-US" sz="960" b="1" dirty="0">
                <a:solidFill>
                  <a:srgbClr val="344258"/>
                </a:solidFill>
                <a:latin typeface="Aptos" pitchFamily="34" charset="0"/>
                <a:ea typeface="Aptos" pitchFamily="34" charset="-122"/>
                <a:cs typeface="Aptos" pitchFamily="34" charset="-120"/>
              </a:rPr>
              <a:t>MinIO + Docker</a:t>
            </a:r>
            <a:endParaRPr lang="en-US" sz="960" dirty="0"/>
          </a:p>
        </p:txBody>
      </p:sp>
      <p:sp>
        <p:nvSpPr>
          <p:cNvPr id="23" name="Text 21"/>
          <p:cNvSpPr txBox="1"/>
          <p:nvPr/>
        </p:nvSpPr>
        <p:spPr>
          <a:xfrm>
            <a:off x="2819400" y="4983480"/>
            <a:ext cx="1219200" cy="182880"/>
          </a:xfrm>
          <a:prstGeom prst="rect">
            <a:avLst/>
          </a:prstGeom>
          <a:noFill/>
          <a:ln/>
        </p:spPr>
        <p:txBody>
          <a:bodyPr wrap="square" lIns="0" tIns="0" rIns="0" bIns="0" rtlCol="0" anchor="ctr">
            <a:normAutofit/>
          </a:bodyPr>
          <a:lstStyle/>
          <a:p>
            <a:pPr algn="r" indent="0" marL="0">
              <a:buNone/>
            </a:pPr>
            <a:r>
              <a:rPr lang="en-US" sz="720" b="1" dirty="0">
                <a:solidFill>
                  <a:srgbClr val="718097"/>
                </a:solidFill>
                <a:latin typeface="Aptos" pitchFamily="34" charset="0"/>
                <a:ea typeface="Aptos" pitchFamily="34" charset="-122"/>
                <a:cs typeface="Aptos" pitchFamily="34" charset="-120"/>
              </a:rPr>
              <a:t>Artifacts + deployment</a:t>
            </a:r>
            <a:endParaRPr lang="en-US" sz="720" dirty="0"/>
          </a:p>
        </p:txBody>
      </p:sp>
      <p:sp>
        <p:nvSpPr>
          <p:cNvPr id="24" name="Shape 22"/>
          <p:cNvSpPr/>
          <p:nvPr/>
        </p:nvSpPr>
        <p:spPr>
          <a:xfrm>
            <a:off x="4762500" y="1866900"/>
            <a:ext cx="6743700" cy="4076700"/>
          </a:xfrm>
          <a:prstGeom prst="roundRect">
            <a:avLst>
              <a:gd name="adj" fmla="val 4037"/>
            </a:avLst>
          </a:prstGeom>
          <a:solidFill>
            <a:srgbClr val="FFFFFF"/>
          </a:solidFill>
          <a:ln w="6350">
            <a:solidFill>
              <a:srgbClr val="FFFFFF">
                <a:alpha val="0"/>
              </a:srgbClr>
            </a:solidFill>
            <a:prstDash val="solid"/>
          </a:ln>
          <a:effectLst>
            <a:outerShdw sx="100000" sy="100000" kx="0" ky="0" algn="bl" rotWithShape="0" blurRad="4.471758777120074e+53" dist="8.943517554240149e+53" dir="5.877312307200001e+63">
              <a:srgbClr val="405875">
                <a:alpha val="1.2000000000000001e+64"/>
              </a:srgbClr>
            </a:outerShdw>
          </a:effectLst>
        </p:spPr>
      </p:sp>
      <p:sp>
        <p:nvSpPr>
          <p:cNvPr id="25" name="Text 23"/>
          <p:cNvSpPr txBox="1"/>
          <p:nvPr/>
        </p:nvSpPr>
        <p:spPr>
          <a:xfrm>
            <a:off x="5067300" y="2057400"/>
            <a:ext cx="1981200" cy="213360"/>
          </a:xfrm>
          <a:prstGeom prst="rect">
            <a:avLst/>
          </a:prstGeom>
          <a:noFill/>
          <a:ln/>
        </p:spPr>
        <p:txBody>
          <a:bodyPr wrap="square" lIns="0" tIns="0" rIns="0" bIns="0" rtlCol="0" anchor="ctr">
            <a:normAutofit/>
          </a:bodyPr>
          <a:lstStyle/>
          <a:p>
            <a:pPr algn="l" indent="0" marL="0">
              <a:buNone/>
            </a:pPr>
            <a:r>
              <a:rPr lang="en-US" sz="720" b="1" spc="180" kern="0" dirty="0">
                <a:solidFill>
                  <a:srgbClr val="557DC0"/>
                </a:solidFill>
                <a:latin typeface="Aptos" pitchFamily="34" charset="0"/>
                <a:ea typeface="Aptos" pitchFamily="34" charset="-122"/>
                <a:cs typeface="Aptos" pitchFamily="34" charset="-120"/>
              </a:rPr>
              <a:t>SYSTEM FLOW</a:t>
            </a:r>
            <a:endParaRPr lang="en-US" sz="720" dirty="0"/>
          </a:p>
        </p:txBody>
      </p:sp>
      <p:sp>
        <p:nvSpPr>
          <p:cNvPr id="26" name="Shape 24"/>
          <p:cNvSpPr/>
          <p:nvPr/>
        </p:nvSpPr>
        <p:spPr>
          <a:xfrm>
            <a:off x="5067300" y="2400300"/>
            <a:ext cx="6134100" cy="441960"/>
          </a:xfrm>
          <a:prstGeom prst="roundRect">
            <a:avLst>
              <a:gd name="adj" fmla="val 24828"/>
            </a:avLst>
          </a:prstGeom>
          <a:solidFill>
            <a:srgbClr val="E7EEF9"/>
          </a:solidFill>
          <a:ln w="6350">
            <a:solidFill>
              <a:srgbClr val="E7EEF9">
                <a:alpha val="0"/>
              </a:srgbClr>
            </a:solidFill>
            <a:prstDash val="solid"/>
          </a:ln>
        </p:spPr>
      </p:sp>
      <p:sp>
        <p:nvSpPr>
          <p:cNvPr id="27" name="Shape 25"/>
          <p:cNvSpPr/>
          <p:nvPr/>
        </p:nvSpPr>
        <p:spPr>
          <a:xfrm>
            <a:off x="5181600" y="2491740"/>
            <a:ext cx="365760" cy="259080"/>
          </a:xfrm>
          <a:prstGeom prst="roundRect">
            <a:avLst>
              <a:gd name="adj" fmla="val 56471"/>
            </a:avLst>
          </a:prstGeom>
          <a:solidFill>
            <a:srgbClr val="FFFFFF"/>
          </a:solidFill>
          <a:ln w="6350">
            <a:solidFill>
              <a:srgbClr val="FFFFFF">
                <a:alpha val="0"/>
              </a:srgbClr>
            </a:solidFill>
            <a:prstDash val="solid"/>
          </a:ln>
        </p:spPr>
      </p:sp>
      <p:sp>
        <p:nvSpPr>
          <p:cNvPr id="28" name="Text 26"/>
          <p:cNvSpPr txBox="1"/>
          <p:nvPr/>
        </p:nvSpPr>
        <p:spPr>
          <a:xfrm>
            <a:off x="5257800" y="2514600"/>
            <a:ext cx="213360" cy="21336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01</a:t>
            </a:r>
            <a:endParaRPr lang="en-US" sz="600" dirty="0"/>
          </a:p>
        </p:txBody>
      </p:sp>
      <p:sp>
        <p:nvSpPr>
          <p:cNvPr id="29" name="Text 27"/>
          <p:cNvSpPr txBox="1"/>
          <p:nvPr/>
        </p:nvSpPr>
        <p:spPr>
          <a:xfrm>
            <a:off x="5715000" y="2446020"/>
            <a:ext cx="1905000" cy="18288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Investor SPA</a:t>
            </a:r>
            <a:endParaRPr lang="en-US" sz="960" dirty="0"/>
          </a:p>
        </p:txBody>
      </p:sp>
      <p:sp>
        <p:nvSpPr>
          <p:cNvPr id="30" name="Text 28"/>
          <p:cNvSpPr txBox="1"/>
          <p:nvPr/>
        </p:nvSpPr>
        <p:spPr>
          <a:xfrm>
            <a:off x="7658100" y="2461260"/>
            <a:ext cx="3276600" cy="182880"/>
          </a:xfrm>
          <a:prstGeom prst="rect">
            <a:avLst/>
          </a:prstGeom>
          <a:noFill/>
          <a:ln/>
        </p:spPr>
        <p:txBody>
          <a:bodyPr wrap="square" lIns="0" tIns="0" rIns="0" bIns="0" rtlCol="0" anchor="ctr">
            <a:normAutofit/>
          </a:bodyPr>
          <a:lstStyle/>
          <a:p>
            <a:pPr algn="r" indent="0" marL="0">
              <a:buNone/>
            </a:pPr>
            <a:r>
              <a:rPr lang="en-US" sz="780" dirty="0">
                <a:solidFill>
                  <a:srgbClr val="718097"/>
                </a:solidFill>
                <a:latin typeface="Aptos" pitchFamily="34" charset="0"/>
                <a:ea typeface="Aptos" pitchFamily="34" charset="-122"/>
                <a:cs typeface="Aptos" pitchFamily="34" charset="-120"/>
              </a:rPr>
              <a:t>React UI + evidence drill-down</a:t>
            </a:r>
            <a:endParaRPr lang="en-US" sz="780" dirty="0"/>
          </a:p>
        </p:txBody>
      </p:sp>
      <p:sp>
        <p:nvSpPr>
          <p:cNvPr id="31" name="Text 29"/>
          <p:cNvSpPr txBox="1"/>
          <p:nvPr/>
        </p:nvSpPr>
        <p:spPr>
          <a:xfrm>
            <a:off x="8077200" y="2827020"/>
            <a:ext cx="304800" cy="182880"/>
          </a:xfrm>
          <a:prstGeom prst="rect">
            <a:avLst/>
          </a:prstGeom>
          <a:noFill/>
          <a:ln/>
        </p:spPr>
        <p:txBody>
          <a:bodyPr wrap="square" lIns="0" tIns="0" rIns="0" bIns="0" rtlCol="0" anchor="ctr">
            <a:normAutofit/>
          </a:bodyPr>
          <a:lstStyle/>
          <a:p>
            <a:pPr algn="ctr" indent="0" marL="0">
              <a:buNone/>
            </a:pPr>
            <a:r>
              <a:rPr lang="en-US" sz="960" b="1" dirty="0">
                <a:solidFill>
                  <a:srgbClr val="557DC0"/>
                </a:solidFill>
                <a:latin typeface="Aptos" pitchFamily="34" charset="0"/>
                <a:ea typeface="Aptos" pitchFamily="34" charset="-122"/>
                <a:cs typeface="Aptos" pitchFamily="34" charset="-120"/>
              </a:rPr>
              <a:t>↓</a:t>
            </a:r>
            <a:endParaRPr lang="en-US" sz="960" dirty="0"/>
          </a:p>
        </p:txBody>
      </p:sp>
      <p:sp>
        <p:nvSpPr>
          <p:cNvPr id="32" name="Shape 30"/>
          <p:cNvSpPr/>
          <p:nvPr/>
        </p:nvSpPr>
        <p:spPr>
          <a:xfrm>
            <a:off x="5067300" y="2994660"/>
            <a:ext cx="6134100" cy="441960"/>
          </a:xfrm>
          <a:prstGeom prst="roundRect">
            <a:avLst>
              <a:gd name="adj" fmla="val 24828"/>
            </a:avLst>
          </a:prstGeom>
          <a:solidFill>
            <a:srgbClr val="EEE8F8"/>
          </a:solidFill>
          <a:ln w="6350">
            <a:solidFill>
              <a:srgbClr val="EEE8F8">
                <a:alpha val="0"/>
              </a:srgbClr>
            </a:solidFill>
            <a:prstDash val="solid"/>
          </a:ln>
        </p:spPr>
      </p:sp>
      <p:sp>
        <p:nvSpPr>
          <p:cNvPr id="33" name="Shape 31"/>
          <p:cNvSpPr/>
          <p:nvPr/>
        </p:nvSpPr>
        <p:spPr>
          <a:xfrm>
            <a:off x="5181600" y="3086100"/>
            <a:ext cx="365760" cy="259080"/>
          </a:xfrm>
          <a:prstGeom prst="roundRect">
            <a:avLst>
              <a:gd name="adj" fmla="val 56471"/>
            </a:avLst>
          </a:prstGeom>
          <a:solidFill>
            <a:srgbClr val="FFFFFF"/>
          </a:solidFill>
          <a:ln w="6350">
            <a:solidFill>
              <a:srgbClr val="FFFFFF">
                <a:alpha val="0"/>
              </a:srgbClr>
            </a:solidFill>
            <a:prstDash val="solid"/>
          </a:ln>
        </p:spPr>
      </p:sp>
      <p:sp>
        <p:nvSpPr>
          <p:cNvPr id="34" name="Text 32"/>
          <p:cNvSpPr txBox="1"/>
          <p:nvPr/>
        </p:nvSpPr>
        <p:spPr>
          <a:xfrm>
            <a:off x="5257800" y="3108960"/>
            <a:ext cx="213360" cy="213360"/>
          </a:xfrm>
          <a:prstGeom prst="rect">
            <a:avLst/>
          </a:prstGeom>
          <a:noFill/>
          <a:ln/>
        </p:spPr>
        <p:txBody>
          <a:bodyPr wrap="square" lIns="0" tIns="0" rIns="0" bIns="0" rtlCol="0" anchor="ctr">
            <a:normAutofit/>
          </a:bodyPr>
          <a:lstStyle/>
          <a:p>
            <a:pPr algn="ctr" indent="0" marL="0">
              <a:buNone/>
            </a:pPr>
            <a:r>
              <a:rPr lang="en-US" sz="600" b="1" spc="30" kern="0" dirty="0">
                <a:solidFill>
                  <a:srgbClr val="7656A5"/>
                </a:solidFill>
                <a:latin typeface="Aptos" pitchFamily="34" charset="0"/>
                <a:ea typeface="Aptos" pitchFamily="34" charset="-122"/>
                <a:cs typeface="Aptos" pitchFamily="34" charset="-120"/>
              </a:rPr>
              <a:t>02</a:t>
            </a:r>
            <a:endParaRPr lang="en-US" sz="600" dirty="0"/>
          </a:p>
        </p:txBody>
      </p:sp>
      <p:sp>
        <p:nvSpPr>
          <p:cNvPr id="35" name="Text 33"/>
          <p:cNvSpPr txBox="1"/>
          <p:nvPr/>
        </p:nvSpPr>
        <p:spPr>
          <a:xfrm>
            <a:off x="5715000" y="3040380"/>
            <a:ext cx="1905000" cy="18288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FastAPI core</a:t>
            </a:r>
            <a:endParaRPr lang="en-US" sz="960" dirty="0"/>
          </a:p>
        </p:txBody>
      </p:sp>
      <p:sp>
        <p:nvSpPr>
          <p:cNvPr id="36" name="Text 34"/>
          <p:cNvSpPr txBox="1"/>
          <p:nvPr/>
        </p:nvSpPr>
        <p:spPr>
          <a:xfrm>
            <a:off x="7658100" y="3055620"/>
            <a:ext cx="3276600" cy="182880"/>
          </a:xfrm>
          <a:prstGeom prst="rect">
            <a:avLst/>
          </a:prstGeom>
          <a:noFill/>
          <a:ln/>
        </p:spPr>
        <p:txBody>
          <a:bodyPr wrap="square" lIns="0" tIns="0" rIns="0" bIns="0" rtlCol="0" anchor="ctr">
            <a:normAutofit/>
          </a:bodyPr>
          <a:lstStyle/>
          <a:p>
            <a:pPr algn="r" indent="0" marL="0">
              <a:buNone/>
            </a:pPr>
            <a:r>
              <a:rPr lang="en-US" sz="780" dirty="0">
                <a:solidFill>
                  <a:srgbClr val="718097"/>
                </a:solidFill>
                <a:latin typeface="Aptos" pitchFamily="34" charset="0"/>
                <a:ea typeface="Aptos" pitchFamily="34" charset="-122"/>
                <a:cs typeface="Aptos" pitchFamily="34" charset="-120"/>
              </a:rPr>
              <a:t>Identity, claims, scores, decisions</a:t>
            </a:r>
            <a:endParaRPr lang="en-US" sz="780" dirty="0"/>
          </a:p>
        </p:txBody>
      </p:sp>
      <p:sp>
        <p:nvSpPr>
          <p:cNvPr id="37" name="Text 35"/>
          <p:cNvSpPr txBox="1"/>
          <p:nvPr/>
        </p:nvSpPr>
        <p:spPr>
          <a:xfrm>
            <a:off x="8077200" y="3421380"/>
            <a:ext cx="304800" cy="182880"/>
          </a:xfrm>
          <a:prstGeom prst="rect">
            <a:avLst/>
          </a:prstGeom>
          <a:noFill/>
          <a:ln/>
        </p:spPr>
        <p:txBody>
          <a:bodyPr wrap="square" lIns="0" tIns="0" rIns="0" bIns="0" rtlCol="0" anchor="ctr">
            <a:normAutofit/>
          </a:bodyPr>
          <a:lstStyle/>
          <a:p>
            <a:pPr algn="ctr" indent="0" marL="0">
              <a:buNone/>
            </a:pPr>
            <a:r>
              <a:rPr lang="en-US" sz="960" b="1" dirty="0">
                <a:solidFill>
                  <a:srgbClr val="7656A5"/>
                </a:solidFill>
                <a:latin typeface="Aptos" pitchFamily="34" charset="0"/>
                <a:ea typeface="Aptos" pitchFamily="34" charset="-122"/>
                <a:cs typeface="Aptos" pitchFamily="34" charset="-120"/>
              </a:rPr>
              <a:t>↓</a:t>
            </a:r>
            <a:endParaRPr lang="en-US" sz="960" dirty="0"/>
          </a:p>
        </p:txBody>
      </p:sp>
      <p:sp>
        <p:nvSpPr>
          <p:cNvPr id="38" name="Shape 36"/>
          <p:cNvSpPr/>
          <p:nvPr/>
        </p:nvSpPr>
        <p:spPr>
          <a:xfrm>
            <a:off x="5067300" y="3589020"/>
            <a:ext cx="6134100" cy="441960"/>
          </a:xfrm>
          <a:prstGeom prst="roundRect">
            <a:avLst>
              <a:gd name="adj" fmla="val 24828"/>
            </a:avLst>
          </a:prstGeom>
          <a:solidFill>
            <a:srgbClr val="FFF1DF"/>
          </a:solidFill>
          <a:ln w="6350">
            <a:solidFill>
              <a:srgbClr val="FFF1DF">
                <a:alpha val="0"/>
              </a:srgbClr>
            </a:solidFill>
            <a:prstDash val="solid"/>
          </a:ln>
        </p:spPr>
      </p:sp>
      <p:sp>
        <p:nvSpPr>
          <p:cNvPr id="39" name="Shape 37"/>
          <p:cNvSpPr/>
          <p:nvPr/>
        </p:nvSpPr>
        <p:spPr>
          <a:xfrm>
            <a:off x="5181600" y="3680460"/>
            <a:ext cx="365760" cy="259080"/>
          </a:xfrm>
          <a:prstGeom prst="roundRect">
            <a:avLst>
              <a:gd name="adj" fmla="val 56471"/>
            </a:avLst>
          </a:prstGeom>
          <a:solidFill>
            <a:srgbClr val="FFFFFF"/>
          </a:solidFill>
          <a:ln w="6350">
            <a:solidFill>
              <a:srgbClr val="FFFFFF">
                <a:alpha val="0"/>
              </a:srgbClr>
            </a:solidFill>
            <a:prstDash val="solid"/>
          </a:ln>
        </p:spPr>
      </p:sp>
      <p:sp>
        <p:nvSpPr>
          <p:cNvPr id="40" name="Text 38"/>
          <p:cNvSpPr txBox="1"/>
          <p:nvPr/>
        </p:nvSpPr>
        <p:spPr>
          <a:xfrm>
            <a:off x="5257800" y="3703320"/>
            <a:ext cx="213360" cy="213360"/>
          </a:xfrm>
          <a:prstGeom prst="rect">
            <a:avLst/>
          </a:prstGeom>
          <a:noFill/>
          <a:ln/>
        </p:spPr>
        <p:txBody>
          <a:bodyPr wrap="square" lIns="0" tIns="0" rIns="0" bIns="0" rtlCol="0" anchor="ctr">
            <a:normAutofit/>
          </a:bodyPr>
          <a:lstStyle/>
          <a:p>
            <a:pPr algn="ctr" indent="0" marL="0">
              <a:buNone/>
            </a:pPr>
            <a:r>
              <a:rPr lang="en-US" sz="600" b="1" spc="30" kern="0" dirty="0">
                <a:solidFill>
                  <a:srgbClr val="B87932"/>
                </a:solidFill>
                <a:latin typeface="Aptos" pitchFamily="34" charset="0"/>
                <a:ea typeface="Aptos" pitchFamily="34" charset="-122"/>
                <a:cs typeface="Aptos" pitchFamily="34" charset="-120"/>
              </a:rPr>
              <a:t>03</a:t>
            </a:r>
            <a:endParaRPr lang="en-US" sz="600" dirty="0"/>
          </a:p>
        </p:txBody>
      </p:sp>
      <p:sp>
        <p:nvSpPr>
          <p:cNvPr id="41" name="Text 39"/>
          <p:cNvSpPr txBox="1"/>
          <p:nvPr/>
        </p:nvSpPr>
        <p:spPr>
          <a:xfrm>
            <a:off x="5715000" y="3634740"/>
            <a:ext cx="1905000" cy="18288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Redis → ARQ worker</a:t>
            </a:r>
            <a:endParaRPr lang="en-US" sz="960" dirty="0"/>
          </a:p>
        </p:txBody>
      </p:sp>
      <p:sp>
        <p:nvSpPr>
          <p:cNvPr id="42" name="Text 40"/>
          <p:cNvSpPr txBox="1"/>
          <p:nvPr/>
        </p:nvSpPr>
        <p:spPr>
          <a:xfrm>
            <a:off x="7658100" y="3649980"/>
            <a:ext cx="3276600" cy="182880"/>
          </a:xfrm>
          <a:prstGeom prst="rect">
            <a:avLst/>
          </a:prstGeom>
          <a:noFill/>
          <a:ln/>
        </p:spPr>
        <p:txBody>
          <a:bodyPr wrap="square" lIns="0" tIns="0" rIns="0" bIns="0" rtlCol="0" anchor="ctr">
            <a:normAutofit/>
          </a:bodyPr>
          <a:lstStyle/>
          <a:p>
            <a:pPr algn="r" indent="0" marL="0">
              <a:buNone/>
            </a:pPr>
            <a:r>
              <a:rPr lang="en-US" sz="780" dirty="0">
                <a:solidFill>
                  <a:srgbClr val="718097"/>
                </a:solidFill>
                <a:latin typeface="Aptos" pitchFamily="34" charset="0"/>
                <a:ea typeface="Aptos" pitchFamily="34" charset="-122"/>
                <a:cs typeface="Aptos" pitchFamily="34" charset="-120"/>
              </a:rPr>
              <a:t>Deadline-aware collection jobs</a:t>
            </a:r>
            <a:endParaRPr lang="en-US" sz="780" dirty="0"/>
          </a:p>
        </p:txBody>
      </p:sp>
      <p:sp>
        <p:nvSpPr>
          <p:cNvPr id="43" name="Text 41"/>
          <p:cNvSpPr txBox="1"/>
          <p:nvPr/>
        </p:nvSpPr>
        <p:spPr>
          <a:xfrm>
            <a:off x="8077200" y="4015740"/>
            <a:ext cx="304800" cy="182880"/>
          </a:xfrm>
          <a:prstGeom prst="rect">
            <a:avLst/>
          </a:prstGeom>
          <a:noFill/>
          <a:ln/>
        </p:spPr>
        <p:txBody>
          <a:bodyPr wrap="square" lIns="0" tIns="0" rIns="0" bIns="0" rtlCol="0" anchor="ctr">
            <a:normAutofit/>
          </a:bodyPr>
          <a:lstStyle/>
          <a:p>
            <a:pPr algn="ctr" indent="0" marL="0">
              <a:buNone/>
            </a:pPr>
            <a:r>
              <a:rPr lang="en-US" sz="960" b="1" dirty="0">
                <a:solidFill>
                  <a:srgbClr val="B87932"/>
                </a:solidFill>
                <a:latin typeface="Aptos" pitchFamily="34" charset="0"/>
                <a:ea typeface="Aptos" pitchFamily="34" charset="-122"/>
                <a:cs typeface="Aptos" pitchFamily="34" charset="-120"/>
              </a:rPr>
              <a:t>↓</a:t>
            </a:r>
            <a:endParaRPr lang="en-US" sz="960" dirty="0"/>
          </a:p>
        </p:txBody>
      </p:sp>
      <p:sp>
        <p:nvSpPr>
          <p:cNvPr id="44" name="Shape 42"/>
          <p:cNvSpPr/>
          <p:nvPr/>
        </p:nvSpPr>
        <p:spPr>
          <a:xfrm>
            <a:off x="5067300" y="4183380"/>
            <a:ext cx="6134100" cy="441960"/>
          </a:xfrm>
          <a:prstGeom prst="roundRect">
            <a:avLst>
              <a:gd name="adj" fmla="val 24828"/>
            </a:avLst>
          </a:prstGeom>
          <a:solidFill>
            <a:srgbClr val="E4F2ED"/>
          </a:solidFill>
          <a:ln w="6350">
            <a:solidFill>
              <a:srgbClr val="E4F2ED">
                <a:alpha val="0"/>
              </a:srgbClr>
            </a:solidFill>
            <a:prstDash val="solid"/>
          </a:ln>
        </p:spPr>
      </p:sp>
      <p:sp>
        <p:nvSpPr>
          <p:cNvPr id="45" name="Shape 43"/>
          <p:cNvSpPr/>
          <p:nvPr/>
        </p:nvSpPr>
        <p:spPr>
          <a:xfrm>
            <a:off x="5181600" y="4274820"/>
            <a:ext cx="365760" cy="259080"/>
          </a:xfrm>
          <a:prstGeom prst="roundRect">
            <a:avLst>
              <a:gd name="adj" fmla="val 56471"/>
            </a:avLst>
          </a:prstGeom>
          <a:solidFill>
            <a:srgbClr val="FFFFFF"/>
          </a:solidFill>
          <a:ln w="6350">
            <a:solidFill>
              <a:srgbClr val="FFFFFF">
                <a:alpha val="0"/>
              </a:srgbClr>
            </a:solidFill>
            <a:prstDash val="solid"/>
          </a:ln>
        </p:spPr>
      </p:sp>
      <p:sp>
        <p:nvSpPr>
          <p:cNvPr id="46" name="Text 44"/>
          <p:cNvSpPr txBox="1"/>
          <p:nvPr/>
        </p:nvSpPr>
        <p:spPr>
          <a:xfrm>
            <a:off x="5257800" y="4297680"/>
            <a:ext cx="213360" cy="213360"/>
          </a:xfrm>
          <a:prstGeom prst="rect">
            <a:avLst/>
          </a:prstGeom>
          <a:noFill/>
          <a:ln/>
        </p:spPr>
        <p:txBody>
          <a:bodyPr wrap="square" lIns="0" tIns="0" rIns="0" bIns="0" rtlCol="0" anchor="ctr">
            <a:normAutofit/>
          </a:bodyPr>
          <a:lstStyle/>
          <a:p>
            <a:pPr algn="ctr" indent="0" marL="0">
              <a:buNone/>
            </a:pPr>
            <a:r>
              <a:rPr lang="en-US" sz="600" b="1" spc="30" kern="0" dirty="0">
                <a:solidFill>
                  <a:srgbClr val="2F8B72"/>
                </a:solidFill>
                <a:latin typeface="Aptos" pitchFamily="34" charset="0"/>
                <a:ea typeface="Aptos" pitchFamily="34" charset="-122"/>
                <a:cs typeface="Aptos" pitchFamily="34" charset="-120"/>
              </a:rPr>
              <a:t>04</a:t>
            </a:r>
            <a:endParaRPr lang="en-US" sz="600" dirty="0"/>
          </a:p>
        </p:txBody>
      </p:sp>
      <p:sp>
        <p:nvSpPr>
          <p:cNvPr id="47" name="Text 45"/>
          <p:cNvSpPr txBox="1"/>
          <p:nvPr/>
        </p:nvSpPr>
        <p:spPr>
          <a:xfrm>
            <a:off x="5715000" y="4229100"/>
            <a:ext cx="1905000" cy="18288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Data plane</a:t>
            </a:r>
            <a:endParaRPr lang="en-US" sz="960" dirty="0"/>
          </a:p>
        </p:txBody>
      </p:sp>
      <p:sp>
        <p:nvSpPr>
          <p:cNvPr id="48" name="Text 46"/>
          <p:cNvSpPr txBox="1"/>
          <p:nvPr/>
        </p:nvSpPr>
        <p:spPr>
          <a:xfrm>
            <a:off x="7658100" y="4244340"/>
            <a:ext cx="3276600" cy="182880"/>
          </a:xfrm>
          <a:prstGeom prst="rect">
            <a:avLst/>
          </a:prstGeom>
          <a:noFill/>
          <a:ln/>
        </p:spPr>
        <p:txBody>
          <a:bodyPr wrap="square" lIns="0" tIns="0" rIns="0" bIns="0" rtlCol="0" anchor="ctr">
            <a:normAutofit/>
          </a:bodyPr>
          <a:lstStyle/>
          <a:p>
            <a:pPr algn="r" indent="0" marL="0">
              <a:buNone/>
            </a:pPr>
            <a:r>
              <a:rPr lang="en-US" sz="780" dirty="0">
                <a:solidFill>
                  <a:srgbClr val="718097"/>
                </a:solidFill>
                <a:latin typeface="Aptos" pitchFamily="34" charset="0"/>
                <a:ea typeface="Aptos" pitchFamily="34" charset="-122"/>
                <a:cs typeface="Aptos" pitchFamily="34" charset="-120"/>
              </a:rPr>
              <a:t>Postgres/pgvector + immutable MinIO</a:t>
            </a:r>
            <a:endParaRPr lang="en-US" sz="780" dirty="0"/>
          </a:p>
        </p:txBody>
      </p:sp>
      <p:sp>
        <p:nvSpPr>
          <p:cNvPr id="49" name="Text 47"/>
          <p:cNvSpPr txBox="1"/>
          <p:nvPr/>
        </p:nvSpPr>
        <p:spPr>
          <a:xfrm>
            <a:off x="5067300" y="4914900"/>
            <a:ext cx="2895600" cy="198120"/>
          </a:xfrm>
          <a:prstGeom prst="rect">
            <a:avLst/>
          </a:prstGeom>
          <a:noFill/>
          <a:ln/>
        </p:spPr>
        <p:txBody>
          <a:bodyPr wrap="square" lIns="0" tIns="0" rIns="0" bIns="0" rtlCol="0" anchor="ctr">
            <a:normAutofit/>
          </a:bodyPr>
          <a:lstStyle/>
          <a:p>
            <a:pPr algn="l" indent="0" marL="0">
              <a:buNone/>
            </a:pPr>
            <a:r>
              <a:rPr lang="en-US" sz="720" b="1" spc="160" kern="0" dirty="0">
                <a:solidFill>
                  <a:srgbClr val="557DC0"/>
                </a:solidFill>
                <a:latin typeface="Aptos" pitchFamily="34" charset="0"/>
                <a:ea typeface="Aptos" pitchFamily="34" charset="-122"/>
                <a:cs typeface="Aptos" pitchFamily="34" charset="-120"/>
              </a:rPr>
              <a:t>IMPLEMENTATION PRINCIPLES</a:t>
            </a:r>
            <a:endParaRPr lang="en-US" sz="720" dirty="0"/>
          </a:p>
        </p:txBody>
      </p:sp>
      <p:sp>
        <p:nvSpPr>
          <p:cNvPr id="50" name="Shape 48"/>
          <p:cNvSpPr/>
          <p:nvPr/>
        </p:nvSpPr>
        <p:spPr>
          <a:xfrm>
            <a:off x="5067300" y="5257800"/>
            <a:ext cx="1371600" cy="266700"/>
          </a:xfrm>
          <a:prstGeom prst="roundRect">
            <a:avLst>
              <a:gd name="adj" fmla="val 54857"/>
            </a:avLst>
          </a:prstGeom>
          <a:solidFill>
            <a:srgbClr val="E7EEF9"/>
          </a:solidFill>
          <a:ln w="6350">
            <a:solidFill>
              <a:srgbClr val="E7EEF9">
                <a:alpha val="0"/>
              </a:srgbClr>
            </a:solidFill>
            <a:prstDash val="solid"/>
          </a:ln>
        </p:spPr>
      </p:sp>
      <p:sp>
        <p:nvSpPr>
          <p:cNvPr id="51" name="Text 49"/>
          <p:cNvSpPr txBox="1"/>
          <p:nvPr/>
        </p:nvSpPr>
        <p:spPr>
          <a:xfrm>
            <a:off x="5143500" y="5280660"/>
            <a:ext cx="12192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EVIDENCE-FIRST</a:t>
            </a:r>
            <a:endParaRPr lang="en-US" sz="600" dirty="0"/>
          </a:p>
        </p:txBody>
      </p:sp>
      <p:sp>
        <p:nvSpPr>
          <p:cNvPr id="52" name="Shape 50"/>
          <p:cNvSpPr/>
          <p:nvPr/>
        </p:nvSpPr>
        <p:spPr>
          <a:xfrm>
            <a:off x="6553200" y="5257800"/>
            <a:ext cx="1143000" cy="266700"/>
          </a:xfrm>
          <a:prstGeom prst="roundRect">
            <a:avLst>
              <a:gd name="adj" fmla="val 54857"/>
            </a:avLst>
          </a:prstGeom>
          <a:solidFill>
            <a:srgbClr val="FFF1DF"/>
          </a:solidFill>
          <a:ln w="6350">
            <a:solidFill>
              <a:srgbClr val="FFF1DF">
                <a:alpha val="0"/>
              </a:srgbClr>
            </a:solidFill>
            <a:prstDash val="solid"/>
          </a:ln>
        </p:spPr>
      </p:sp>
      <p:sp>
        <p:nvSpPr>
          <p:cNvPr id="53" name="Text 51"/>
          <p:cNvSpPr txBox="1"/>
          <p:nvPr/>
        </p:nvSpPr>
        <p:spPr>
          <a:xfrm>
            <a:off x="6629400" y="5280660"/>
            <a:ext cx="990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B87932"/>
                </a:solidFill>
                <a:latin typeface="Aptos" pitchFamily="34" charset="0"/>
                <a:ea typeface="Aptos" pitchFamily="34" charset="-122"/>
                <a:cs typeface="Aptos" pitchFamily="34" charset="-120"/>
              </a:rPr>
              <a:t>ASYNC JOBS</a:t>
            </a:r>
            <a:endParaRPr lang="en-US" sz="600" dirty="0"/>
          </a:p>
        </p:txBody>
      </p:sp>
      <p:sp>
        <p:nvSpPr>
          <p:cNvPr id="54" name="Shape 52"/>
          <p:cNvSpPr/>
          <p:nvPr/>
        </p:nvSpPr>
        <p:spPr>
          <a:xfrm>
            <a:off x="7810500" y="5257800"/>
            <a:ext cx="1447800" cy="266700"/>
          </a:xfrm>
          <a:prstGeom prst="roundRect">
            <a:avLst>
              <a:gd name="adj" fmla="val 54857"/>
            </a:avLst>
          </a:prstGeom>
          <a:solidFill>
            <a:srgbClr val="EEE8F8"/>
          </a:solidFill>
          <a:ln w="6350">
            <a:solidFill>
              <a:srgbClr val="EEE8F8">
                <a:alpha val="0"/>
              </a:srgbClr>
            </a:solidFill>
            <a:prstDash val="solid"/>
          </a:ln>
        </p:spPr>
      </p:sp>
      <p:sp>
        <p:nvSpPr>
          <p:cNvPr id="55" name="Text 53"/>
          <p:cNvSpPr txBox="1"/>
          <p:nvPr/>
        </p:nvSpPr>
        <p:spPr>
          <a:xfrm>
            <a:off x="7886700" y="5280660"/>
            <a:ext cx="12954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7656A5"/>
                </a:solidFill>
                <a:latin typeface="Aptos" pitchFamily="34" charset="0"/>
                <a:ea typeface="Aptos" pitchFamily="34" charset="-122"/>
                <a:cs typeface="Aptos" pitchFamily="34" charset="-120"/>
              </a:rPr>
              <a:t>VERSIONED SCORES</a:t>
            </a:r>
            <a:endParaRPr lang="en-US" sz="600" dirty="0"/>
          </a:p>
        </p:txBody>
      </p:sp>
      <p:sp>
        <p:nvSpPr>
          <p:cNvPr id="56" name="Shape 54"/>
          <p:cNvSpPr/>
          <p:nvPr/>
        </p:nvSpPr>
        <p:spPr>
          <a:xfrm>
            <a:off x="9372600" y="5257800"/>
            <a:ext cx="1333500" cy="266700"/>
          </a:xfrm>
          <a:prstGeom prst="roundRect">
            <a:avLst>
              <a:gd name="adj" fmla="val 54857"/>
            </a:avLst>
          </a:prstGeom>
          <a:solidFill>
            <a:srgbClr val="E4F2ED"/>
          </a:solidFill>
          <a:ln w="6350">
            <a:solidFill>
              <a:srgbClr val="E4F2ED">
                <a:alpha val="0"/>
              </a:srgbClr>
            </a:solidFill>
            <a:prstDash val="solid"/>
          </a:ln>
        </p:spPr>
      </p:sp>
      <p:sp>
        <p:nvSpPr>
          <p:cNvPr id="57" name="Text 55"/>
          <p:cNvSpPr txBox="1"/>
          <p:nvPr/>
        </p:nvSpPr>
        <p:spPr>
          <a:xfrm>
            <a:off x="9448800" y="5280660"/>
            <a:ext cx="1181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2F8B72"/>
                </a:solidFill>
                <a:latin typeface="Aptos" pitchFamily="34" charset="0"/>
                <a:ea typeface="Aptos" pitchFamily="34" charset="-122"/>
                <a:cs typeface="Aptos" pitchFamily="34" charset="-120"/>
              </a:rPr>
              <a:t>DOCKER-FIRST</a:t>
            </a:r>
            <a:endParaRPr lang="en-US" sz="600" dirty="0"/>
          </a:p>
        </p:txBody>
      </p:sp>
      <p:sp>
        <p:nvSpPr>
          <p:cNvPr id="58" name="Text 56"/>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59" name="Text 57"/>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08</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PROOF, NOT PROMISE</a:t>
            </a:r>
            <a:endParaRPr lang="en-US" sz="900" dirty="0"/>
          </a:p>
        </p:txBody>
      </p:sp>
      <p:sp>
        <p:nvSpPr>
          <p:cNvPr id="3" name="Text 1"/>
          <p:cNvSpPr txBox="1"/>
          <p:nvPr/>
        </p:nvSpPr>
        <p:spPr>
          <a:xfrm>
            <a:off x="685800" y="800100"/>
            <a:ext cx="5791200" cy="792480"/>
          </a:xfrm>
          <a:prstGeom prst="rect">
            <a:avLst/>
          </a:prstGeom>
          <a:noFill/>
          <a:ln/>
        </p:spPr>
        <p:txBody>
          <a:bodyPr wrap="square" lIns="0" tIns="0" rIns="0" bIns="0" rtlCol="0" anchor="t">
            <a:normAutofit/>
          </a:bodyPr>
          <a:lstStyle/>
          <a:p>
            <a:pPr algn="l" indent="0" marL="0">
              <a:buNone/>
            </a:pPr>
            <a:r>
              <a:rPr lang="en-US" sz="3000" b="1" dirty="0">
                <a:solidFill>
                  <a:srgbClr val="172337"/>
                </a:solidFill>
                <a:latin typeface="Aptos Display" pitchFamily="34" charset="0"/>
                <a:ea typeface="Aptos Display" pitchFamily="34" charset="-122"/>
                <a:cs typeface="Aptos Display" pitchFamily="34" charset="-120"/>
              </a:rPr>
              <a:t>Built, tested,</a:t>
            </a:r>
            <a:endParaRPr lang="en-US" sz="3000" dirty="0"/>
          </a:p>
          <a:p>
            <a:pPr algn="l" indent="0" marL="0">
              <a:buNone/>
            </a:pPr>
            <a:r>
              <a:rPr lang="en-US" sz="3000" b="1" dirty="0">
                <a:solidFill>
                  <a:srgbClr val="172337"/>
                </a:solidFill>
                <a:latin typeface="Aptos Display" pitchFamily="34" charset="0"/>
                <a:ea typeface="Aptos Display" pitchFamily="34" charset="-122"/>
                <a:cs typeface="Aptos Display" pitchFamily="34" charset="-120"/>
              </a:rPr>
              <a:t>and decision-ready.</a:t>
            </a:r>
            <a:endParaRPr lang="en-US" sz="3000" dirty="0"/>
          </a:p>
        </p:txBody>
      </p:sp>
      <p:sp>
        <p:nvSpPr>
          <p:cNvPr id="4" name="Text 2"/>
          <p:cNvSpPr txBox="1"/>
          <p:nvPr/>
        </p:nvSpPr>
        <p:spPr>
          <a:xfrm>
            <a:off x="685800" y="1722120"/>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Real data, live state transitions, reproducible scores and an investor-ready interface.</a:t>
            </a:r>
            <a:endParaRPr lang="en-US" sz="1200" dirty="0"/>
          </a:p>
        </p:txBody>
      </p:sp>
      <p:sp>
        <p:nvSpPr>
          <p:cNvPr id="5" name="Shape 3"/>
          <p:cNvSpPr/>
          <p:nvPr/>
        </p:nvSpPr>
        <p:spPr>
          <a:xfrm>
            <a:off x="6858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5.679133646942494e+57" dist="1.1358267293884988e+58" dir="3.526387384320001e+68">
              <a:srgbClr val="405875">
                <a:alpha val="1.2e+69"/>
              </a:srgbClr>
            </a:outerShdw>
          </a:effectLst>
        </p:spPr>
      </p:sp>
      <p:sp>
        <p:nvSpPr>
          <p:cNvPr id="6" name="Text 4"/>
          <p:cNvSpPr txBox="1"/>
          <p:nvPr/>
        </p:nvSpPr>
        <p:spPr>
          <a:xfrm>
            <a:off x="9144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2F8B72"/>
                </a:solidFill>
                <a:latin typeface="Aptos Display" pitchFamily="34" charset="0"/>
                <a:ea typeface="Aptos Display" pitchFamily="34" charset="-122"/>
                <a:cs typeface="Aptos Display" pitchFamily="34" charset="-120"/>
              </a:rPr>
              <a:t>10</a:t>
            </a:r>
            <a:endParaRPr lang="en-US" sz="3840" dirty="0"/>
          </a:p>
        </p:txBody>
      </p:sp>
      <p:sp>
        <p:nvSpPr>
          <p:cNvPr id="7" name="Text 5"/>
          <p:cNvSpPr txBox="1"/>
          <p:nvPr/>
        </p:nvSpPr>
        <p:spPr>
          <a:xfrm>
            <a:off x="9144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public-source</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collectors</a:t>
            </a:r>
            <a:endParaRPr lang="en-US" sz="1200" dirty="0"/>
          </a:p>
        </p:txBody>
      </p:sp>
      <p:sp>
        <p:nvSpPr>
          <p:cNvPr id="8" name="Shape 6"/>
          <p:cNvSpPr/>
          <p:nvPr/>
        </p:nvSpPr>
        <p:spPr>
          <a:xfrm>
            <a:off x="35052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7.212499731616968e+61" dist="1.4424999463233936e+62" dir="2.1158324305920003e+73">
              <a:srgbClr val="405875">
                <a:alpha val="1.2e+74"/>
              </a:srgbClr>
            </a:outerShdw>
          </a:effectLst>
        </p:spPr>
      </p:sp>
      <p:sp>
        <p:nvSpPr>
          <p:cNvPr id="9" name="Text 7"/>
          <p:cNvSpPr txBox="1"/>
          <p:nvPr/>
        </p:nvSpPr>
        <p:spPr>
          <a:xfrm>
            <a:off x="37338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557DC0"/>
                </a:solidFill>
                <a:latin typeface="Aptos Display" pitchFamily="34" charset="0"/>
                <a:ea typeface="Aptos Display" pitchFamily="34" charset="-122"/>
                <a:cs typeface="Aptos Display" pitchFamily="34" charset="-120"/>
              </a:rPr>
              <a:t>112</a:t>
            </a:r>
            <a:endParaRPr lang="en-US" sz="3840" dirty="0"/>
          </a:p>
        </p:txBody>
      </p:sp>
      <p:sp>
        <p:nvSpPr>
          <p:cNvPr id="10" name="Text 8"/>
          <p:cNvSpPr txBox="1"/>
          <p:nvPr/>
        </p:nvSpPr>
        <p:spPr>
          <a:xfrm>
            <a:off x="37338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persistent founder</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identities</a:t>
            </a:r>
            <a:endParaRPr lang="en-US" sz="1200" dirty="0"/>
          </a:p>
        </p:txBody>
      </p:sp>
      <p:sp>
        <p:nvSpPr>
          <p:cNvPr id="11" name="Shape 9"/>
          <p:cNvSpPr/>
          <p:nvPr/>
        </p:nvSpPr>
        <p:spPr>
          <a:xfrm>
            <a:off x="63246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9.15987465915355e+65" dist="1.83197493183071e+66" dir="1.2694994583552002e+78">
              <a:srgbClr val="405875">
                <a:alpha val="1.2000000000000001e+79"/>
              </a:srgbClr>
            </a:outerShdw>
          </a:effectLst>
        </p:spPr>
      </p:sp>
      <p:sp>
        <p:nvSpPr>
          <p:cNvPr id="12" name="Text 10"/>
          <p:cNvSpPr txBox="1"/>
          <p:nvPr/>
        </p:nvSpPr>
        <p:spPr>
          <a:xfrm>
            <a:off x="65532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7656A5"/>
                </a:solidFill>
                <a:latin typeface="Aptos Display" pitchFamily="34" charset="0"/>
                <a:ea typeface="Aptos Display" pitchFamily="34" charset="-122"/>
                <a:cs typeface="Aptos Display" pitchFamily="34" charset="-120"/>
              </a:rPr>
              <a:t>106</a:t>
            </a:r>
            <a:endParaRPr lang="en-US" sz="3840" dirty="0"/>
          </a:p>
        </p:txBody>
      </p:sp>
      <p:sp>
        <p:nvSpPr>
          <p:cNvPr id="13" name="Text 11"/>
          <p:cNvSpPr txBox="1"/>
          <p:nvPr/>
        </p:nvSpPr>
        <p:spPr>
          <a:xfrm>
            <a:off x="65532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automated</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tests passed</a:t>
            </a:r>
            <a:endParaRPr lang="en-US" sz="1200" dirty="0"/>
          </a:p>
        </p:txBody>
      </p:sp>
      <p:sp>
        <p:nvSpPr>
          <p:cNvPr id="14" name="Shape 12"/>
          <p:cNvSpPr/>
          <p:nvPr/>
        </p:nvSpPr>
        <p:spPr>
          <a:xfrm>
            <a:off x="91440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1.1633040817125008e+70" dist="2.3266081634250016e+70" dir="7.616996750131201e+82">
              <a:srgbClr val="405875">
                <a:alpha val="1.2000000000000002e+84"/>
              </a:srgbClr>
            </a:outerShdw>
          </a:effectLst>
        </p:spPr>
      </p:sp>
      <p:sp>
        <p:nvSpPr>
          <p:cNvPr id="15" name="Text 13"/>
          <p:cNvSpPr txBox="1"/>
          <p:nvPr/>
        </p:nvSpPr>
        <p:spPr>
          <a:xfrm>
            <a:off x="93726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B87932"/>
                </a:solidFill>
                <a:latin typeface="Aptos Display" pitchFamily="34" charset="0"/>
                <a:ea typeface="Aptos Display" pitchFamily="34" charset="-122"/>
                <a:cs typeface="Aptos Display" pitchFamily="34" charset="-120"/>
              </a:rPr>
              <a:t>24h</a:t>
            </a:r>
            <a:endParaRPr lang="en-US" sz="3840" dirty="0"/>
          </a:p>
        </p:txBody>
      </p:sp>
      <p:sp>
        <p:nvSpPr>
          <p:cNvPr id="16" name="Text 14"/>
          <p:cNvSpPr txBox="1"/>
          <p:nvPr/>
        </p:nvSpPr>
        <p:spPr>
          <a:xfrm>
            <a:off x="93726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decision</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north star</a:t>
            </a:r>
            <a:endParaRPr lang="en-US" sz="1200" dirty="0"/>
          </a:p>
        </p:txBody>
      </p:sp>
      <p:sp>
        <p:nvSpPr>
          <p:cNvPr id="17" name="Shape 15"/>
          <p:cNvSpPr/>
          <p:nvPr/>
        </p:nvSpPr>
        <p:spPr>
          <a:xfrm>
            <a:off x="701040" y="4907280"/>
            <a:ext cx="91440" cy="91440"/>
          </a:xfrm>
          <a:prstGeom prst="ellipse">
            <a:avLst/>
          </a:prstGeom>
          <a:solidFill>
            <a:srgbClr val="2F8B72"/>
          </a:solidFill>
          <a:ln w="12700">
            <a:solidFill>
              <a:srgbClr val="333333">
                <a:alpha val="0"/>
              </a:srgbClr>
            </a:solidFill>
            <a:prstDash val="solid"/>
          </a:ln>
        </p:spPr>
      </p:sp>
      <p:sp>
        <p:nvSpPr>
          <p:cNvPr id="18" name="Text 16"/>
          <p:cNvSpPr txBox="1"/>
          <p:nvPr/>
        </p:nvSpPr>
        <p:spPr>
          <a:xfrm>
            <a:off x="8915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Autonomous discovery</a:t>
            </a:r>
            <a:endParaRPr lang="en-US" sz="960" dirty="0"/>
          </a:p>
        </p:txBody>
      </p:sp>
      <p:sp>
        <p:nvSpPr>
          <p:cNvPr id="19" name="Text 17"/>
          <p:cNvSpPr txBox="1"/>
          <p:nvPr/>
        </p:nvSpPr>
        <p:spPr>
          <a:xfrm>
            <a:off x="8915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Signals before fundraising</a:t>
            </a:r>
            <a:endParaRPr lang="en-US" sz="780" dirty="0"/>
          </a:p>
        </p:txBody>
      </p:sp>
      <p:sp>
        <p:nvSpPr>
          <p:cNvPr id="20" name="Shape 18"/>
          <p:cNvSpPr/>
          <p:nvPr/>
        </p:nvSpPr>
        <p:spPr>
          <a:xfrm>
            <a:off x="3520440" y="4907280"/>
            <a:ext cx="91440" cy="91440"/>
          </a:xfrm>
          <a:prstGeom prst="ellipse">
            <a:avLst/>
          </a:prstGeom>
          <a:solidFill>
            <a:srgbClr val="2F8B72"/>
          </a:solidFill>
          <a:ln w="12700">
            <a:solidFill>
              <a:srgbClr val="333333">
                <a:alpha val="0"/>
              </a:srgbClr>
            </a:solidFill>
            <a:prstDash val="solid"/>
          </a:ln>
        </p:spPr>
      </p:sp>
      <p:sp>
        <p:nvSpPr>
          <p:cNvPr id="21" name="Text 19"/>
          <p:cNvSpPr txBox="1"/>
          <p:nvPr/>
        </p:nvSpPr>
        <p:spPr>
          <a:xfrm>
            <a:off x="37109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Explainable scoring</a:t>
            </a:r>
            <a:endParaRPr lang="en-US" sz="960" dirty="0"/>
          </a:p>
        </p:txBody>
      </p:sp>
      <p:sp>
        <p:nvSpPr>
          <p:cNvPr id="22" name="Text 20"/>
          <p:cNvSpPr txBox="1"/>
          <p:nvPr/>
        </p:nvSpPr>
        <p:spPr>
          <a:xfrm>
            <a:off x="37109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Per-claim provenance + confidence</a:t>
            </a:r>
            <a:endParaRPr lang="en-US" sz="780" dirty="0"/>
          </a:p>
        </p:txBody>
      </p:sp>
      <p:sp>
        <p:nvSpPr>
          <p:cNvPr id="23" name="Shape 21"/>
          <p:cNvSpPr/>
          <p:nvPr/>
        </p:nvSpPr>
        <p:spPr>
          <a:xfrm>
            <a:off x="6339840" y="4907280"/>
            <a:ext cx="91440" cy="91440"/>
          </a:xfrm>
          <a:prstGeom prst="ellipse">
            <a:avLst/>
          </a:prstGeom>
          <a:solidFill>
            <a:srgbClr val="2F8B72"/>
          </a:solidFill>
          <a:ln w="12700">
            <a:solidFill>
              <a:srgbClr val="333333">
                <a:alpha val="0"/>
              </a:srgbClr>
            </a:solidFill>
            <a:prstDash val="solid"/>
          </a:ln>
        </p:spPr>
      </p:sp>
      <p:sp>
        <p:nvSpPr>
          <p:cNvPr id="24" name="Text 22"/>
          <p:cNvSpPr txBox="1"/>
          <p:nvPr/>
        </p:nvSpPr>
        <p:spPr>
          <a:xfrm>
            <a:off x="65303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Actionable output</a:t>
            </a:r>
            <a:endParaRPr lang="en-US" sz="960" dirty="0"/>
          </a:p>
        </p:txBody>
      </p:sp>
      <p:sp>
        <p:nvSpPr>
          <p:cNvPr id="25" name="Text 23"/>
          <p:cNvSpPr txBox="1"/>
          <p:nvPr/>
        </p:nvSpPr>
        <p:spPr>
          <a:xfrm>
            <a:off x="65303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Memo + next step + human approval</a:t>
            </a:r>
            <a:endParaRPr lang="en-US" sz="780" dirty="0"/>
          </a:p>
        </p:txBody>
      </p:sp>
      <p:sp>
        <p:nvSpPr>
          <p:cNvPr id="26" name="Shape 24"/>
          <p:cNvSpPr/>
          <p:nvPr/>
        </p:nvSpPr>
        <p:spPr>
          <a:xfrm>
            <a:off x="9159240" y="4907280"/>
            <a:ext cx="91440" cy="91440"/>
          </a:xfrm>
          <a:prstGeom prst="ellipse">
            <a:avLst/>
          </a:prstGeom>
          <a:solidFill>
            <a:srgbClr val="2F8B72"/>
          </a:solidFill>
          <a:ln w="12700">
            <a:solidFill>
              <a:srgbClr val="333333">
                <a:alpha val="0"/>
              </a:srgbClr>
            </a:solidFill>
            <a:prstDash val="solid"/>
          </a:ln>
        </p:spPr>
      </p:sp>
      <p:sp>
        <p:nvSpPr>
          <p:cNvPr id="27" name="Text 25"/>
          <p:cNvSpPr txBox="1"/>
          <p:nvPr/>
        </p:nvSpPr>
        <p:spPr>
          <a:xfrm>
            <a:off x="93497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Learning memory</a:t>
            </a:r>
            <a:endParaRPr lang="en-US" sz="960" dirty="0"/>
          </a:p>
        </p:txBody>
      </p:sp>
      <p:sp>
        <p:nvSpPr>
          <p:cNvPr id="28" name="Text 26"/>
          <p:cNvSpPr txBox="1"/>
          <p:nvPr/>
        </p:nvSpPr>
        <p:spPr>
          <a:xfrm>
            <a:off x="93497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Every outcome sharpens future scoring</a:t>
            </a:r>
            <a:endParaRPr lang="en-US" sz="780" dirty="0"/>
          </a:p>
        </p:txBody>
      </p:sp>
      <p:sp>
        <p:nvSpPr>
          <p:cNvPr id="29" name="Shape 27"/>
          <p:cNvSpPr/>
          <p:nvPr/>
        </p:nvSpPr>
        <p:spPr>
          <a:xfrm>
            <a:off x="3695700" y="5791200"/>
            <a:ext cx="4800600" cy="266700"/>
          </a:xfrm>
          <a:prstGeom prst="roundRect">
            <a:avLst>
              <a:gd name="adj" fmla="val 54857"/>
            </a:avLst>
          </a:prstGeom>
          <a:solidFill>
            <a:srgbClr val="E7EEF9"/>
          </a:solidFill>
          <a:ln w="6350">
            <a:solidFill>
              <a:srgbClr val="E7EEF9">
                <a:alpha val="0"/>
              </a:srgbClr>
            </a:solidFill>
            <a:prstDash val="solid"/>
          </a:ln>
        </p:spPr>
      </p:sp>
      <p:sp>
        <p:nvSpPr>
          <p:cNvPr id="30" name="Text 28"/>
          <p:cNvSpPr txBox="1"/>
          <p:nvPr/>
        </p:nvSpPr>
        <p:spPr>
          <a:xfrm>
            <a:off x="3771900" y="5814060"/>
            <a:ext cx="46482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SOURCING → SCREENING → DILIGENCE → DECISION</a:t>
            </a:r>
            <a:endParaRPr lang="en-US" sz="660" dirty="0"/>
          </a:p>
        </p:txBody>
      </p:sp>
      <p:sp>
        <p:nvSpPr>
          <p:cNvPr id="31" name="Text 29"/>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32" name="Text 30"/>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09</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337"/>
        </a:solidFill>
      </p:bgPr>
    </p:bg>
    <p:spTree>
      <p:nvGrpSpPr>
        <p:cNvPr id="1" name=""/>
        <p:cNvGrpSpPr/>
        <p:nvPr/>
      </p:nvGrpSpPr>
      <p:grpSpPr>
        <a:xfrm>
          <a:off x="0" y="0"/>
          <a:ext cx="0" cy="0"/>
          <a:chOff x="0" y="0"/>
          <a:chExt cx="0" cy="0"/>
        </a:xfrm>
      </p:grpSpPr>
      <p:sp>
        <p:nvSpPr>
          <p:cNvPr id="2" name="Shape 0"/>
          <p:cNvSpPr/>
          <p:nvPr/>
        </p:nvSpPr>
        <p:spPr>
          <a:xfrm>
            <a:off x="6781800" y="-1752600"/>
            <a:ext cx="5791200" cy="5791200"/>
          </a:xfrm>
          <a:prstGeom prst="ellipse">
            <a:avLst/>
          </a:prstGeom>
          <a:solidFill>
            <a:srgbClr val="557DC0">
              <a:alpha val="14000"/>
            </a:srgbClr>
          </a:solidFill>
          <a:ln w="12700">
            <a:solidFill>
              <a:srgbClr val="333333">
                <a:alpha val="0"/>
              </a:srgbClr>
            </a:solidFill>
            <a:prstDash val="solid"/>
          </a:ln>
        </p:spPr>
      </p:sp>
      <p:sp>
        <p:nvSpPr>
          <p:cNvPr id="3" name="Shape 1"/>
          <p:cNvSpPr/>
          <p:nvPr/>
        </p:nvSpPr>
        <p:spPr>
          <a:xfrm>
            <a:off x="-533400" y="4038600"/>
            <a:ext cx="4724400" cy="4724400"/>
          </a:xfrm>
          <a:prstGeom prst="ellipse">
            <a:avLst/>
          </a:prstGeom>
          <a:solidFill>
            <a:srgbClr val="2F8B72">
              <a:alpha val="14000"/>
            </a:srgbClr>
          </a:solidFill>
          <a:ln w="12700">
            <a:solidFill>
              <a:srgbClr val="333333">
                <a:alpha val="0"/>
              </a:srgbClr>
            </a:solidFill>
            <a:prstDash val="solid"/>
          </a:ln>
        </p:spPr>
      </p:sp>
      <p:sp>
        <p:nvSpPr>
          <p:cNvPr id="4" name="Text 2"/>
          <p:cNvSpPr/>
          <p:nvPr/>
        </p:nvSpPr>
        <p:spPr>
          <a:xfrm>
            <a:off x="685800" y="472440"/>
            <a:ext cx="1371600" cy="24384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FirstCheck</a:t>
            </a:r>
            <a:pPr indent="0" marL="0">
              <a:buNone/>
            </a:pPr>
            <a:r>
              <a:rPr lang="en-US" sz="1200" b="1" dirty="0">
                <a:solidFill>
                  <a:srgbClr val="AFC8F6"/>
                </a:solidFill>
                <a:latin typeface="Aptos Display" pitchFamily="34" charset="0"/>
                <a:ea typeface="Aptos Display" pitchFamily="34" charset="-122"/>
                <a:cs typeface="Aptos Display" pitchFamily="34" charset="-120"/>
              </a:rPr>
              <a:t>24</a:t>
            </a:r>
            <a:endParaRPr lang="en-US" sz="1400" dirty="0"/>
          </a:p>
        </p:txBody>
      </p:sp>
      <p:sp>
        <p:nvSpPr>
          <p:cNvPr id="5" name="Text 3"/>
          <p:cNvSpPr txBox="1"/>
          <p:nvPr/>
        </p:nvSpPr>
        <p:spPr>
          <a:xfrm>
            <a:off x="685800" y="1562100"/>
            <a:ext cx="2514600" cy="228600"/>
          </a:xfrm>
          <a:prstGeom prst="rect">
            <a:avLst/>
          </a:prstGeom>
          <a:noFill/>
          <a:ln/>
        </p:spPr>
        <p:txBody>
          <a:bodyPr wrap="square" lIns="0" tIns="0" rIns="0" bIns="0" rtlCol="0" anchor="ctr">
            <a:normAutofit/>
          </a:bodyPr>
          <a:lstStyle/>
          <a:p>
            <a:pPr algn="l" indent="0" marL="0">
              <a:buNone/>
            </a:pPr>
            <a:r>
              <a:rPr lang="en-US" sz="900" b="1" spc="300" kern="0" dirty="0">
                <a:solidFill>
                  <a:srgbClr val="AFC8F6"/>
                </a:solidFill>
                <a:latin typeface="Aptos" pitchFamily="34" charset="0"/>
                <a:ea typeface="Aptos" pitchFamily="34" charset="-122"/>
                <a:cs typeface="Aptos" pitchFamily="34" charset="-120"/>
              </a:rPr>
              <a:t>THE OUTCOME</a:t>
            </a:r>
            <a:endParaRPr lang="en-US" sz="900" dirty="0"/>
          </a:p>
        </p:txBody>
      </p:sp>
      <p:sp>
        <p:nvSpPr>
          <p:cNvPr id="6" name="Text 4"/>
          <p:cNvSpPr txBox="1"/>
          <p:nvPr/>
        </p:nvSpPr>
        <p:spPr>
          <a:xfrm>
            <a:off x="685800" y="1981200"/>
            <a:ext cx="6858000" cy="1752600"/>
          </a:xfrm>
          <a:prstGeom prst="rect">
            <a:avLst/>
          </a:prstGeom>
          <a:noFill/>
          <a:ln/>
        </p:spPr>
        <p:txBody>
          <a:bodyPr wrap="square" lIns="0" tIns="0" rIns="0" bIns="0" rtlCol="0" anchor="t">
            <a:normAutofit/>
          </a:bodyPr>
          <a:lstStyle/>
          <a:p>
            <a:pPr algn="l" indent="0" marL="0">
              <a:buNone/>
            </a:pPr>
            <a:r>
              <a:rPr lang="en-US" sz="3840" b="1" dirty="0">
                <a:solidFill>
                  <a:srgbClr val="FFFFFF"/>
                </a:solidFill>
                <a:latin typeface="Aptos Display" pitchFamily="34" charset="0"/>
                <a:ea typeface="Aptos Display" pitchFamily="34" charset="-122"/>
                <a:cs typeface="Aptos Display" pitchFamily="34" charset="-120"/>
              </a:rPr>
              <a:t>Find first.</a:t>
            </a:r>
            <a:endParaRPr lang="en-US" sz="3840" dirty="0"/>
          </a:p>
          <a:p>
            <a:pPr algn="l" indent="0" marL="0">
              <a:buNone/>
            </a:pPr>
            <a:r>
              <a:rPr lang="en-US" sz="3840" b="1" dirty="0">
                <a:solidFill>
                  <a:srgbClr val="FFFFFF"/>
                </a:solidFill>
                <a:latin typeface="Aptos Display" pitchFamily="34" charset="0"/>
                <a:ea typeface="Aptos Display" pitchFamily="34" charset="-122"/>
                <a:cs typeface="Aptos Display" pitchFamily="34" charset="-120"/>
              </a:rPr>
              <a:t>Explain everything.</a:t>
            </a:r>
            <a:endParaRPr lang="en-US" sz="3840" dirty="0"/>
          </a:p>
          <a:p>
            <a:pPr algn="l" indent="0" marL="0">
              <a:buNone/>
            </a:pPr>
            <a:r>
              <a:rPr lang="en-US" sz="3840" b="1" dirty="0">
                <a:solidFill>
                  <a:srgbClr val="FFFFFF"/>
                </a:solidFill>
                <a:latin typeface="Aptos Display" pitchFamily="34" charset="0"/>
                <a:ea typeface="Aptos Display" pitchFamily="34" charset="-122"/>
                <a:cs typeface="Aptos Display" pitchFamily="34" charset="-120"/>
              </a:rPr>
              <a:t>Decide in 24h.</a:t>
            </a:r>
            <a:endParaRPr lang="en-US" sz="3840" dirty="0"/>
          </a:p>
        </p:txBody>
      </p:sp>
      <p:sp>
        <p:nvSpPr>
          <p:cNvPr id="7" name="Text 5"/>
          <p:cNvSpPr txBox="1"/>
          <p:nvPr/>
        </p:nvSpPr>
        <p:spPr>
          <a:xfrm>
            <a:off x="723900" y="4457700"/>
            <a:ext cx="5791200" cy="609600"/>
          </a:xfrm>
          <a:prstGeom prst="rect">
            <a:avLst/>
          </a:prstGeom>
          <a:noFill/>
          <a:ln/>
        </p:spPr>
        <p:txBody>
          <a:bodyPr wrap="square" lIns="0" tIns="0" rIns="0" bIns="0" rtlCol="0" anchor="t">
            <a:normAutofit/>
          </a:bodyPr>
          <a:lstStyle/>
          <a:p>
            <a:pPr algn="l" indent="0" marL="0">
              <a:buNone/>
            </a:pPr>
            <a:r>
              <a:rPr lang="en-US" sz="1380" dirty="0">
                <a:solidFill>
                  <a:srgbClr val="CFDAEA"/>
                </a:solidFill>
                <a:latin typeface="Aptos" pitchFamily="34" charset="0"/>
                <a:ea typeface="Aptos" pitchFamily="34" charset="-122"/>
                <a:cs typeface="Aptos" pitchFamily="34" charset="-120"/>
              </a:rPr>
              <a:t>From a fragmented public signal to an evidence-backed</a:t>
            </a:r>
            <a:endParaRPr lang="en-US" sz="1380" dirty="0"/>
          </a:p>
          <a:p>
            <a:pPr algn="l" indent="0" marL="0">
              <a:buNone/>
            </a:pPr>
            <a:r>
              <a:rPr lang="en-US" sz="1380" dirty="0">
                <a:solidFill>
                  <a:srgbClr val="CFDAEA"/>
                </a:solidFill>
                <a:latin typeface="Aptos" pitchFamily="34" charset="0"/>
                <a:ea typeface="Aptos" pitchFamily="34" charset="-122"/>
                <a:cs typeface="Aptos" pitchFamily="34" charset="-120"/>
              </a:rPr>
              <a:t>$100K decision — with one human in control.</a:t>
            </a:r>
            <a:endParaRPr lang="en-US" sz="1380" dirty="0"/>
          </a:p>
        </p:txBody>
      </p:sp>
      <p:sp>
        <p:nvSpPr>
          <p:cNvPr id="8" name="Shape 6"/>
          <p:cNvSpPr/>
          <p:nvPr/>
        </p:nvSpPr>
        <p:spPr>
          <a:xfrm>
            <a:off x="723900" y="5486400"/>
            <a:ext cx="1981200" cy="266700"/>
          </a:xfrm>
          <a:prstGeom prst="roundRect">
            <a:avLst>
              <a:gd name="adj" fmla="val 54857"/>
            </a:avLst>
          </a:prstGeom>
          <a:solidFill>
            <a:srgbClr val="263A55"/>
          </a:solidFill>
          <a:ln w="6350">
            <a:solidFill>
              <a:srgbClr val="263A55">
                <a:alpha val="0"/>
              </a:srgbClr>
            </a:solidFill>
            <a:prstDash val="solid"/>
          </a:ln>
        </p:spPr>
      </p:sp>
      <p:sp>
        <p:nvSpPr>
          <p:cNvPr id="9" name="Text 7"/>
          <p:cNvSpPr txBox="1"/>
          <p:nvPr/>
        </p:nvSpPr>
        <p:spPr>
          <a:xfrm>
            <a:off x="800100" y="5509260"/>
            <a:ext cx="18288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DCE8F8"/>
                </a:solidFill>
                <a:latin typeface="Aptos" pitchFamily="34" charset="0"/>
                <a:ea typeface="Aptos" pitchFamily="34" charset="-122"/>
                <a:cs typeface="Aptos" pitchFamily="34" charset="-120"/>
              </a:rPr>
              <a:t>FIRSTCHECK24</a:t>
            </a:r>
            <a:endParaRPr lang="en-US" sz="660" dirty="0"/>
          </a:p>
        </p:txBody>
      </p:sp>
      <p:sp>
        <p:nvSpPr>
          <p:cNvPr id="10" name="Text 8"/>
          <p:cNvSpPr txBox="1"/>
          <p:nvPr/>
        </p:nvSpPr>
        <p:spPr>
          <a:xfrm>
            <a:off x="6705600" y="5753100"/>
            <a:ext cx="4724400" cy="259080"/>
          </a:xfrm>
          <a:prstGeom prst="rect">
            <a:avLst/>
          </a:prstGeom>
          <a:noFill/>
          <a:ln/>
        </p:spPr>
        <p:txBody>
          <a:bodyPr wrap="square" lIns="0" tIns="0" rIns="0" bIns="0" rtlCol="0" anchor="ctr">
            <a:normAutofit/>
          </a:bodyPr>
          <a:lstStyle/>
          <a:p>
            <a:pPr algn="r" indent="0" marL="0">
              <a:buNone/>
            </a:pPr>
            <a:r>
              <a:rPr lang="en-US" sz="1080" b="1" dirty="0">
                <a:solidFill>
                  <a:srgbClr val="AFC0D8"/>
                </a:solidFill>
                <a:latin typeface="Aptos" pitchFamily="34" charset="0"/>
                <a:ea typeface="Aptos" pitchFamily="34" charset="-122"/>
                <a:cs typeface="Aptos" pitchFamily="34" charset="-120"/>
              </a:rPr>
              <a:t>Autonomous discovery. Explainable decisions.</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FirstCheck24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FirstCheck24 Hackathon Pitch — Editable</dc:title>
  <dc:subject>Evidence-backed founder intelligence</dc:subject>
  <dc:creator>FirstCheck24</dc:creator>
  <cp:lastModifiedBy>FirstCheck24</cp:lastModifiedBy>
  <cp:revision>1</cp:revision>
  <dcterms:created xsi:type="dcterms:W3CDTF">2026-07-19T12:08:48Z</dcterms:created>
  <dcterms:modified xsi:type="dcterms:W3CDTF">2026-07-19T12:08:48Z</dcterms:modified>
</cp:coreProperties>
</file>